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Codex CLI</c:v>
                </c:pt>
              </c:strCache>
            </c:strRef>
          </c:tx>
          <c:spPr>
            <a:solidFill>
              <a:srgbClr val="58696F"/>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Sheet1!$B$2:$B$2</c:f>
              <c:numCache>
                <c:formatCode>General</c:formatCode>
                <c:ptCount val="1"/>
                <c:pt idx="0">
                  <c:v>0.782</c:v>
                </c:pt>
              </c:numCache>
            </c:numRef>
          </c:val>
        </c:ser>
        <c:ser>
          <c:idx val="1"/>
          <c:order val="1"/>
          <c:tx>
            <c:strRef>
              <c:f>Sheet1!$C$1</c:f>
              <c:strCache>
                <c:ptCount val="1"/>
                <c:pt idx="0">
                  <c:v>Mixdog</c:v>
                </c:pt>
              </c:strCache>
            </c:strRef>
          </c:tx>
          <c:spPr>
            <a:solidFill>
              <a:srgbClr val="176F8C"/>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Sheet1!$C$2:$C$2</c:f>
              <c:numCache>
                <c:formatCode>General</c:formatCode>
                <c:ptCount val="1"/>
                <c:pt idx="0">
                  <c:v>0.476</c:v>
                </c:pt>
              </c:numCache>
            </c:numRef>
          </c:val>
        </c:ser>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8696F"/>
                </a:solidFill>
                <a:latin typeface="Noto Sans KR"/>
                <a:ea typeface="Noto Sans KR"/>
                <a:cs typeface="Noto Sans KR"/>
              </a:defRPr>
            </a:pPr>
            <a:endParaRPr lang="en-US"/>
          </a:p>
        </c:txPr>
        <c:crossAx val="2094734552"/>
        <c:crosses val="autoZero"/>
        <c:auto val="1"/>
        <c:lblAlgn val="ctr"/>
        <c:noMultiLvlLbl val="1"/>
      </c:catAx>
      <c:valAx>
        <c:axId val="2094734552"/>
        <c:scaling>
          <c:orientation val="minMax"/>
          <c:max val="0.9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ea typeface="Arial"/>
                <a:cs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384F57"/>
              </a:solidFill>
              <a:latin typeface="Noto Sans KR"/>
              <a:ea typeface="Noto Sans KR"/>
              <a:cs typeface="Noto Sans KR"/>
            </a:defRPr>
          </a:pPr>
          <a:endParaRPr lang="en-US"/>
        </a:p>
      </c:txPr>
    </c:legend>
    <c:plotVisOnly val="1"/>
    <c:dispBlanksAs val="span"/>
  </c:chart>
  <c:spPr>
    <a:noFill/>
    <a:ln>
      <a:noFill/>
    </a:ln>
    <a:effectLst/>
  </c:spPr>
  <c:txPr>
    <a:bodyPr/>
    <a:lstStyle/>
    <a:p>
      <a:pPr>
        <a:defRPr>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비용·시간·context 효율을 높이도록 설계된 AI coding harness. 표지는 제품의 목표를 소개하며 모든 작업에서의 성능 향상을 보장하지 않는다. 합성 UI나 실제 화면을 사용하지 않은 타이포그래피 표지.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이 페이지는 제품의 설계 목표와 대상 사용자를 설명한다. 정량 측정 결과는 벤치마크 페이지와 구분한다.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README.md:13–15,90–98. 역할별 모델 배정은 제공되는 설정 기능이다. 이 도식은 기능 분류이며 모든 작업이 자동 병렬 처리된다는 뜻이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README.md:91–92,106–109. TUI·desktop windows·paired browsers 간 shared live sessions. 웹·휴대폰 사용은 Desktop과 연결하는 암호화 원격 접속이다. 도식은 논리적 관계이며 실제 UI 화면이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README.md:99–105. Browser Use는 로그인된 Chromium pane, Computer Use는 Windows 데스크톱과 입력 안전 규칙, Office는 Word·Excel·PowerPoint 작성과 편집. 모든 대상이나 임의 작업의 성공을 보장하지 않는다.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README.md:50–86. 비용은 Mixdog $0.476 대 Codex CLI $0.782/trial로 39% 낮다. 성공률 86.5%(385/445) 대 86.1%(383/445). 최종 context 중앙값 18.5k 대 34.3k tokens로 46% 작다. 양측 동일 GPT-5.6 Sol xhigh, 89 tasks × 5회 = 각 445 trials. 공식 Harbor verifier, fast mode off, 272k context window. 실패와 timeout은 재시도하지 않음. 양측 동일한 API 정가로 환산한 비용이며 실제 청구액이나 모든 사용 환경의 절감률을 뜻하지 않는다. 커뮤니티 leaderboard 접수 중단으로 자체 공개 artifacts를 제시한 결과이며 공식 등재가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README.md:19–46. Windows x64 설치 파일: https://github.com/tribgames/mixdog/releases/latest/download/mixdog-desktop-win-x64.exe . 현재 설치 파일은 서명되지 않아 SmartScreen 경고가 나타날 수 있다. CLI는 Node.js 22.19+(22.x) 또는 24+ 필요. 초기 실행 시 provider 인증, 모델 선택, workflow 설정 안내. 설치 명령과 실행 명령은 별도 줄로 실행한다.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F2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ET">
    <p:bg>
      <p:bgPr>
        <a:solidFill>
          <a:srgbClr val="0F1F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프로젝트 소개</a:t>
            </a:r>
            <a:endParaRPr lang="en-US" sz="1100" dirty="0"/>
          </a:p>
        </p:txBody>
      </p:sp>
      <p:sp>
        <p:nvSpPr>
          <p:cNvPr id="3" name="Text 1"/>
          <p:cNvSpPr/>
          <p:nvPr/>
        </p:nvSpPr>
        <p:spPr>
          <a:xfrm>
            <a:off x="548640" y="1645920"/>
            <a:ext cx="11091672" cy="1563624"/>
          </a:xfrm>
          <a:prstGeom prst="rect">
            <a:avLst/>
          </a:prstGeom>
          <a:noFill/>
          <a:ln/>
        </p:spPr>
        <p:txBody>
          <a:bodyPr wrap="square" lIns="0" tIns="0" rIns="0" bIns="0" rtlCol="0" anchor="t"/>
          <a:lstStyle/>
          <a:p>
            <a:pPr hangingPunct="0" algn="l" indent="0" marL="0">
              <a:lnSpc>
                <a:spcPct val="100000"/>
              </a:lnSpc>
              <a:buNone/>
            </a:pPr>
            <a:r>
              <a:rPr lang="en-US" sz="9900" b="1" dirty="0">
                <a:solidFill>
                  <a:srgbClr val="EDF1F3"/>
                </a:solidFill>
                <a:latin typeface="Arial" pitchFamily="34" charset="0"/>
                <a:ea typeface="Arial" pitchFamily="34" charset="-122"/>
                <a:cs typeface="Arial" pitchFamily="34" charset="-120"/>
              </a:rPr>
              <a:t>Mixdog</a:t>
            </a:r>
            <a:endParaRPr lang="en-US" sz="9900" dirty="0"/>
          </a:p>
        </p:txBody>
      </p:sp>
      <p:sp>
        <p:nvSpPr>
          <p:cNvPr id="4" name="Text 2"/>
          <p:cNvSpPr/>
          <p:nvPr/>
        </p:nvSpPr>
        <p:spPr>
          <a:xfrm>
            <a:off x="548640" y="3474720"/>
            <a:ext cx="7680960"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더 적은 비용으로</a:t>
            </a:r>
            <a:br/>
            <a:r>
              <a:rPr lang="en-US" sz="4700" b="1" dirty="0">
                <a:solidFill>
                  <a:srgbClr val="EDF1F3"/>
                </a:solidFill>
                <a:latin typeface="Noto Sans KR" pitchFamily="34" charset="0"/>
                <a:ea typeface="Noto Sans KR" pitchFamily="34" charset="-122"/>
                <a:cs typeface="Noto Sans KR" pitchFamily="34" charset="-120"/>
              </a:rPr>
              <a:t>더 많은 작업</a:t>
            </a:r>
            <a:endParaRPr lang="en-US" sz="4700" dirty="0"/>
          </a:p>
        </p:txBody>
      </p:sp>
      <p:sp>
        <p:nvSpPr>
          <p:cNvPr id="5" name="Text 3"/>
          <p:cNvSpPr/>
          <p:nvPr/>
        </p:nvSpPr>
        <p:spPr>
          <a:xfrm>
            <a:off x="548640" y="5516880"/>
            <a:ext cx="1109167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모델과 도구를 연결하는 효율성 중심 AI 코딩 도구</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같은 예산으로 더 많은 일을 끝낸다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프로젝트의 목표</a:t>
            </a:r>
            <a:endParaRPr lang="en-US" sz="1100" dirty="0"/>
          </a:p>
        </p:txBody>
      </p:sp>
      <p:sp>
        <p:nvSpPr>
          <p:cNvPr id="4" name="Text 2"/>
          <p:cNvSpPr/>
          <p:nvPr/>
        </p:nvSpPr>
        <p:spPr>
          <a:xfrm>
            <a:off x="548640" y="2441448"/>
            <a:ext cx="5340096" cy="842772"/>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17262B"/>
                </a:solidFill>
                <a:latin typeface="Noto Sans KR" pitchFamily="34" charset="0"/>
                <a:ea typeface="Noto Sans KR" pitchFamily="34" charset="-122"/>
                <a:cs typeface="Noto Sans KR" pitchFamily="34" charset="-120"/>
              </a:rPr>
              <a:t>효율성</a:t>
            </a:r>
            <a:endParaRPr lang="en-US" sz="4700" dirty="0"/>
          </a:p>
        </p:txBody>
      </p:sp>
      <p:sp>
        <p:nvSpPr>
          <p:cNvPr id="5" name="Text 3"/>
          <p:cNvSpPr/>
          <p:nvPr/>
        </p:nvSpPr>
        <p:spPr>
          <a:xfrm>
            <a:off x="548640" y="3584448"/>
            <a:ext cx="5340096"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84F57"/>
                </a:solidFill>
                <a:latin typeface="Noto Sans KR" pitchFamily="34" charset="0"/>
                <a:ea typeface="Noto Sans KR" pitchFamily="34" charset="-122"/>
                <a:cs typeface="Noto Sans KR" pitchFamily="34" charset="-120"/>
              </a:rPr>
              <a:t>컨텍스트·시간·비용을 아껴</a:t>
            </a:r>
            <a:br/>
            <a:r>
              <a:rPr lang="en-US" sz="2200" dirty="0">
                <a:solidFill>
                  <a:srgbClr val="384F57"/>
                </a:solidFill>
                <a:latin typeface="Noto Sans KR" pitchFamily="34" charset="0"/>
                <a:ea typeface="Noto Sans KR" pitchFamily="34" charset="-122"/>
                <a:cs typeface="Noto Sans KR" pitchFamily="34" charset="-120"/>
              </a:rPr>
              <a:t>작업에 쓸 여력을 늘린다</a:t>
            </a:r>
            <a:endParaRPr lang="en-US" sz="2200" dirty="0"/>
          </a:p>
        </p:txBody>
      </p:sp>
      <p:sp>
        <p:nvSpPr>
          <p:cNvPr id="6" name="Shape 4"/>
          <p:cNvSpPr/>
          <p:nvPr/>
        </p:nvSpPr>
        <p:spPr>
          <a:xfrm>
            <a:off x="6300216" y="2441448"/>
            <a:ext cx="5340096" cy="3474720"/>
          </a:xfrm>
          <a:prstGeom prst="rect">
            <a:avLst/>
          </a:prstGeom>
          <a:solidFill>
            <a:srgbClr val="E7ECEE"/>
          </a:solidFill>
          <a:ln w="12700">
            <a:solidFill>
              <a:srgbClr val="E7ECEE"/>
            </a:solidFill>
            <a:prstDash val="solid"/>
          </a:ln>
        </p:spPr>
      </p:sp>
      <p:sp>
        <p:nvSpPr>
          <p:cNvPr id="7" name="Text 5"/>
          <p:cNvSpPr/>
          <p:nvPr/>
        </p:nvSpPr>
        <p:spPr>
          <a:xfrm>
            <a:off x="6711696" y="285292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쉽게 시작하고</a:t>
            </a:r>
            <a:endParaRPr lang="en-US" sz="2700" dirty="0"/>
          </a:p>
        </p:txBody>
      </p:sp>
      <p:sp>
        <p:nvSpPr>
          <p:cNvPr id="8" name="Text 6"/>
          <p:cNvSpPr/>
          <p:nvPr/>
        </p:nvSpPr>
        <p:spPr>
          <a:xfrm>
            <a:off x="6711696" y="349072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간단한 설정과 직관적인 사용 경험</a:t>
            </a:r>
            <a:endParaRPr lang="en-US" sz="1800" dirty="0"/>
          </a:p>
        </p:txBody>
      </p:sp>
      <p:sp>
        <p:nvSpPr>
          <p:cNvPr id="9" name="Text 7"/>
          <p:cNvSpPr/>
          <p:nvPr/>
        </p:nvSpPr>
        <p:spPr>
          <a:xfrm>
            <a:off x="6711696" y="432739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복잡한 작업까지</a:t>
            </a:r>
            <a:endParaRPr lang="en-US" sz="2700" dirty="0"/>
          </a:p>
        </p:txBody>
      </p:sp>
      <p:sp>
        <p:nvSpPr>
          <p:cNvPr id="10" name="Text 8"/>
          <p:cNvSpPr/>
          <p:nvPr/>
        </p:nvSpPr>
        <p:spPr>
          <a:xfrm>
            <a:off x="6711696" y="496519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a:t>
            </a:r>
            <a:endParaRPr lang="en-US" sz="1800" dirty="0"/>
          </a:p>
        </p:txBody>
      </p:sp>
      <p:sp>
        <p:nvSpPr>
          <p:cNvPr id="11" name="Text 9"/>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제품 목표 · README.md §Better results. Less cost. More work.</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모델 선택부터 작업 기억까지 연결한다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핵심 기능</a:t>
            </a:r>
            <a:endParaRPr lang="en-US" sz="1100" dirty="0"/>
          </a:p>
        </p:txBody>
      </p:sp>
      <p:sp>
        <p:nvSpPr>
          <p:cNvPr id="4" name="Shape 2"/>
          <p:cNvSpPr/>
          <p:nvPr/>
        </p:nvSpPr>
        <p:spPr>
          <a:xfrm>
            <a:off x="548640" y="2029968"/>
            <a:ext cx="2240280" cy="1143000"/>
          </a:xfrm>
          <a:prstGeom prst="rect">
            <a:avLst/>
          </a:prstGeom>
          <a:solidFill>
            <a:srgbClr val="E7ECEE"/>
          </a:solidFill>
          <a:ln w="12700">
            <a:solidFill>
              <a:srgbClr val="E7ECEE"/>
            </a:solidFill>
            <a:prstDash val="solid"/>
          </a:ln>
        </p:spPr>
      </p:sp>
      <p:sp>
        <p:nvSpPr>
          <p:cNvPr id="5" name="Text 3"/>
          <p:cNvSpPr/>
          <p:nvPr/>
        </p:nvSpPr>
        <p:spPr>
          <a:xfrm>
            <a:off x="777240" y="2258568"/>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모델 선택</a:t>
            </a:r>
            <a:endParaRPr lang="en-US" sz="2700" dirty="0"/>
          </a:p>
        </p:txBody>
      </p:sp>
      <p:sp>
        <p:nvSpPr>
          <p:cNvPr id="6" name="Text 4"/>
          <p:cNvSpPr/>
          <p:nvPr/>
        </p:nvSpPr>
        <p:spPr>
          <a:xfrm>
            <a:off x="3200400" y="2139696"/>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역할에 맞게 모델을 지정한다</a:t>
            </a:r>
            <a:endParaRPr lang="en-US" sz="2200" dirty="0"/>
          </a:p>
        </p:txBody>
      </p:sp>
      <p:sp>
        <p:nvSpPr>
          <p:cNvPr id="7" name="Text 5"/>
          <p:cNvSpPr/>
          <p:nvPr/>
        </p:nvSpPr>
        <p:spPr>
          <a:xfrm>
            <a:off x="3200400" y="2756916"/>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서로 다른 provider와 모델을 역할별로 배정</a:t>
            </a:r>
            <a:endParaRPr lang="en-US" sz="1800" dirty="0"/>
          </a:p>
        </p:txBody>
      </p:sp>
      <p:sp>
        <p:nvSpPr>
          <p:cNvPr id="8" name="Shape 6"/>
          <p:cNvSpPr/>
          <p:nvPr/>
        </p:nvSpPr>
        <p:spPr>
          <a:xfrm>
            <a:off x="548640" y="3282696"/>
            <a:ext cx="2240280" cy="1143000"/>
          </a:xfrm>
          <a:prstGeom prst="rect">
            <a:avLst/>
          </a:prstGeom>
          <a:solidFill>
            <a:srgbClr val="E7ECEE"/>
          </a:solidFill>
          <a:ln w="12700">
            <a:solidFill>
              <a:srgbClr val="E7ECEE"/>
            </a:solidFill>
            <a:prstDash val="solid"/>
          </a:ln>
        </p:spPr>
      </p:sp>
      <p:sp>
        <p:nvSpPr>
          <p:cNvPr id="9" name="Text 7"/>
          <p:cNvSpPr/>
          <p:nvPr/>
        </p:nvSpPr>
        <p:spPr>
          <a:xfrm>
            <a:off x="777240" y="3511296"/>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작업 분담</a:t>
            </a:r>
            <a:endParaRPr lang="en-US" sz="2700" dirty="0"/>
          </a:p>
        </p:txBody>
      </p:sp>
      <p:sp>
        <p:nvSpPr>
          <p:cNvPr id="10" name="Text 8"/>
          <p:cNvSpPr/>
          <p:nvPr/>
        </p:nvSpPr>
        <p:spPr>
          <a:xfrm>
            <a:off x="3200400" y="3392424"/>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병렬 작업을 조율한다</a:t>
            </a:r>
            <a:endParaRPr lang="en-US" sz="2200" dirty="0"/>
          </a:p>
        </p:txBody>
      </p:sp>
      <p:sp>
        <p:nvSpPr>
          <p:cNvPr id="11" name="Text 9"/>
          <p:cNvSpPr/>
          <p:nvPr/>
        </p:nvSpPr>
        <p:spPr>
          <a:xfrm>
            <a:off x="3200400" y="4009644"/>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실행으로 복잡한 요청을 수행</a:t>
            </a:r>
            <a:endParaRPr lang="en-US" sz="1800" dirty="0"/>
          </a:p>
        </p:txBody>
      </p:sp>
      <p:sp>
        <p:nvSpPr>
          <p:cNvPr id="12" name="Shape 10"/>
          <p:cNvSpPr/>
          <p:nvPr/>
        </p:nvSpPr>
        <p:spPr>
          <a:xfrm>
            <a:off x="548640" y="4535424"/>
            <a:ext cx="2240280" cy="1143000"/>
          </a:xfrm>
          <a:prstGeom prst="rect">
            <a:avLst/>
          </a:prstGeom>
          <a:solidFill>
            <a:srgbClr val="E7ECEE"/>
          </a:solidFill>
          <a:ln w="12700">
            <a:solidFill>
              <a:srgbClr val="E7ECEE"/>
            </a:solidFill>
            <a:prstDash val="solid"/>
          </a:ln>
        </p:spPr>
      </p:sp>
      <p:sp>
        <p:nvSpPr>
          <p:cNvPr id="13" name="Text 11"/>
          <p:cNvSpPr/>
          <p:nvPr/>
        </p:nvSpPr>
        <p:spPr>
          <a:xfrm>
            <a:off x="777240" y="4764024"/>
            <a:ext cx="1783080" cy="1001268"/>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프로젝트</a:t>
            </a:r>
            <a:br/>
            <a:r>
              <a:rPr lang="en-US" sz="2700" b="1" dirty="0">
                <a:solidFill>
                  <a:srgbClr val="17262B"/>
                </a:solidFill>
                <a:latin typeface="Noto Sans KR" pitchFamily="34" charset="0"/>
                <a:ea typeface="Noto Sans KR" pitchFamily="34" charset="-122"/>
                <a:cs typeface="Noto Sans KR" pitchFamily="34" charset="-120"/>
              </a:rPr>
              <a:t>기억</a:t>
            </a:r>
            <a:endParaRPr lang="en-US" sz="2700" dirty="0"/>
          </a:p>
        </p:txBody>
      </p:sp>
      <p:sp>
        <p:nvSpPr>
          <p:cNvPr id="14" name="Text 12"/>
          <p:cNvSpPr/>
          <p:nvPr/>
        </p:nvSpPr>
        <p:spPr>
          <a:xfrm>
            <a:off x="3200400" y="4645152"/>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맥락을 보존하고 다시 찾는다</a:t>
            </a:r>
            <a:endParaRPr lang="en-US" sz="2200" dirty="0"/>
          </a:p>
        </p:txBody>
      </p:sp>
      <p:sp>
        <p:nvSpPr>
          <p:cNvPr id="15" name="Text 13"/>
          <p:cNvSpPr/>
          <p:nvPr/>
        </p:nvSpPr>
        <p:spPr>
          <a:xfrm>
            <a:off x="3200400" y="5262372"/>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프로젝트별 기억 검색, 컨텍스트 압축, 세션 재개</a:t>
            </a:r>
            <a:endParaRPr lang="en-US" sz="1800" dirty="0"/>
          </a:p>
        </p:txBody>
      </p:sp>
      <p:sp>
        <p:nvSpPr>
          <p:cNvPr id="16" name="Text 14"/>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EDF1F3"/>
                </a:solidFill>
                <a:latin typeface="Noto Sans KR" pitchFamily="34" charset="0"/>
                <a:ea typeface="Noto Sans KR" pitchFamily="34" charset="-122"/>
                <a:cs typeface="Noto Sans KR" pitchFamily="34" charset="-120"/>
              </a:rPr>
              <a:t>환경이 바뀌어도 같은 세션을 이어 쓴다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연결된 사용 경험</a:t>
            </a:r>
            <a:endParaRPr lang="en-US" sz="1100" dirty="0"/>
          </a:p>
        </p:txBody>
      </p:sp>
      <p:sp>
        <p:nvSpPr>
          <p:cNvPr id="4" name="Shape 2"/>
          <p:cNvSpPr/>
          <p:nvPr/>
        </p:nvSpPr>
        <p:spPr>
          <a:xfrm>
            <a:off x="548640" y="2029968"/>
            <a:ext cx="11091672" cy="1280160"/>
          </a:xfrm>
          <a:prstGeom prst="rect">
            <a:avLst/>
          </a:prstGeom>
          <a:solidFill>
            <a:srgbClr val="1D333A"/>
          </a:solidFill>
          <a:ln w="12700">
            <a:solidFill>
              <a:srgbClr val="1D333A"/>
            </a:solidFill>
            <a:prstDash val="solid"/>
          </a:ln>
        </p:spPr>
      </p:sp>
      <p:sp>
        <p:nvSpPr>
          <p:cNvPr id="5" name="Text 3"/>
          <p:cNvSpPr/>
          <p:nvPr/>
        </p:nvSpPr>
        <p:spPr>
          <a:xfrm>
            <a:off x="960120" y="2258568"/>
            <a:ext cx="1026871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공유 실시간 세션</a:t>
            </a:r>
            <a:endParaRPr lang="en-US" sz="2700" dirty="0"/>
          </a:p>
        </p:txBody>
      </p:sp>
      <p:sp>
        <p:nvSpPr>
          <p:cNvPr id="6" name="Text 4"/>
          <p:cNvSpPr/>
          <p:nvPr/>
        </p:nvSpPr>
        <p:spPr>
          <a:xfrm>
            <a:off x="960120" y="2852928"/>
            <a:ext cx="102687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새 복사본을 만들지 않고 대화를 이어간다</a:t>
            </a:r>
            <a:endParaRPr lang="en-US" sz="1800" dirty="0"/>
          </a:p>
        </p:txBody>
      </p:sp>
      <p:sp>
        <p:nvSpPr>
          <p:cNvPr id="7" name="Shape 5"/>
          <p:cNvSpPr/>
          <p:nvPr/>
        </p:nvSpPr>
        <p:spPr>
          <a:xfrm>
            <a:off x="2260092" y="3310128"/>
            <a:ext cx="0" cy="822960"/>
          </a:xfrm>
          <a:prstGeom prst="line">
            <a:avLst/>
          </a:prstGeom>
          <a:noFill/>
          <a:ln w="19050">
            <a:solidFill>
              <a:srgbClr val="AEBDC2"/>
            </a:solidFill>
            <a:prstDash val="solid"/>
            <a:tailEnd type="none"/>
          </a:ln>
        </p:spPr>
      </p:sp>
      <p:sp>
        <p:nvSpPr>
          <p:cNvPr id="8" name="Shape 6"/>
          <p:cNvSpPr/>
          <p:nvPr/>
        </p:nvSpPr>
        <p:spPr>
          <a:xfrm>
            <a:off x="548640" y="4133088"/>
            <a:ext cx="3422904" cy="1554480"/>
          </a:xfrm>
          <a:prstGeom prst="rect">
            <a:avLst/>
          </a:prstGeom>
          <a:solidFill>
            <a:srgbClr val="F7F9FA">
              <a:alpha val="0"/>
            </a:srgbClr>
          </a:solidFill>
          <a:ln w="12700">
            <a:solidFill>
              <a:srgbClr val="AEBDC2"/>
            </a:solidFill>
            <a:prstDash val="solid"/>
          </a:ln>
        </p:spPr>
      </p:sp>
      <p:sp>
        <p:nvSpPr>
          <p:cNvPr id="9" name="Text 7"/>
          <p:cNvSpPr/>
          <p:nvPr/>
        </p:nvSpPr>
        <p:spPr>
          <a:xfrm>
            <a:off x="777240"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터미널</a:t>
            </a:r>
            <a:endParaRPr lang="en-US" sz="2700" dirty="0"/>
          </a:p>
        </p:txBody>
      </p:sp>
      <p:sp>
        <p:nvSpPr>
          <p:cNvPr id="10" name="Text 8"/>
          <p:cNvSpPr/>
          <p:nvPr/>
        </p:nvSpPr>
        <p:spPr>
          <a:xfrm>
            <a:off x="777240"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명령줄에서 작업</a:t>
            </a:r>
            <a:endParaRPr lang="en-US" sz="1800" dirty="0"/>
          </a:p>
        </p:txBody>
      </p:sp>
      <p:sp>
        <p:nvSpPr>
          <p:cNvPr id="11" name="Shape 9"/>
          <p:cNvSpPr/>
          <p:nvPr/>
        </p:nvSpPr>
        <p:spPr>
          <a:xfrm>
            <a:off x="6094476" y="3310128"/>
            <a:ext cx="0" cy="822960"/>
          </a:xfrm>
          <a:prstGeom prst="line">
            <a:avLst/>
          </a:prstGeom>
          <a:noFill/>
          <a:ln w="19050">
            <a:solidFill>
              <a:srgbClr val="AEBDC2"/>
            </a:solidFill>
            <a:prstDash val="solid"/>
            <a:tailEnd type="none"/>
          </a:ln>
        </p:spPr>
      </p:sp>
      <p:sp>
        <p:nvSpPr>
          <p:cNvPr id="12" name="Shape 10"/>
          <p:cNvSpPr/>
          <p:nvPr/>
        </p:nvSpPr>
        <p:spPr>
          <a:xfrm>
            <a:off x="4383024" y="4133088"/>
            <a:ext cx="3422904" cy="1554480"/>
          </a:xfrm>
          <a:prstGeom prst="rect">
            <a:avLst/>
          </a:prstGeom>
          <a:solidFill>
            <a:srgbClr val="F7F9FA">
              <a:alpha val="0"/>
            </a:srgbClr>
          </a:solidFill>
          <a:ln w="12700">
            <a:solidFill>
              <a:srgbClr val="AEBDC2"/>
            </a:solidFill>
            <a:prstDash val="solid"/>
          </a:ln>
        </p:spPr>
      </p:sp>
      <p:sp>
        <p:nvSpPr>
          <p:cNvPr id="13" name="Text 11"/>
          <p:cNvSpPr/>
          <p:nvPr/>
        </p:nvSpPr>
        <p:spPr>
          <a:xfrm>
            <a:off x="4611624"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데스크톱</a:t>
            </a:r>
            <a:endParaRPr lang="en-US" sz="2700" dirty="0"/>
          </a:p>
        </p:txBody>
      </p:sp>
      <p:sp>
        <p:nvSpPr>
          <p:cNvPr id="14" name="Text 12"/>
          <p:cNvSpPr/>
          <p:nvPr/>
        </p:nvSpPr>
        <p:spPr>
          <a:xfrm>
            <a:off x="4611624"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편집기·Git·터미널 통합</a:t>
            </a:r>
            <a:endParaRPr lang="en-US" sz="1800" dirty="0"/>
          </a:p>
        </p:txBody>
      </p:sp>
      <p:sp>
        <p:nvSpPr>
          <p:cNvPr id="15" name="Shape 13"/>
          <p:cNvSpPr/>
          <p:nvPr/>
        </p:nvSpPr>
        <p:spPr>
          <a:xfrm>
            <a:off x="9928860" y="3310128"/>
            <a:ext cx="0" cy="822960"/>
          </a:xfrm>
          <a:prstGeom prst="line">
            <a:avLst/>
          </a:prstGeom>
          <a:noFill/>
          <a:ln w="19050">
            <a:solidFill>
              <a:srgbClr val="AEBDC2"/>
            </a:solidFill>
            <a:prstDash val="solid"/>
            <a:tailEnd type="none"/>
          </a:ln>
        </p:spPr>
      </p:sp>
      <p:sp>
        <p:nvSpPr>
          <p:cNvPr id="16" name="Shape 14"/>
          <p:cNvSpPr/>
          <p:nvPr/>
        </p:nvSpPr>
        <p:spPr>
          <a:xfrm>
            <a:off x="8217408" y="4133088"/>
            <a:ext cx="3422904" cy="1554480"/>
          </a:xfrm>
          <a:prstGeom prst="rect">
            <a:avLst/>
          </a:prstGeom>
          <a:solidFill>
            <a:srgbClr val="F7F9FA">
              <a:alpha val="0"/>
            </a:srgbClr>
          </a:solidFill>
          <a:ln w="12700">
            <a:solidFill>
              <a:srgbClr val="AEBDC2"/>
            </a:solidFill>
            <a:prstDash val="solid"/>
          </a:ln>
        </p:spPr>
      </p:sp>
      <p:sp>
        <p:nvSpPr>
          <p:cNvPr id="17" name="Text 15"/>
          <p:cNvSpPr/>
          <p:nvPr/>
        </p:nvSpPr>
        <p:spPr>
          <a:xfrm>
            <a:off x="8446008"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웹·모바일</a:t>
            </a:r>
            <a:endParaRPr lang="en-US" sz="2700" dirty="0"/>
          </a:p>
        </p:txBody>
      </p:sp>
      <p:sp>
        <p:nvSpPr>
          <p:cNvPr id="18" name="Text 16"/>
          <p:cNvSpPr/>
          <p:nvPr/>
        </p:nvSpPr>
        <p:spPr>
          <a:xfrm>
            <a:off x="8446008"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Desktop과 연결해 원격 접속</a:t>
            </a:r>
            <a:endParaRPr lang="en-US" sz="1800" dirty="0"/>
          </a:p>
        </p:txBody>
      </p:sp>
      <p:sp>
        <p:nvSpPr>
          <p:cNvPr id="19" name="Text 17"/>
          <p:cNvSpPr/>
          <p:nvPr/>
        </p:nvSpPr>
        <p:spPr>
          <a:xfrm>
            <a:off x="548640" y="6099048"/>
            <a:ext cx="1109167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EDF1F3"/>
                </a:solidFill>
                <a:latin typeface="Noto Sans KR" pitchFamily="34" charset="0"/>
                <a:ea typeface="Noto Sans KR" pitchFamily="34" charset="-122"/>
                <a:cs typeface="Noto Sans KR" pitchFamily="34" charset="-120"/>
              </a:rPr>
              <a:t>원격 접속은 인증과 종단간 암호화로 보호한다</a:t>
            </a:r>
            <a:endParaRPr lang="en-US" sz="1800" dirty="0"/>
          </a:p>
        </p:txBody>
      </p:sp>
      <p:sp>
        <p:nvSpPr>
          <p:cNvPr id="20" name="Text 18"/>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AEBDC2"/>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웹·Windows 앱·문서를 직접 다룬다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코딩을 넘어 실행까지</a:t>
            </a:r>
            <a:endParaRPr lang="en-US" sz="1100" dirty="0"/>
          </a:p>
        </p:txBody>
      </p:sp>
      <p:sp>
        <p:nvSpPr>
          <p:cNvPr id="4" name="Shape 2"/>
          <p:cNvSpPr/>
          <p:nvPr/>
        </p:nvSpPr>
        <p:spPr>
          <a:xfrm>
            <a:off x="548640" y="2029968"/>
            <a:ext cx="914400" cy="914400"/>
          </a:xfrm>
          <a:prstGeom prst="ellipse">
            <a:avLst/>
          </a:prstGeom>
          <a:solidFill>
            <a:srgbClr val="E7ECEE"/>
          </a:solidFill>
          <a:ln w="12700">
            <a:solidFill>
              <a:srgbClr val="E7ECEE"/>
            </a:solidFill>
            <a:prstDash val="solid"/>
          </a:ln>
        </p:spPr>
      </p:sp>
      <p:pic>
        <p:nvPicPr>
          <p:cNvPr id="5" name="Image 0" descr="preencoded.png">    </p:cNvPr>
          <p:cNvPicPr>
            <a:picLocks noChangeAspect="1"/>
          </p:cNvPicPr>
          <p:nvPr/>
        </p:nvPicPr>
        <p:blipFill>
          <a:blip r:embed="rId1"/>
          <a:stretch>
            <a:fillRect/>
          </a:stretch>
        </p:blipFill>
        <p:spPr>
          <a:xfrm>
            <a:off x="777240" y="2258568"/>
            <a:ext cx="457200" cy="457200"/>
          </a:xfrm>
          <a:prstGeom prst="rect">
            <a:avLst/>
          </a:prstGeom>
        </p:spPr>
      </p:pic>
      <p:sp>
        <p:nvSpPr>
          <p:cNvPr id="6" name="Text 3"/>
          <p:cNvSpPr/>
          <p:nvPr/>
        </p:nvSpPr>
        <p:spPr>
          <a:xfrm>
            <a:off x="548640"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Browser Use</a:t>
            </a:r>
            <a:endParaRPr lang="en-US" sz="2700" dirty="0"/>
          </a:p>
        </p:txBody>
      </p:sp>
      <p:sp>
        <p:nvSpPr>
          <p:cNvPr id="7" name="Text 4"/>
          <p:cNvSpPr/>
          <p:nvPr/>
        </p:nvSpPr>
        <p:spPr>
          <a:xfrm>
            <a:off x="548640"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로그인된 Chromium</a:t>
            </a:r>
            <a:endParaRPr lang="en-US" sz="1800" dirty="0"/>
          </a:p>
        </p:txBody>
      </p:sp>
      <p:sp>
        <p:nvSpPr>
          <p:cNvPr id="8" name="Text 5"/>
          <p:cNvSpPr/>
          <p:nvPr/>
        </p:nvSpPr>
        <p:spPr>
          <a:xfrm>
            <a:off x="548640"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탭·폼·다운로드를 조작하고</a:t>
            </a:r>
            <a:br/>
            <a:r>
              <a:rPr lang="en-US" sz="1800" dirty="0">
                <a:solidFill>
                  <a:srgbClr val="384F57"/>
                </a:solidFill>
                <a:latin typeface="Noto Sans KR" pitchFamily="34" charset="0"/>
                <a:ea typeface="Noto Sans KR" pitchFamily="34" charset="-122"/>
                <a:cs typeface="Noto Sans KR" pitchFamily="34" charset="-120"/>
              </a:rPr>
              <a:t>페이지 상태를 확인한다</a:t>
            </a:r>
            <a:endParaRPr lang="en-US" sz="1800" dirty="0"/>
          </a:p>
        </p:txBody>
      </p:sp>
      <p:sp>
        <p:nvSpPr>
          <p:cNvPr id="9" name="Shape 6"/>
          <p:cNvSpPr/>
          <p:nvPr/>
        </p:nvSpPr>
        <p:spPr>
          <a:xfrm>
            <a:off x="4383024" y="2029968"/>
            <a:ext cx="914400" cy="914400"/>
          </a:xfrm>
          <a:prstGeom prst="ellipse">
            <a:avLst/>
          </a:prstGeom>
          <a:solidFill>
            <a:srgbClr val="E7ECEE"/>
          </a:solidFill>
          <a:ln w="12700">
            <a:solidFill>
              <a:srgbClr val="E7ECEE"/>
            </a:solidFill>
            <a:prstDash val="solid"/>
          </a:ln>
        </p:spPr>
      </p:sp>
      <p:pic>
        <p:nvPicPr>
          <p:cNvPr id="10" name="Image 1" descr="preencoded.png">    </p:cNvPr>
          <p:cNvPicPr>
            <a:picLocks noChangeAspect="1"/>
          </p:cNvPicPr>
          <p:nvPr/>
        </p:nvPicPr>
        <p:blipFill>
          <a:blip r:embed="rId2"/>
          <a:stretch>
            <a:fillRect/>
          </a:stretch>
        </p:blipFill>
        <p:spPr>
          <a:xfrm>
            <a:off x="4611624" y="2258568"/>
            <a:ext cx="457200" cy="457200"/>
          </a:xfrm>
          <a:prstGeom prst="rect">
            <a:avLst/>
          </a:prstGeom>
        </p:spPr>
      </p:pic>
      <p:sp>
        <p:nvSpPr>
          <p:cNvPr id="11" name="Text 7"/>
          <p:cNvSpPr/>
          <p:nvPr/>
        </p:nvSpPr>
        <p:spPr>
          <a:xfrm>
            <a:off x="4383024"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Computer Use</a:t>
            </a:r>
            <a:endParaRPr lang="en-US" sz="2700" dirty="0"/>
          </a:p>
        </p:txBody>
      </p:sp>
      <p:sp>
        <p:nvSpPr>
          <p:cNvPr id="12" name="Text 8"/>
          <p:cNvSpPr/>
          <p:nvPr/>
        </p:nvSpPr>
        <p:spPr>
          <a:xfrm>
            <a:off x="4383024"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Windows 데스크톱</a:t>
            </a:r>
            <a:endParaRPr lang="en-US" sz="1800" dirty="0"/>
          </a:p>
        </p:txBody>
      </p:sp>
      <p:sp>
        <p:nvSpPr>
          <p:cNvPr id="13" name="Text 9"/>
          <p:cNvSpPr/>
          <p:nvPr/>
        </p:nvSpPr>
        <p:spPr>
          <a:xfrm>
            <a:off x="4383024"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화면·접근성·OCR을 활용해</a:t>
            </a:r>
            <a:br/>
            <a:r>
              <a:rPr lang="en-US" sz="1800" dirty="0">
                <a:solidFill>
                  <a:srgbClr val="384F57"/>
                </a:solidFill>
                <a:latin typeface="Noto Sans KR" pitchFamily="34" charset="0"/>
                <a:ea typeface="Noto Sans KR" pitchFamily="34" charset="-122"/>
                <a:cs typeface="Noto Sans KR" pitchFamily="34" charset="-120"/>
              </a:rPr>
              <a:t>앱을 조작한다</a:t>
            </a:r>
            <a:endParaRPr lang="en-US" sz="1800" dirty="0"/>
          </a:p>
        </p:txBody>
      </p:sp>
      <p:sp>
        <p:nvSpPr>
          <p:cNvPr id="14" name="Shape 10"/>
          <p:cNvSpPr/>
          <p:nvPr/>
        </p:nvSpPr>
        <p:spPr>
          <a:xfrm>
            <a:off x="8217408" y="2029968"/>
            <a:ext cx="914400" cy="914400"/>
          </a:xfrm>
          <a:prstGeom prst="ellipse">
            <a:avLst/>
          </a:prstGeom>
          <a:solidFill>
            <a:srgbClr val="E7ECEE"/>
          </a:solidFill>
          <a:ln w="12700">
            <a:solidFill>
              <a:srgbClr val="E7ECEE"/>
            </a:solidFill>
            <a:prstDash val="solid"/>
          </a:ln>
        </p:spPr>
      </p:sp>
      <p:pic>
        <p:nvPicPr>
          <p:cNvPr id="15" name="Image 2" descr="preencoded.png">    </p:cNvPr>
          <p:cNvPicPr>
            <a:picLocks noChangeAspect="1"/>
          </p:cNvPicPr>
          <p:nvPr/>
        </p:nvPicPr>
        <p:blipFill>
          <a:blip r:embed="rId3"/>
          <a:stretch>
            <a:fillRect/>
          </a:stretch>
        </p:blipFill>
        <p:spPr>
          <a:xfrm>
            <a:off x="8446008" y="2258568"/>
            <a:ext cx="457200" cy="457200"/>
          </a:xfrm>
          <a:prstGeom prst="rect">
            <a:avLst/>
          </a:prstGeom>
        </p:spPr>
      </p:pic>
      <p:sp>
        <p:nvSpPr>
          <p:cNvPr id="16" name="Text 11"/>
          <p:cNvSpPr/>
          <p:nvPr/>
        </p:nvSpPr>
        <p:spPr>
          <a:xfrm>
            <a:off x="8217408"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Office</a:t>
            </a:r>
            <a:endParaRPr lang="en-US" sz="2700" dirty="0"/>
          </a:p>
        </p:txBody>
      </p:sp>
      <p:sp>
        <p:nvSpPr>
          <p:cNvPr id="17" name="Text 12"/>
          <p:cNvSpPr/>
          <p:nvPr/>
        </p:nvSpPr>
        <p:spPr>
          <a:xfrm>
            <a:off x="8217408"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Word·Excel·PowerPoint</a:t>
            </a:r>
            <a:endParaRPr lang="en-US" sz="1800" dirty="0"/>
          </a:p>
        </p:txBody>
      </p:sp>
      <p:sp>
        <p:nvSpPr>
          <p:cNvPr id="18" name="Text 13"/>
          <p:cNvSpPr/>
          <p:nvPr/>
        </p:nvSpPr>
        <p:spPr>
          <a:xfrm>
            <a:off x="8217408"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문서와 차트를 만들고</a:t>
            </a:r>
            <a:br/>
            <a:r>
              <a:rPr lang="en-US" sz="1800" dirty="0">
                <a:solidFill>
                  <a:srgbClr val="384F57"/>
                </a:solidFill>
                <a:latin typeface="Noto Sans KR" pitchFamily="34" charset="0"/>
                <a:ea typeface="Noto Sans KR" pitchFamily="34" charset="-122"/>
                <a:cs typeface="Noto Sans KR" pitchFamily="34" charset="-120"/>
              </a:rPr>
              <a:t>검사한 결과물을 저장한다</a:t>
            </a:r>
            <a:endParaRPr lang="en-US" sz="1800" dirty="0"/>
          </a:p>
        </p:txBody>
      </p:sp>
      <p:sp>
        <p:nvSpPr>
          <p:cNvPr id="19" name="Text 14"/>
          <p:cNvSpPr/>
          <p:nvPr/>
        </p:nvSpPr>
        <p:spPr>
          <a:xfrm>
            <a:off x="548640" y="5394960"/>
            <a:ext cx="1109167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설명에 그치지 않고, 연결된 도구로 작업을 수행한다</a:t>
            </a:r>
            <a:endParaRPr lang="en-US" sz="2200" dirty="0"/>
          </a:p>
        </p:txBody>
      </p:sp>
      <p:sp>
        <p:nvSpPr>
          <p:cNvPr id="20" name="Text 15"/>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비슷한 성공률에서 환산 비용을 줄였다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공개 벤치마크</a:t>
            </a:r>
            <a:endParaRPr lang="en-US" sz="1100" dirty="0"/>
          </a:p>
        </p:txBody>
      </p:sp>
      <p:sp>
        <p:nvSpPr>
          <p:cNvPr id="4" name="Text 2"/>
          <p:cNvSpPr/>
          <p:nvPr/>
        </p:nvSpPr>
        <p:spPr>
          <a:xfrm>
            <a:off x="548640" y="2029968"/>
            <a:ext cx="653796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시험당 API 정가 환산 비용</a:t>
            </a:r>
            <a:endParaRPr lang="en-US" sz="1800" dirty="0"/>
          </a:p>
        </p:txBody>
      </p:sp>
      <p:graphicFrame>
        <p:nvGraphicFramePr>
          <p:cNvPr id="5" name="Chart 0" descr=""/>
          <p:cNvGraphicFramePr/>
          <p:nvPr/>
        </p:nvGraphicFramePr>
        <p:xfrm>
          <a:off x="548640" y="2624328"/>
          <a:ext cx="6537960" cy="2788920"/>
        </p:xfrm>
        <a:graphic xmlns:a="http://schemas.openxmlformats.org/drawingml/2006/main">
          <a:graphicData uri="http://schemas.openxmlformats.org/drawingml/2006/chart">
            <c:chart xmlns:c="http://schemas.openxmlformats.org/drawingml/2006/chart" r:id="rId1"/>
          </a:graphicData>
        </a:graphic>
      </p:graphicFrame>
      <p:sp>
        <p:nvSpPr>
          <p:cNvPr id="6" name="mixdog-spec:stat:hero"/>
          <p:cNvSpPr/>
          <p:nvPr/>
        </p:nvSpPr>
        <p:spPr>
          <a:xfrm>
            <a:off x="7498080" y="2029968"/>
            <a:ext cx="4142232" cy="1027176"/>
          </a:xfrm>
          <a:prstGeom prst="rect">
            <a:avLst/>
          </a:prstGeom>
          <a:noFill/>
          <a:ln/>
        </p:spPr>
        <p:txBody>
          <a:bodyPr wrap="square" lIns="0" tIns="0" rIns="0" bIns="0" rtlCol="0" anchor="b"/>
          <a:lstStyle/>
          <a:p>
            <a:pPr hangingPunct="0" indent="0" marL="0">
              <a:buNone/>
            </a:pPr>
            <a:r>
              <a:rPr lang="en-US" sz="6500" b="1" dirty="0">
                <a:solidFill>
                  <a:srgbClr val="176F8C"/>
                </a:solidFill>
                <a:latin typeface="Arial" pitchFamily="34" charset="0"/>
                <a:ea typeface="Arial" pitchFamily="34" charset="-122"/>
                <a:cs typeface="Arial" pitchFamily="34" charset="-120"/>
              </a:rPr>
              <a:t>39%</a:t>
            </a:r>
            <a:endParaRPr lang="en-US" sz="6500" dirty="0"/>
          </a:p>
        </p:txBody>
      </p:sp>
      <p:sp>
        <p:nvSpPr>
          <p:cNvPr id="7" name="Text 4"/>
          <p:cNvSpPr/>
          <p:nvPr/>
        </p:nvSpPr>
        <p:spPr>
          <a:xfrm>
            <a:off x="7498080" y="3112008"/>
            <a:ext cx="4142232" cy="252984"/>
          </a:xfrm>
          <a:prstGeom prst="rect">
            <a:avLst/>
          </a:prstGeom>
          <a:noFill/>
          <a:ln/>
        </p:spPr>
        <p:txBody>
          <a:bodyPr wrap="square" lIns="0" tIns="0" rIns="0" bIns="0" rtlCol="0" anchor="t"/>
          <a:lstStyle/>
          <a:p>
            <a:pPr hangingPunct="0" indent="0" marL="0">
              <a:buNone/>
            </a:pPr>
            <a:r>
              <a:rPr lang="en-US" sz="1300" dirty="0">
                <a:solidFill>
                  <a:srgbClr val="58696F"/>
                </a:solidFill>
                <a:latin typeface="Noto Sans KR" pitchFamily="34" charset="0"/>
                <a:ea typeface="Noto Sans KR" pitchFamily="34" charset="-122"/>
                <a:cs typeface="Noto Sans KR" pitchFamily="34" charset="-120"/>
              </a:rPr>
              <a:t>시험당 환산 비용 절감</a:t>
            </a:r>
            <a:endParaRPr lang="en-US" sz="1300" dirty="0"/>
          </a:p>
        </p:txBody>
      </p:sp>
      <p:sp>
        <p:nvSpPr>
          <p:cNvPr id="8" name="Text 5"/>
          <p:cNvSpPr/>
          <p:nvPr/>
        </p:nvSpPr>
        <p:spPr>
          <a:xfrm>
            <a:off x="7498080" y="3776472"/>
            <a:ext cx="414223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성공률</a:t>
            </a:r>
            <a:endParaRPr lang="en-US" sz="1800" dirty="0"/>
          </a:p>
        </p:txBody>
      </p:sp>
      <p:sp>
        <p:nvSpPr>
          <p:cNvPr id="9" name="Text 6"/>
          <p:cNvSpPr/>
          <p:nvPr/>
        </p:nvSpPr>
        <p:spPr>
          <a:xfrm>
            <a:off x="7498080" y="4233672"/>
            <a:ext cx="414223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86.5% / 86.1%</a:t>
            </a:r>
            <a:endParaRPr lang="en-US" sz="2700" dirty="0"/>
          </a:p>
        </p:txBody>
      </p:sp>
      <p:sp>
        <p:nvSpPr>
          <p:cNvPr id="10" name="Text 7"/>
          <p:cNvSpPr/>
          <p:nvPr/>
        </p:nvSpPr>
        <p:spPr>
          <a:xfrm>
            <a:off x="7498080" y="4782312"/>
            <a:ext cx="41422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Mixdog / Codex CLI</a:t>
            </a:r>
            <a:endParaRPr lang="en-US" sz="1300" dirty="0"/>
          </a:p>
        </p:txBody>
      </p:sp>
      <p:sp>
        <p:nvSpPr>
          <p:cNvPr id="11" name="Text 8"/>
          <p:cNvSpPr/>
          <p:nvPr/>
        </p:nvSpPr>
        <p:spPr>
          <a:xfrm>
            <a:off x="548640" y="5550408"/>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최종 컨텍스트 중앙값 46% 감소</a:t>
            </a:r>
            <a:endParaRPr lang="en-US" sz="1800" dirty="0"/>
          </a:p>
        </p:txBody>
      </p:sp>
      <p:sp>
        <p:nvSpPr>
          <p:cNvPr id="12" name="Text 9"/>
          <p:cNvSpPr/>
          <p:nvPr/>
        </p:nvSpPr>
        <p:spPr>
          <a:xfrm>
            <a:off x="548640" y="5824728"/>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GPT-5.6 Sol xhigh · Terminal-Bench 2.1 · 동일한 89개 작업을 각각 5회 측정</a:t>
            </a:r>
            <a:endParaRPr lang="en-US" sz="1300" dirty="0"/>
          </a:p>
        </p:txBody>
      </p:sp>
      <p:sp>
        <p:nvSpPr>
          <p:cNvPr id="13" name="Text 10"/>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자체 공개 결과 · 공식 리더보드 등재 아님 · README.md §Benchmarks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시작하기</a:t>
            </a:r>
            <a:endParaRPr lang="en-US" sz="1100" dirty="0"/>
          </a:p>
        </p:txBody>
      </p:sp>
      <p:sp>
        <p:nvSpPr>
          <p:cNvPr id="3" name="Text 1"/>
          <p:cNvSpPr/>
          <p:nvPr/>
        </p:nvSpPr>
        <p:spPr>
          <a:xfrm>
            <a:off x="548640" y="1280160"/>
            <a:ext cx="11091672"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설치하고,</a:t>
            </a:r>
            <a:br/>
            <a:r>
              <a:rPr lang="en-US" sz="4700" b="1" dirty="0">
                <a:solidFill>
                  <a:srgbClr val="EDF1F3"/>
                </a:solidFill>
                <a:latin typeface="Noto Sans KR" pitchFamily="34" charset="0"/>
                <a:ea typeface="Noto Sans KR" pitchFamily="34" charset="-122"/>
                <a:cs typeface="Noto Sans KR" pitchFamily="34" charset="-120"/>
              </a:rPr>
              <a:t>첫 작업을 시작하세요</a:t>
            </a:r>
            <a:endParaRPr lang="en-US" sz="4700" dirty="0"/>
          </a:p>
        </p:txBody>
      </p:sp>
      <p:sp>
        <p:nvSpPr>
          <p:cNvPr id="4" name="Shape 2"/>
          <p:cNvSpPr/>
          <p:nvPr/>
        </p:nvSpPr>
        <p:spPr>
          <a:xfrm>
            <a:off x="548640" y="3246120"/>
            <a:ext cx="5806440" cy="1737360"/>
          </a:xfrm>
          <a:prstGeom prst="rect">
            <a:avLst/>
          </a:prstGeom>
          <a:solidFill>
            <a:srgbClr val="1D333A"/>
          </a:solidFill>
          <a:ln w="12700">
            <a:solidFill>
              <a:srgbClr val="1D333A"/>
            </a:solidFill>
            <a:prstDash val="solid"/>
          </a:ln>
        </p:spPr>
      </p:sp>
      <p:sp>
        <p:nvSpPr>
          <p:cNvPr id="5" name="Text 3"/>
          <p:cNvSpPr/>
          <p:nvPr/>
        </p:nvSpPr>
        <p:spPr>
          <a:xfrm>
            <a:off x="777240" y="3474720"/>
            <a:ext cx="534924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AEBDC2"/>
                </a:solidFill>
                <a:latin typeface="Noto Sans KR" pitchFamily="34" charset="0"/>
                <a:ea typeface="Noto Sans KR" pitchFamily="34" charset="-122"/>
                <a:cs typeface="Noto Sans KR" pitchFamily="34" charset="-120"/>
              </a:rPr>
              <a:t>CLI 설치와 실행</a:t>
            </a:r>
            <a:endParaRPr lang="en-US" sz="1800" dirty="0"/>
          </a:p>
        </p:txBody>
      </p:sp>
      <p:sp>
        <p:nvSpPr>
          <p:cNvPr id="6" name="Text 4"/>
          <p:cNvSpPr/>
          <p:nvPr/>
        </p:nvSpPr>
        <p:spPr>
          <a:xfrm>
            <a:off x="777240" y="3931920"/>
            <a:ext cx="5349240"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EDF1F3"/>
                </a:solidFill>
                <a:latin typeface="Noto Sans" pitchFamily="34" charset="0"/>
                <a:ea typeface="Noto Sans" pitchFamily="34" charset="-122"/>
                <a:cs typeface="Noto Sans" pitchFamily="34" charset="-120"/>
              </a:rPr>
              <a:t>npm install -g mixdog</a:t>
            </a:r>
            <a:br/>
            <a:r>
              <a:rPr lang="en-US" sz="2200" dirty="0">
                <a:solidFill>
                  <a:srgbClr val="EDF1F3"/>
                </a:solidFill>
                <a:latin typeface="Noto Sans" pitchFamily="34" charset="0"/>
                <a:ea typeface="Noto Sans" pitchFamily="34" charset="-122"/>
                <a:cs typeface="Noto Sans" pitchFamily="34" charset="-120"/>
              </a:rPr>
              <a:t>mixdog</a:t>
            </a:r>
            <a:endParaRPr lang="en-US" sz="2200" dirty="0"/>
          </a:p>
        </p:txBody>
      </p:sp>
      <p:sp>
        <p:nvSpPr>
          <p:cNvPr id="7" name="Text 5"/>
          <p:cNvSpPr/>
          <p:nvPr/>
        </p:nvSpPr>
        <p:spPr>
          <a:xfrm>
            <a:off x="6766560" y="3246120"/>
            <a:ext cx="487375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첫 실행 설정</a:t>
            </a:r>
            <a:endParaRPr lang="en-US" sz="2700" dirty="0"/>
          </a:p>
        </p:txBody>
      </p:sp>
      <p:sp>
        <p:nvSpPr>
          <p:cNvPr id="8" name="Text 6"/>
          <p:cNvSpPr/>
          <p:nvPr/>
        </p:nvSpPr>
        <p:spPr>
          <a:xfrm>
            <a:off x="6766560" y="3886200"/>
            <a:ext cx="4873752"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계정 인증 → 모델 선택</a:t>
            </a:r>
            <a:br/>
            <a:r>
              <a:rPr lang="en-US" sz="1800" dirty="0">
                <a:solidFill>
                  <a:srgbClr val="AEBDC2"/>
                </a:solidFill>
                <a:latin typeface="Noto Sans KR" pitchFamily="34" charset="0"/>
                <a:ea typeface="Noto Sans KR" pitchFamily="34" charset="-122"/>
                <a:cs typeface="Noto Sans KR" pitchFamily="34" charset="-120"/>
              </a:rPr>
              <a:t>→ 워크플로우 설정</a:t>
            </a:r>
            <a:endParaRPr lang="en-US" sz="1800" dirty="0"/>
          </a:p>
        </p:txBody>
      </p:sp>
      <p:sp>
        <p:nvSpPr>
          <p:cNvPr id="9" name="Text 7"/>
          <p:cNvSpPr/>
          <p:nvPr/>
        </p:nvSpPr>
        <p:spPr>
          <a:xfrm>
            <a:off x="548640" y="5394960"/>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EDF1F3"/>
                </a:solidFill>
                <a:latin typeface="Noto Sans KR" pitchFamily="34" charset="0"/>
                <a:ea typeface="Noto Sans KR" pitchFamily="34" charset="-122"/>
                <a:cs typeface="Noto Sans KR" pitchFamily="34" charset="-120"/>
              </a:rPr>
              <a:t>Windows 앱 다운로드</a:t>
            </a:r>
            <a:endParaRPr lang="en-US" sz="1800" dirty="0"/>
          </a:p>
        </p:txBody>
      </p:sp>
      <p:sp>
        <p:nvSpPr>
          <p:cNvPr id="10" name="Text 8"/>
          <p:cNvSpPr/>
          <p:nvPr/>
        </p:nvSpPr>
        <p:spPr>
          <a:xfrm>
            <a:off x="548640" y="5806440"/>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DC2"/>
                </a:solidFill>
                <a:latin typeface="Noto Sans KR" pitchFamily="34" charset="0"/>
                <a:ea typeface="Noto Sans KR" pitchFamily="34" charset="-122"/>
                <a:cs typeface="Noto Sans KR" pitchFamily="34" charset="-120"/>
              </a:rPr>
              <a:t>github.com/tribgames/mixdog/releases/latest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Mixdog — 더 적은 비용으로 더 많은 작업</dc:title>
  <dc:subject>Mixdog 프로젝트 소개</dc:subject>
  <dc:creator>Mixdog</dc:creator>
  <cp:lastModifiedBy>Mixdog</cp:lastModifiedBy>
  <cp:revision>1</cp:revision>
  <dcterms:created xsi:type="dcterms:W3CDTF">2026-09-07T14:11:25Z</dcterms:created>
  <dcterms:modified xsi:type="dcterms:W3CDTF">2026-09-07T14:11:25Z</dcterms:modified>
</cp:coreProperties>
</file>