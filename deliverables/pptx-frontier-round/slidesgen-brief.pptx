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미학 총점</c:v>
                </c:pt>
              </c:strCache>
            </c:strRef>
          </c:tx>
          <c:spPr>
            <a:solidFill>
              <a:srgbClr val="E7E9EE"/>
            </a:solidFill>
            <a:effectLst/>
          </c:spPr>
          <c:invertIfNegative val="0"/>
          <c:dPt>
            <c:idx val="10"/>
            <c:invertIfNegative val="0"/>
            <c:bubble3D val="0"/>
            <c:spPr>
              <a:solidFill>
                <a:srgbClr val="AF3A1D"/>
              </a:solidFill>
            </c:spPr>
            <c:extLst>
              <c:ext xmlns:c16="http://schemas.microsoft.com/office/drawing/2014/chart" uri="{C3380CC4-5D6E-409C-BE32-E72D297353CC}">
                <c16:uniqueId val="{00000001-F006-446E-96EA-7F78154EB962}"/>
              </c:ext>
            </c:extLst>
          </c:dPt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3C465D"/>
                    </a:solidFill>
                    <a:latin typeface="Arial"/>
                    <a:ea typeface="Arial"/>
                    <a:cs typeface="Arial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AutoPresent*</c:v>
                </c:pt>
                <c:pt idx="1">
                  <c:v>PPTAgent*</c:v>
                </c:pt>
                <c:pt idx="2">
                  <c:v>Quark</c:v>
                </c:pt>
                <c:pt idx="3">
                  <c:v>Gamma</c:v>
                </c:pt>
                <c:pt idx="4">
                  <c:v>Kimi-Smart</c:v>
                </c:pt>
                <c:pt idx="5">
                  <c:v>Kimi-Standard</c:v>
                </c:pt>
                <c:pt idx="6">
                  <c:v>Skywork</c:v>
                </c:pt>
                <c:pt idx="7">
                  <c:v>Zhipu</c:v>
                </c:pt>
                <c:pt idx="8">
                  <c:v>NotebookLM</c:v>
                </c:pt>
                <c:pt idx="9">
                  <c:v>Kimi-Banana</c:v>
                </c:pt>
                <c:pt idx="10">
                  <c:v>Skywork-Banana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12.63</c:v>
                </c:pt>
                <c:pt idx="1">
                  <c:v>15.32</c:v>
                </c:pt>
                <c:pt idx="2">
                  <c:v>16.86</c:v>
                </c:pt>
                <c:pt idx="3">
                  <c:v>17.09</c:v>
                </c:pt>
                <c:pt idx="4">
                  <c:v>18.3</c:v>
                </c:pt>
                <c:pt idx="5">
                  <c:v>19.25</c:v>
                </c:pt>
                <c:pt idx="6">
                  <c:v>20.69</c:v>
                </c:pt>
                <c:pt idx="7">
                  <c:v>22.06</c:v>
                </c:pt>
                <c:pt idx="8">
                  <c:v>22.82</c:v>
                </c:pt>
                <c:pt idx="9">
                  <c:v>26.58</c:v>
                </c:pt>
                <c:pt idx="10">
                  <c:v>27.28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006-446E-96EA-7F78154EB962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C6475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3"/>
          <c:y val="0.14000000000000001"/>
          <c:w val="0.94"/>
          <c:h val="0.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스피어만 평균</c:v>
                </c:pt>
              </c:strCache>
            </c:strRef>
          </c:tx>
          <c:spPr>
            <a:solidFill>
              <a:srgbClr val="E7E9E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AF3A1D"/>
              </a:solidFill>
            </c:spPr>
            <c:extLst>
              <c:ext xmlns:c16="http://schemas.microsoft.com/office/drawing/2014/chart" uri="{C3380CC4-5D6E-409C-BE32-E72D297353CC}">
                <c16:uniqueId val="{00000001-EEFC-4684-B5A8-674C0233DD29}"/>
              </c:ext>
            </c:extLst>
          </c:dPt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3C465D"/>
                    </a:solidFill>
                    <a:latin typeface="Arial"/>
                    <a:ea typeface="Arial"/>
                    <a:cs typeface="Arial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SlidesGen-Bench</c:v>
                </c:pt>
                <c:pt idx="1">
                  <c:v>LLM 채점</c:v>
                </c:pt>
                <c:pt idx="2">
                  <c:v>LLM 아레나</c:v>
                </c:pt>
                <c:pt idx="3">
                  <c:v>PPTAgent (PPT-Eval)</c:v>
                </c:pt>
                <c:pt idx="4">
                  <c:v>사람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0.71</c:v>
                </c:pt>
                <c:pt idx="1">
                  <c:v>0.56999999999999995</c:v>
                </c:pt>
                <c:pt idx="2">
                  <c:v>0.52</c:v>
                </c:pt>
                <c:pt idx="3">
                  <c:v>0.53</c:v>
                </c:pt>
                <c:pt idx="4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EFC-4684-B5A8-674C0233DD29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C6475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3989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>표지 사진은 생성 이미지입니다 — 레인 openai-oauth, 모델 gpt-5.6-sol. 프롬프트 요지: 어두운 편집 스튜디오 탁자 위 부채꼴로 펼친 빈 프레젠테이션 카드(흰색과 남색), 창빛에 든 맨 위 카드에 코랄 사각 마크 하나, 왼쪽 삼분의 일은 비워 둠, 글자 없음.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>세로 점선(총점 20)은 이 덱이 그은 구분선이다. 원문은 상단 오른쪽 사분면(Q1)이 비어 있다고만 말한다. 좌표는 README의 Aesthetics 표와 PEI 표에서 옮겼다.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>Mixdog의 L3–L4는 자체 판단이다: 마스터(L3)와 네이티브 차트와 표(L4)를 쓰지만 SlidesGen-Bench로 측정하지는 않았다.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4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EB4C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0F1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4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Gradient"/>
          <p:cNvSpPr/>
          <p:nvPr/>
        </p:nvSpPr>
        <p:spPr>
          <a:xfrm>
            <a:off x="0" y="0"/>
            <a:ext cx="7557150" cy="6858000"/>
          </a:xfrm>
          <a:prstGeom prst="rect">
            <a:avLst/>
          </a:prstGeom>
          <a:gradFill rotWithShape="1">
            <a:gsLst>
              <a:gs pos="0">
                <a:srgbClr val="0F1524">
                  <a:alpha val="85000"/>
                </a:srgbClr>
              </a:gs>
              <a:gs pos="55000">
                <a:srgbClr val="0F1524">
                  <a:alpha val="30000"/>
                </a:srgbClr>
              </a:gs>
              <a:gs pos="100000">
                <a:srgbClr val="0F1524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82296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hangingPunct="0">
              <a:buNone/>
            </a:pPr>
            <a:r>
              <a:rPr lang="en-US" sz="1100" b="1" dirty="0">
                <a:solidFill>
                  <a:srgbClr val="E6A4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SlidesGen-Bench 브리핑 · EMNLP 2026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" y="2148840"/>
            <a:ext cx="5394960" cy="170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5000"/>
              </a:lnSpc>
              <a:buNone/>
            </a:pPr>
            <a:r>
              <a:rPr lang="en-US" sz="4700" b="1" dirty="0">
                <a:solidFill>
                  <a:srgbClr val="EDEEF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좋은 슬라이드는</a:t>
            </a:r>
            <a:br/>
            <a:r>
              <a:rPr lang="en-US" sz="4700" b="1" dirty="0">
                <a:solidFill>
                  <a:srgbClr val="EDEEF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이제 측정된다</a:t>
            </a:r>
            <a:endParaRPr lang="en-US" sz="4700" dirty="0"/>
          </a:p>
        </p:txBody>
      </p:sp>
      <p:sp>
        <p:nvSpPr>
          <p:cNvPr id="6" name="Shape 3"/>
          <p:cNvSpPr/>
          <p:nvPr/>
        </p:nvSpPr>
        <p:spPr>
          <a:xfrm>
            <a:off x="548640" y="2194560"/>
            <a:ext cx="0" cy="1565148"/>
          </a:xfrm>
          <a:prstGeom prst="line">
            <a:avLst/>
          </a:prstGeom>
          <a:noFill/>
          <a:ln w="38100">
            <a:solidFill>
              <a:srgbClr val="AF3A1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4262628"/>
            <a:ext cx="4937760" cy="141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AEB4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프레젠테이션 11개 시스템을 내용,</a:t>
            </a:r>
            <a:br/>
            <a:r>
              <a:rPr lang="en-US" sz="2200" dirty="0">
                <a:solidFill>
                  <a:srgbClr val="AEB4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미학, 편집성 세 축으로 채점한 결과와</a:t>
            </a:r>
            <a:br/>
            <a:r>
              <a:rPr lang="en-US" sz="2200" dirty="0">
                <a:solidFill>
                  <a:srgbClr val="AEB4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Mixdog가 겨냥할 자리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5943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E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재영님 · Mixdog Office · 2026년 9월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808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hangingPunct="0">
              <a:buNone/>
            </a:pPr>
            <a:r>
              <a:rPr lang="en-US" sz="1100" b="1" dirty="0">
                <a:solidFill>
                  <a:srgbClr val="AF3A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2638044"/>
            <a:ext cx="0" cy="1124712"/>
          </a:xfrm>
          <a:prstGeom prst="line">
            <a:avLst/>
          </a:prstGeom>
          <a:noFill/>
          <a:ln w="38100">
            <a:solidFill>
              <a:srgbClr val="AF3A1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60120" y="2638044"/>
            <a:ext cx="8867140" cy="1307592"/>
          </a:xfrm>
          <a:prstGeom prst="rect">
            <a:avLst/>
          </a:prstGeom>
          <a:noFill/>
          <a:ln/>
        </p:spPr>
        <p:txBody>
          <a:bodyPr wrap="square" lIns="0" tIns="0" rIns="88900" bIns="0" rtlCol="0" anchor="t"/>
          <a:lstStyle/>
          <a:p>
            <a:pPr marL="0" indent="0" hangingPunct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미학 상위는 편집이 안 되고, </a:t>
            </a:r>
            <a:r>
              <a:rPr lang="en-US" sz="2700" b="1" dirty="0">
                <a:solidFill>
                  <a:srgbClr val="AF3A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편집 가능한 쪽은 미학이 낮다</a:t>
            </a:r>
            <a:r>
              <a:rPr lang="en-US" sz="2700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br/>
            <a:r>
              <a:rPr lang="en-US" sz="2700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축을 동시에 잡은 시스템은 열한 개 중 하나도 없다.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60120" y="41742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4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SlidesGen-Bench V-E 매트릭스: 상단 오른쪽 사분면(Q1)이 비어 있다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4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F1524"/>
          </a:solidFill>
          <a:ln w="12700">
            <a:solidFill>
              <a:srgbClr val="0F15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hangingPunct="0">
              <a:buNone/>
            </a:pPr>
            <a:r>
              <a:rPr lang="en-US" sz="1100" b="1" dirty="0">
                <a:solidFill>
                  <a:srgbClr val="E6A4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미학 × 편집성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310896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EDEEF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미학 상위는</a:t>
            </a:r>
            <a:br/>
            <a:r>
              <a:rPr lang="en-US" sz="2700" b="1" dirty="0">
                <a:solidFill>
                  <a:srgbClr val="EDEEF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편집이 안 되고,</a:t>
            </a:r>
            <a:br/>
            <a:r>
              <a:rPr lang="en-US" sz="2700" b="1" dirty="0">
                <a:solidFill>
                  <a:srgbClr val="EDEEF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편집 가능한 쪽은</a:t>
            </a:r>
            <a:br/>
            <a:r>
              <a:rPr lang="en-US" sz="2700" b="1" dirty="0">
                <a:solidFill>
                  <a:srgbClr val="EDEEF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미학이 낮다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3685032"/>
            <a:ext cx="3108960" cy="10271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6500" b="1" dirty="0">
                <a:solidFill>
                  <a:srgbClr val="E6A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500" dirty="0"/>
          </a:p>
        </p:txBody>
      </p:sp>
      <p:sp>
        <p:nvSpPr>
          <p:cNvPr id="6" name="Text 4"/>
          <p:cNvSpPr/>
          <p:nvPr/>
        </p:nvSpPr>
        <p:spPr>
          <a:xfrm>
            <a:off x="548640" y="4767072"/>
            <a:ext cx="3108960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300" dirty="0">
                <a:solidFill>
                  <a:srgbClr val="AEB4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Q1에 든 시스템 (11개 중)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5431536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EDEE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Mixdog의 목표 위치는 L4</a:t>
            </a:r>
            <a:br/>
            <a:r>
              <a:rPr lang="en-US" sz="1800" b="1" dirty="0">
                <a:solidFill>
                  <a:srgbClr val="EDEE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행의 오른쪽 절반이다.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014716" y="1115568"/>
            <a:ext cx="3625596" cy="2176272"/>
          </a:xfrm>
          <a:prstGeom prst="rect">
            <a:avLst/>
          </a:prstGeom>
          <a:solidFill>
            <a:srgbClr val="EDDDD9"/>
          </a:solidFill>
          <a:ln w="12700">
            <a:solidFill>
              <a:srgbClr val="EDDD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151876" y="1207008"/>
            <a:ext cx="33512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AF3A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Q1 — 비어 있는 사분면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5897880"/>
            <a:ext cx="6793992" cy="0"/>
          </a:xfrm>
          <a:prstGeom prst="line">
            <a:avLst/>
          </a:prstGeom>
          <a:noFill/>
          <a:ln w="12700">
            <a:solidFill>
              <a:srgbClr val="D6D9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389120" y="57607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C64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4974336"/>
            <a:ext cx="6793992" cy="0"/>
          </a:xfrm>
          <a:prstGeom prst="line">
            <a:avLst/>
          </a:prstGeom>
          <a:noFill/>
          <a:ln w="12700">
            <a:solidFill>
              <a:srgbClr val="D6D9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389120" y="483717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C64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4050792"/>
            <a:ext cx="6793992" cy="0"/>
          </a:xfrm>
          <a:prstGeom prst="line">
            <a:avLst/>
          </a:prstGeom>
          <a:noFill/>
          <a:ln w="12700">
            <a:solidFill>
              <a:srgbClr val="D6D9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389120" y="39136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C64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3127248"/>
            <a:ext cx="6793992" cy="0"/>
          </a:xfrm>
          <a:prstGeom prst="line">
            <a:avLst/>
          </a:prstGeom>
          <a:noFill/>
          <a:ln w="12700">
            <a:solidFill>
              <a:srgbClr val="D6D9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389120" y="29900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C64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2203704"/>
            <a:ext cx="6793992" cy="0"/>
          </a:xfrm>
          <a:prstGeom prst="line">
            <a:avLst/>
          </a:prstGeom>
          <a:noFill/>
          <a:ln w="12700">
            <a:solidFill>
              <a:srgbClr val="D6D9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389120" y="20665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C64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1280160"/>
            <a:ext cx="6793992" cy="0"/>
          </a:xfrm>
          <a:prstGeom prst="line">
            <a:avLst/>
          </a:prstGeom>
          <a:noFill/>
          <a:ln w="12700">
            <a:solidFill>
              <a:srgbClr val="D6D9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389120" y="11430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C64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014716" y="1143000"/>
            <a:ext cx="0" cy="4800600"/>
          </a:xfrm>
          <a:prstGeom prst="line">
            <a:avLst/>
          </a:prstGeom>
          <a:noFill/>
          <a:ln w="12700">
            <a:solidFill>
              <a:srgbClr val="5C6475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0806516" y="4882896"/>
            <a:ext cx="182880" cy="182880"/>
          </a:xfrm>
          <a:prstGeom prst="ellipse">
            <a:avLst/>
          </a:prstGeom>
          <a:solidFill>
            <a:srgbClr val="5C6475"/>
          </a:solidFill>
          <a:ln w="12700">
            <a:solidFill>
              <a:srgbClr val="5C64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0183236" y="5120640"/>
            <a:ext cx="142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hangingPunc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Skywork-Banana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529282" y="4882896"/>
            <a:ext cx="182880" cy="182880"/>
          </a:xfrm>
          <a:prstGeom prst="ellipse">
            <a:avLst/>
          </a:prstGeom>
          <a:solidFill>
            <a:srgbClr val="5C6475"/>
          </a:solidFill>
          <a:ln w="12700">
            <a:solidFill>
              <a:srgbClr val="5C64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0065058" y="4608576"/>
            <a:ext cx="11113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hangingPunc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Kimi-Banana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040136" y="5806440"/>
            <a:ext cx="182880" cy="182880"/>
          </a:xfrm>
          <a:prstGeom prst="ellipse">
            <a:avLst/>
          </a:prstGeom>
          <a:solidFill>
            <a:srgbClr val="5C6475"/>
          </a:solidFill>
          <a:ln w="12700">
            <a:solidFill>
              <a:srgbClr val="5C64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9277880" y="5788152"/>
            <a:ext cx="10919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NotebookLM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739138" y="3959352"/>
            <a:ext cx="182880" cy="182880"/>
          </a:xfrm>
          <a:prstGeom prst="ellipse">
            <a:avLst/>
          </a:prstGeom>
          <a:solidFill>
            <a:srgbClr val="5C6475"/>
          </a:solidFill>
          <a:ln w="12700">
            <a:solidFill>
              <a:srgbClr val="5C64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976882" y="3941064"/>
            <a:ext cx="5457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Zhipu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96550" y="3959352"/>
            <a:ext cx="182880" cy="182880"/>
          </a:xfrm>
          <a:prstGeom prst="ellipse">
            <a:avLst/>
          </a:prstGeom>
          <a:solidFill>
            <a:srgbClr val="5C6475"/>
          </a:solidFill>
          <a:ln w="12700">
            <a:solidFill>
              <a:srgbClr val="5C64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8233126" y="3685032"/>
            <a:ext cx="7871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Skywork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626239" y="3959352"/>
            <a:ext cx="182880" cy="182880"/>
          </a:xfrm>
          <a:prstGeom prst="ellipse">
            <a:avLst/>
          </a:prstGeom>
          <a:solidFill>
            <a:srgbClr val="5C6475"/>
          </a:solidFill>
          <a:ln w="12700">
            <a:solidFill>
              <a:srgbClr val="5C64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102034" y="4197096"/>
            <a:ext cx="123128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hangingPunc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Kimi-Standard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249992" y="3959352"/>
            <a:ext cx="182880" cy="182880"/>
          </a:xfrm>
          <a:prstGeom prst="ellipse">
            <a:avLst/>
          </a:prstGeom>
          <a:solidFill>
            <a:srgbClr val="5C6475"/>
          </a:solidFill>
          <a:ln w="12700">
            <a:solidFill>
              <a:srgbClr val="5C64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843414" y="3685032"/>
            <a:ext cx="9960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hangingPunc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Kimi-Smart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770772" y="3959352"/>
            <a:ext cx="182880" cy="182880"/>
          </a:xfrm>
          <a:prstGeom prst="ellipse">
            <a:avLst/>
          </a:prstGeom>
          <a:solidFill>
            <a:srgbClr val="5C6475"/>
          </a:solidFill>
          <a:ln w="12700">
            <a:solidFill>
              <a:srgbClr val="5C64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510815" y="4197096"/>
            <a:ext cx="702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hangingPunc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Gamma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679681" y="3035808"/>
            <a:ext cx="182880" cy="182880"/>
          </a:xfrm>
          <a:prstGeom prst="ellipse">
            <a:avLst/>
          </a:prstGeom>
          <a:solidFill>
            <a:srgbClr val="AF3A1D"/>
          </a:solidFill>
          <a:ln w="12700">
            <a:solidFill>
              <a:srgbClr val="AF3A1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044870" y="3017520"/>
            <a:ext cx="5799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hangingPunc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Quark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069764" y="1188720"/>
            <a:ext cx="182880" cy="182880"/>
          </a:xfrm>
          <a:prstGeom prst="ellipse">
            <a:avLst/>
          </a:prstGeom>
          <a:solidFill>
            <a:srgbClr val="AF3A1D"/>
          </a:solidFill>
          <a:ln w="12700">
            <a:solidFill>
              <a:srgbClr val="AF3A1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307508" y="1170432"/>
            <a:ext cx="9339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PPTAgent*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004391" y="2112264"/>
            <a:ext cx="182880" cy="182880"/>
          </a:xfrm>
          <a:prstGeom prst="ellipse">
            <a:avLst/>
          </a:prstGeom>
          <a:solidFill>
            <a:srgbClr val="AF3A1D"/>
          </a:solidFill>
          <a:ln w="12700">
            <a:solidFill>
              <a:srgbClr val="AF3A1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5242135" y="2093976"/>
            <a:ext cx="11524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AutoPresent*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389120" y="713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C64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편집성 PEI ↑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846320" y="6035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C64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미학 총점 → 12.63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0725912" y="6035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hangingPunc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C64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27.28</a:t>
            </a:r>
            <a:endParaRPr lang="en-US" sz="13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4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3268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71D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미학 점수는 이미지 생성형이 앞선다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hangingPunct="0">
              <a:buNone/>
            </a:pPr>
            <a:r>
              <a:rPr lang="en-US" sz="1100" b="1" dirty="0">
                <a:solidFill>
                  <a:srgbClr val="AF3A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미학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2029968"/>
          <a:ext cx="749808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2029968"/>
            <a:ext cx="0" cy="3794760"/>
          </a:xfrm>
          <a:prstGeom prst="line">
            <a:avLst/>
          </a:prstGeom>
          <a:noFill/>
          <a:ln w="12700">
            <a:solidFill>
              <a:srgbClr val="D6D9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8503920" y="2029968"/>
            <a:ext cx="3136392" cy="10271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6500" b="1" dirty="0">
                <a:solidFill>
                  <a:srgbClr val="AF3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27.28</a:t>
            </a:r>
            <a:endParaRPr lang="en-US" sz="6500" dirty="0"/>
          </a:p>
        </p:txBody>
      </p:sp>
      <p:sp>
        <p:nvSpPr>
          <p:cNvPr id="7" name="Text 4"/>
          <p:cNvSpPr/>
          <p:nvPr/>
        </p:nvSpPr>
        <p:spPr>
          <a:xfrm>
            <a:off x="8503920" y="3112008"/>
            <a:ext cx="3136392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300" dirty="0">
                <a:solidFill>
                  <a:srgbClr val="5C64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Skywork-Banana 미학 총점 (네 지표 합)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03920" y="3776472"/>
            <a:ext cx="3225292" cy="2048256"/>
          </a:xfrm>
          <a:prstGeom prst="rect">
            <a:avLst/>
          </a:prstGeom>
          <a:noFill/>
          <a:ln/>
        </p:spPr>
        <p:txBody>
          <a:bodyPr wrap="square" lIns="0" tIns="0" rIns="88900" bIns="0" rtlCol="0" anchor="t"/>
          <a:lstStyle/>
          <a:p>
            <a:pPr marL="0" indent="0" hangingPunct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1위와 2위는 모두 이미지</a:t>
            </a:r>
            <a:br/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생성형(Banana) — 슬라이드가</a:t>
            </a:r>
            <a:br/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그림 한 장이라 편집성은 </a:t>
            </a:r>
            <a:r>
              <a:rPr lang="en-US" sz="1800" b="1" dirty="0">
                <a:solidFill>
                  <a:srgbClr val="AF3A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</a:t>
            </a:r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이다.</a:t>
            </a:r>
            <a:br/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템플릿형 Gamma와 Quark는</a:t>
            </a:r>
            <a:br/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하위권.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6144768"/>
            <a:ext cx="10268712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C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SlidesGen-Bench README (refs/slidesgen-bench), 결과 표, Aesthetics (Usability, Engagement, Harmony, Rhythm 합)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4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3268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71D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내용 보존은 Zhipu가 가장 높다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hangingPunct="0">
              <a:buNone/>
            </a:pPr>
            <a:r>
              <a:rPr lang="en-US" sz="1100" b="1" dirty="0">
                <a:solidFill>
                  <a:srgbClr val="AF3A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2084832"/>
            <a:ext cx="164592" cy="164592"/>
          </a:xfrm>
          <a:prstGeom prst="ellipse">
            <a:avLst/>
          </a:prstGeom>
          <a:solidFill>
            <a:srgbClr val="5C6475"/>
          </a:solidFill>
          <a:ln w="12700">
            <a:solidFill>
              <a:srgbClr val="5C64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04672" y="2029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C64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어려운 자료 (High)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34640" y="2084832"/>
            <a:ext cx="164592" cy="164592"/>
          </a:xfrm>
          <a:prstGeom prst="ellipse">
            <a:avLst/>
          </a:prstGeom>
          <a:solidFill>
            <a:srgbClr val="AF3A1D"/>
          </a:solidFill>
          <a:ln w="12700">
            <a:solidFill>
              <a:srgbClr val="AF3A1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090672" y="2029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C64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쉬운 자료 (Low)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334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hangingPunct="0">
              <a:buNone/>
            </a:pPr>
            <a:r>
              <a:rPr lang="en-US" sz="1300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Zhipu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7300" y="2770632"/>
            <a:ext cx="692892" cy="0"/>
          </a:xfrm>
          <a:prstGeom prst="line">
            <a:avLst/>
          </a:prstGeom>
          <a:noFill/>
          <a:ln w="25400">
            <a:solidFill>
              <a:srgbClr val="D6D9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095004" y="2688336"/>
            <a:ext cx="164592" cy="164592"/>
          </a:xfrm>
          <a:prstGeom prst="ellipse">
            <a:avLst/>
          </a:prstGeom>
          <a:solidFill>
            <a:srgbClr val="5C6475"/>
          </a:solidFill>
          <a:ln w="12700">
            <a:solidFill>
              <a:srgbClr val="5C64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787896" y="2688336"/>
            <a:ext cx="164592" cy="164592"/>
          </a:xfrm>
          <a:prstGeom prst="ellipse">
            <a:avLst/>
          </a:prstGeom>
          <a:solidFill>
            <a:srgbClr val="AF3A1D"/>
          </a:solidFill>
          <a:ln w="12700">
            <a:solidFill>
              <a:srgbClr val="AF3A1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308620" y="26334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hangingPunct="0">
              <a:buNone/>
            </a:pPr>
            <a:r>
              <a:rPr lang="en-US" sz="1150" dirty="0">
                <a:solidFill>
                  <a:srgbClr val="5C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84.07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007352" y="26334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150" b="1" dirty="0">
                <a:solidFill>
                  <a:srgbClr val="17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92.00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hangingPunct="0">
              <a:buNone/>
            </a:pPr>
            <a:r>
              <a:rPr lang="en-US" sz="1300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Kimi-Banana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12642" y="3246120"/>
            <a:ext cx="720852" cy="0"/>
          </a:xfrm>
          <a:prstGeom prst="line">
            <a:avLst/>
          </a:prstGeom>
          <a:noFill/>
          <a:ln w="25400">
            <a:solidFill>
              <a:srgbClr val="D6D9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030346" y="3163824"/>
            <a:ext cx="164592" cy="164592"/>
          </a:xfrm>
          <a:prstGeom prst="ellipse">
            <a:avLst/>
          </a:prstGeom>
          <a:solidFill>
            <a:srgbClr val="5C6475"/>
          </a:solidFill>
          <a:ln w="12700">
            <a:solidFill>
              <a:srgbClr val="5C64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751198" y="3163824"/>
            <a:ext cx="164592" cy="164592"/>
          </a:xfrm>
          <a:prstGeom prst="ellipse">
            <a:avLst/>
          </a:prstGeom>
          <a:solidFill>
            <a:srgbClr val="AF3A1D"/>
          </a:solidFill>
          <a:ln w="12700">
            <a:solidFill>
              <a:srgbClr val="AF3A1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243962" y="3108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hangingPunct="0">
              <a:buNone/>
            </a:pPr>
            <a:r>
              <a:rPr lang="en-US" sz="1150" dirty="0">
                <a:solidFill>
                  <a:srgbClr val="5C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83.33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970654" y="3108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150" b="1" dirty="0">
                <a:solidFill>
                  <a:srgbClr val="17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91.58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3584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hangingPunct="0">
              <a:buNone/>
            </a:pPr>
            <a:r>
              <a:rPr lang="en-US" sz="1300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Skywork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821680" y="3721608"/>
            <a:ext cx="225430" cy="0"/>
          </a:xfrm>
          <a:prstGeom prst="line">
            <a:avLst/>
          </a:prstGeom>
          <a:noFill/>
          <a:ln w="25400">
            <a:solidFill>
              <a:srgbClr val="D6D9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739384" y="3639312"/>
            <a:ext cx="164592" cy="164592"/>
          </a:xfrm>
          <a:prstGeom prst="ellipse">
            <a:avLst/>
          </a:prstGeom>
          <a:solidFill>
            <a:srgbClr val="5C6475"/>
          </a:solidFill>
          <a:ln w="12700">
            <a:solidFill>
              <a:srgbClr val="5C64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964814" y="3639312"/>
            <a:ext cx="164592" cy="164592"/>
          </a:xfrm>
          <a:prstGeom prst="ellipse">
            <a:avLst/>
          </a:prstGeom>
          <a:solidFill>
            <a:srgbClr val="AF3A1D"/>
          </a:solidFill>
          <a:ln w="12700">
            <a:solidFill>
              <a:srgbClr val="AF3A1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953000" y="35844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hangingPunct="0">
              <a:buNone/>
            </a:pPr>
            <a:r>
              <a:rPr lang="en-US" sz="1150" dirty="0">
                <a:solidFill>
                  <a:srgbClr val="5C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80.00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184270" y="35844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150" b="1" dirty="0">
                <a:solidFill>
                  <a:srgbClr val="17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82.58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40599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hangingPunct="0">
              <a:buNone/>
            </a:pPr>
            <a:r>
              <a:rPr lang="en-US" sz="1300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Skywork-Banana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792846" y="4197096"/>
            <a:ext cx="727842" cy="0"/>
          </a:xfrm>
          <a:prstGeom prst="line">
            <a:avLst/>
          </a:prstGeom>
          <a:noFill/>
          <a:ln w="25400">
            <a:solidFill>
              <a:srgbClr val="D6D9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710550" y="4114800"/>
            <a:ext cx="164592" cy="164592"/>
          </a:xfrm>
          <a:prstGeom prst="ellipse">
            <a:avLst/>
          </a:prstGeom>
          <a:solidFill>
            <a:srgbClr val="5C6475"/>
          </a:solidFill>
          <a:ln w="12700">
            <a:solidFill>
              <a:srgbClr val="5C64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438392" y="4114800"/>
            <a:ext cx="164592" cy="164592"/>
          </a:xfrm>
          <a:prstGeom prst="ellipse">
            <a:avLst/>
          </a:prstGeom>
          <a:solidFill>
            <a:srgbClr val="AF3A1D"/>
          </a:solidFill>
          <a:ln w="12700">
            <a:solidFill>
              <a:srgbClr val="AF3A1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924166" y="40599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hangingPunct="0">
              <a:buNone/>
            </a:pPr>
            <a:r>
              <a:rPr lang="en-US" sz="1150" dirty="0">
                <a:solidFill>
                  <a:srgbClr val="5C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79.67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657848" y="40599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150" b="1" dirty="0">
                <a:solidFill>
                  <a:srgbClr val="17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88.00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45354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hangingPunct="0">
              <a:buNone/>
            </a:pPr>
            <a:r>
              <a:rPr lang="en-US" sz="1300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NotebookLM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931319" y="4672584"/>
            <a:ext cx="1414617" cy="0"/>
          </a:xfrm>
          <a:prstGeom prst="line">
            <a:avLst/>
          </a:prstGeom>
          <a:noFill/>
          <a:ln w="25400">
            <a:solidFill>
              <a:srgbClr val="D6D9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4849023" y="4590288"/>
            <a:ext cx="164592" cy="164592"/>
          </a:xfrm>
          <a:prstGeom prst="ellipse">
            <a:avLst/>
          </a:prstGeom>
          <a:solidFill>
            <a:srgbClr val="5C6475"/>
          </a:solidFill>
          <a:ln w="12700">
            <a:solidFill>
              <a:srgbClr val="5C64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6263640" y="4590288"/>
            <a:ext cx="164592" cy="164592"/>
          </a:xfrm>
          <a:prstGeom prst="ellipse">
            <a:avLst/>
          </a:prstGeom>
          <a:solidFill>
            <a:srgbClr val="AF3A1D"/>
          </a:solidFill>
          <a:ln w="12700">
            <a:solidFill>
              <a:srgbClr val="AF3A1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062639" y="45354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hangingPunct="0">
              <a:buNone/>
            </a:pPr>
            <a:r>
              <a:rPr lang="en-US" sz="1150" dirty="0">
                <a:solidFill>
                  <a:srgbClr val="5C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69.81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483096" y="45354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150" b="1" dirty="0">
                <a:solidFill>
                  <a:srgbClr val="17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86.00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48640" y="5010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hangingPunct="0">
              <a:buNone/>
            </a:pPr>
            <a:r>
              <a:rPr lang="en-US" sz="1300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Gamma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708510" y="5148072"/>
            <a:ext cx="725221" cy="0"/>
          </a:xfrm>
          <a:prstGeom prst="line">
            <a:avLst/>
          </a:prstGeom>
          <a:noFill/>
          <a:ln w="25400">
            <a:solidFill>
              <a:srgbClr val="D6D9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4626214" y="5065776"/>
            <a:ext cx="164592" cy="164592"/>
          </a:xfrm>
          <a:prstGeom prst="ellipse">
            <a:avLst/>
          </a:prstGeom>
          <a:solidFill>
            <a:srgbClr val="5C6475"/>
          </a:solidFill>
          <a:ln w="12700">
            <a:solidFill>
              <a:srgbClr val="5C64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5351435" y="5065776"/>
            <a:ext cx="164592" cy="164592"/>
          </a:xfrm>
          <a:prstGeom prst="ellipse">
            <a:avLst/>
          </a:prstGeom>
          <a:solidFill>
            <a:srgbClr val="AF3A1D"/>
          </a:solidFill>
          <a:ln w="12700">
            <a:solidFill>
              <a:srgbClr val="AF3A1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3839830" y="50109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hangingPunct="0">
              <a:buNone/>
            </a:pPr>
            <a:r>
              <a:rPr lang="en-US" sz="1150" dirty="0">
                <a:solidFill>
                  <a:srgbClr val="5C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67.26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570891" y="50109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150" b="1" dirty="0">
                <a:solidFill>
                  <a:srgbClr val="17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75.56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48640" y="5486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hangingPunct="0">
              <a:buNone/>
            </a:pPr>
            <a:r>
              <a:rPr lang="en-US" sz="1300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PPTAgent*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981541" y="5623560"/>
            <a:ext cx="683280" cy="0"/>
          </a:xfrm>
          <a:prstGeom prst="line">
            <a:avLst/>
          </a:prstGeom>
          <a:noFill/>
          <a:ln w="25400">
            <a:solidFill>
              <a:srgbClr val="D6D9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3899245" y="5541264"/>
            <a:ext cx="164592" cy="164592"/>
          </a:xfrm>
          <a:prstGeom prst="ellipse">
            <a:avLst/>
          </a:prstGeom>
          <a:solidFill>
            <a:srgbClr val="5C6475"/>
          </a:solidFill>
          <a:ln w="12700">
            <a:solidFill>
              <a:srgbClr val="5C64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582526" y="5541264"/>
            <a:ext cx="164592" cy="164592"/>
          </a:xfrm>
          <a:prstGeom prst="ellipse">
            <a:avLst/>
          </a:prstGeom>
          <a:solidFill>
            <a:srgbClr val="AF3A1D"/>
          </a:solidFill>
          <a:ln w="12700">
            <a:solidFill>
              <a:srgbClr val="AF3A1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3112861" y="54864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hangingPunct="0">
              <a:buNone/>
            </a:pPr>
            <a:r>
              <a:rPr lang="en-US" sz="1150" dirty="0">
                <a:solidFill>
                  <a:srgbClr val="5C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58.94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801982" y="54864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150" b="1" dirty="0">
                <a:solidFill>
                  <a:srgbClr val="17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66.76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8138160" y="2029968"/>
            <a:ext cx="0" cy="3794760"/>
          </a:xfrm>
          <a:prstGeom prst="line">
            <a:avLst/>
          </a:prstGeom>
          <a:noFill/>
          <a:ln w="12700">
            <a:solidFill>
              <a:srgbClr val="D6D9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8503920" y="2029968"/>
            <a:ext cx="3136392" cy="10271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6500" b="1" dirty="0">
                <a:solidFill>
                  <a:srgbClr val="AF3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88.29%</a:t>
            </a:r>
            <a:endParaRPr lang="en-US" sz="6500" dirty="0"/>
          </a:p>
        </p:txBody>
      </p:sp>
      <p:sp>
        <p:nvSpPr>
          <p:cNvPr id="52" name="Text 50"/>
          <p:cNvSpPr/>
          <p:nvPr/>
        </p:nvSpPr>
        <p:spPr>
          <a:xfrm>
            <a:off x="8503920" y="3112008"/>
            <a:ext cx="3136392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300" dirty="0">
                <a:solidFill>
                  <a:srgbClr val="5C64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Zhipu 전체 평균 정답률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503920" y="3776472"/>
            <a:ext cx="3225292" cy="2048256"/>
          </a:xfrm>
          <a:prstGeom prst="rect">
            <a:avLst/>
          </a:prstGeom>
          <a:noFill/>
          <a:ln/>
        </p:spPr>
        <p:txBody>
          <a:bodyPr wrap="square" lIns="0" tIns="0" rIns="88900" bIns="0" rtlCol="0" anchor="t"/>
          <a:lstStyle/>
          <a:p>
            <a:pPr marL="0" indent="0" hangingPunct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원문에서 낸 QuizBank 10</a:t>
            </a:r>
            <a:br/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문항으로 슬라이드만 보고 답한</a:t>
            </a:r>
            <a:br/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정답률. 코드 생성형 </a:t>
            </a:r>
            <a:r>
              <a:rPr lang="en-US" sz="1800" b="1" dirty="0">
                <a:solidFill>
                  <a:srgbClr val="AF3A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Zhipu</a:t>
            </a:r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</a:t>
            </a:r>
            <a:br/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높고, 모든 시스템이</a:t>
            </a:r>
            <a:br/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어려운 자료에서 더 잃는다.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548640" y="6144768"/>
            <a:ext cx="10268712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C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SlidesGen-Bench README (refs/slidesgen-bench), 결과 표, QuizBank Accuracy (High, Low 열)</a:t>
            </a:r>
            <a:endParaRPr lang="en-US" sz="130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4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3268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71D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상용 도구 대부분은 L2에서 멈춘다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hangingPunct="0">
              <a:buNone/>
            </a:pPr>
            <a:r>
              <a:rPr lang="en-US" sz="1100" b="1" dirty="0">
                <a:solidFill>
                  <a:srgbClr val="AF3A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편집성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29968"/>
          <a:ext cx="11091672" cy="914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9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 hangingPunct="0">
                        <a:buNone/>
                      </a:pPr>
                      <a:r>
                        <a:rPr lang="en-US" sz="1400" b="1" dirty="0">
                          <a:solidFill>
                            <a:srgbClr val="171D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레벨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91440" marB="91440" anchor="ctr">
                    <a:lnL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400" b="1" dirty="0">
                          <a:solidFill>
                            <a:srgbClr val="171D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91440" marB="91440" anchor="ctr">
                    <a:lnL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400" b="1" dirty="0">
                          <a:solidFill>
                            <a:srgbClr val="171D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기술 특징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91440" marB="91440" anchor="ctr">
                    <a:lnL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400" b="1" dirty="0">
                          <a:solidFill>
                            <a:srgbClr val="171D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시스템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91440" marB="91440" anchor="ctr">
                    <a:lnL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 hangingPunct="0">
                        <a:buNone/>
                      </a:pPr>
                      <a:r>
                        <a:rPr lang="en-US" sz="1400" b="1" dirty="0">
                          <a:solidFill>
                            <a:srgbClr val="171D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L5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91440" marB="91440" anchor="ctr">
                    <a:lnL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400" dirty="0">
                          <a:solidFill>
                            <a:srgbClr val="3C46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Cinematic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91440" marB="91440" anchor="ctr">
                    <a:lnL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400" dirty="0">
                          <a:solidFill>
                            <a:srgbClr val="3C46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애니메이션 논리, 네이티브 미디어 임베드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91440" marB="91440" anchor="ctr">
                    <a:lnL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400" dirty="0">
                          <a:solidFill>
                            <a:srgbClr val="3C46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PPTAgent*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91440" marB="91440" anchor="ctr">
                    <a:lnL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 hangingPunct="0">
                        <a:buNone/>
                      </a:pPr>
                      <a:r>
                        <a:rPr lang="en-US" sz="1400" b="1" dirty="0">
                          <a:solidFill>
                            <a:srgbClr val="171D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L4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91440" marB="91440" anchor="ctr">
                    <a:lnL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400" dirty="0">
                          <a:solidFill>
                            <a:srgbClr val="3C46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Parametric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91440" marB="91440" anchor="ctr">
                    <a:lnL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400" dirty="0">
                          <a:solidFill>
                            <a:srgbClr val="3C46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네이티브 데이터 객체 (차트, SmartArt)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91440" marB="91440" anchor="ctr">
                    <a:lnL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400" dirty="0">
                          <a:solidFill>
                            <a:srgbClr val="3C46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AutoPresent*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91440" marB="91440" anchor="ctr">
                    <a:lnL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 hangingPunct="0">
                        <a:buNone/>
                      </a:pPr>
                      <a:r>
                        <a:rPr lang="en-US" sz="1400" b="1" dirty="0">
                          <a:solidFill>
                            <a:srgbClr val="171D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L3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91440" marB="91440" anchor="ctr">
                    <a:lnL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400" dirty="0">
                          <a:solidFill>
                            <a:srgbClr val="3C46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Structural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91440" marB="91440" anchor="ctr">
                    <a:lnL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400" dirty="0">
                          <a:solidFill>
                            <a:srgbClr val="3C46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전역 마스터, 논리적 그룹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91440" marB="91440" anchor="ctr">
                    <a:lnL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400" dirty="0">
                          <a:solidFill>
                            <a:srgbClr val="3C46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Quark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91440" marB="91440" anchor="ctr">
                    <a:lnL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 hangingPunct="0">
                        <a:buNone/>
                      </a:pPr>
                      <a:r>
                        <a:rPr lang="en-US" sz="1400" b="1" dirty="0">
                          <a:solidFill>
                            <a:srgbClr val="171D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L2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91440" marB="91440" anchor="ctr">
                    <a:lnL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D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400" dirty="0">
                          <a:solidFill>
                            <a:srgbClr val="3C46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Vector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91440" marB="91440" anchor="ctr">
                    <a:lnL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D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400" dirty="0">
                          <a:solidFill>
                            <a:srgbClr val="3C46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SVG 경로, 벡터 도형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91440" marB="91440" anchor="ctr">
                    <a:lnL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D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400" dirty="0">
                          <a:solidFill>
                            <a:srgbClr val="3C46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Gamma, Skywork, Kimi Standard, Kimi Smart, Zhipu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91440" marB="91440" anchor="ctr">
                    <a:lnL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D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 hangingPunct="0">
                        <a:buNone/>
                      </a:pPr>
                      <a:r>
                        <a:rPr lang="en-US" sz="1400" b="1" dirty="0">
                          <a:solidFill>
                            <a:srgbClr val="171D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L1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91440" marB="91440" anchor="ctr">
                    <a:lnL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400" dirty="0">
                          <a:solidFill>
                            <a:srgbClr val="3C46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Patchwork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91440" marB="91440" anchor="ctr">
                    <a:lnL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400" dirty="0">
                          <a:solidFill>
                            <a:srgbClr val="3C46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편집 가능한 텍스트, 래스터 배경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91440" marB="91440" anchor="ctr">
                    <a:lnL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400" dirty="0">
                          <a:solidFill>
                            <a:srgbClr val="3C46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Kimi Banana, Skywork Banana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91440" marB="91440" anchor="ctr">
                    <a:lnL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 hangingPunct="0">
                        <a:buNone/>
                      </a:pPr>
                      <a:r>
                        <a:rPr lang="en-US" sz="1400" b="1" dirty="0">
                          <a:solidFill>
                            <a:srgbClr val="171D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L0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91440" marB="91440" anchor="ctr">
                    <a:lnL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400" dirty="0">
                          <a:solidFill>
                            <a:srgbClr val="3C46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Static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91440" marB="91440" anchor="ctr">
                    <a:lnL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400" dirty="0">
                          <a:solidFill>
                            <a:srgbClr val="3C46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픽셀로 평탄화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91440" marB="91440" anchor="ctr">
                    <a:lnL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400" dirty="0">
                          <a:solidFill>
                            <a:srgbClr val="3C46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NotebookLM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91440" marB="91440" anchor="ctr">
                    <a:lnL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956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4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SlidesGen-Bench README (refs/slidesgen-bench), 결과 표, PEI Levels 표. 별표(*)는 학술 프레임워크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solidFill>
            <a:srgbClr val="EDDDD9"/>
          </a:solidFill>
          <a:ln w="12700">
            <a:solidFill>
              <a:srgbClr val="EDDD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/>
          <p:cNvSpPr/>
          <p:nvPr/>
        </p:nvSpPr>
        <p:spPr>
          <a:xfrm>
            <a:off x="777240" y="5623560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hangingPunct="0">
              <a:buNone/>
            </a:pPr>
            <a:r>
              <a:rPr lang="en-US" sz="1800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Mixdog Office 덱은 마스터와 네이티브 차트, 표를 쓴다 — L3–L4로 본다 (자체 판단, 벤치 미측정).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4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3268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71D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계산 지표가 LLM 심사보다 사람에 가깝다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hangingPunct="0">
              <a:buNone/>
            </a:pPr>
            <a:r>
              <a:rPr lang="en-US" sz="1100" b="1" dirty="0">
                <a:solidFill>
                  <a:srgbClr val="AF3A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신뢰도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2029968"/>
          <a:ext cx="749808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 flipV="1">
            <a:off x="7116958" y="2377440"/>
            <a:ext cx="0" cy="282732"/>
          </a:xfrm>
          <a:prstGeom prst="line">
            <a:avLst/>
          </a:prstGeom>
          <a:noFill/>
          <a:ln w="15875">
            <a:solidFill>
              <a:srgbClr val="AF3A1D"/>
            </a:solidFill>
            <a:prstDash val="solid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370874" y="2048256"/>
            <a:ext cx="16363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hangingPunc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AF3A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간 일치 — 상한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138160" y="2029968"/>
            <a:ext cx="0" cy="3794760"/>
          </a:xfrm>
          <a:prstGeom prst="line">
            <a:avLst/>
          </a:prstGeom>
          <a:noFill/>
          <a:ln w="12700">
            <a:solidFill>
              <a:srgbClr val="D6D9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503920" y="2029968"/>
            <a:ext cx="3225292" cy="3794760"/>
          </a:xfrm>
          <a:prstGeom prst="rect">
            <a:avLst/>
          </a:prstGeom>
          <a:noFill/>
          <a:ln/>
        </p:spPr>
        <p:txBody>
          <a:bodyPr wrap="square" lIns="0" tIns="0" rIns="88900" bIns="0" rtlCol="0" anchor="t"/>
          <a:lstStyle/>
          <a:p>
            <a:pPr marL="0" indent="0" hangingPunct="0">
              <a:lnSpc>
                <a:spcPct val="135000"/>
              </a:lnSpc>
              <a:spcAft>
                <a:spcPts val="1440"/>
              </a:spcAft>
              <a:buNone/>
            </a:pPr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Slides-Align1.5k — 사람이</a:t>
            </a:r>
            <a:br/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매긴 순위 1,500개, 시스템</a:t>
            </a:r>
            <a:br/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11개, 과제 189개, 범주 7개.</a:t>
            </a:r>
            <a:endParaRPr lang="en-US" sz="1800" dirty="0"/>
          </a:p>
          <a:p>
            <a:pPr marL="0" indent="0" hangingPunct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스피어만 평균 </a:t>
            </a:r>
            <a:r>
              <a:rPr lang="en-US" sz="1800" b="1" dirty="0">
                <a:solidFill>
                  <a:srgbClr val="AF3A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0.71</a:t>
            </a:r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LLM</a:t>
            </a:r>
            <a:br/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채점 0.57보다 높고, 표준편차</a:t>
            </a:r>
            <a:br/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0.16으로 가장 안정적이다. 네</a:t>
            </a:r>
            <a:br/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미학 지표는 사람이 고른 순위를</a:t>
            </a:r>
            <a:br/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따라간다.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6144768"/>
            <a:ext cx="10268712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C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SlidesGen-Bench README (refs/slidesgen-bench), 결과 표, Human Alignment 표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4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3268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71D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편집 가능한 L4에서 미학을 올린다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hangingPunct="0">
              <a:buNone/>
            </a:pPr>
            <a:r>
              <a:rPr lang="en-US" sz="1100" b="1" dirty="0">
                <a:solidFill>
                  <a:srgbClr val="AF3A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Mixdog가 겨냥할 자리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2487168"/>
            <a:ext cx="822960" cy="822960"/>
          </a:xfrm>
          <a:prstGeom prst="ellipse">
            <a:avLst/>
          </a:prstGeom>
          <a:solidFill>
            <a:srgbClr val="E7E9EE"/>
          </a:solidFill>
          <a:ln w="12700">
            <a:solidFill>
              <a:srgbClr val="E7E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269290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419856"/>
            <a:ext cx="23773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조화 Harmony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3913632"/>
            <a:ext cx="2377307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hue의 중립 사다리에</a:t>
            </a:r>
            <a:br/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보색 액센트 하나,</a:t>
            </a:r>
            <a:br/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채도는 액센트에만 둔다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291707" y="2487168"/>
            <a:ext cx="822960" cy="822960"/>
          </a:xfrm>
          <a:prstGeom prst="ellipse">
            <a:avLst/>
          </a:prstGeom>
          <a:solidFill>
            <a:srgbClr val="E7E9EE"/>
          </a:solidFill>
          <a:ln w="12700">
            <a:solidFill>
              <a:srgbClr val="E7E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447" y="2692908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91707" y="3419856"/>
            <a:ext cx="2522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참여 Engagement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291707" y="3913632"/>
            <a:ext cx="252285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사진과 그라디언트 필드,</a:t>
            </a:r>
            <a:br/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캔버스 사분의 일 이상을</a:t>
            </a:r>
            <a:br/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차지하는 주 캐리어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6180323" y="2487168"/>
            <a:ext cx="822960" cy="822960"/>
          </a:xfrm>
          <a:prstGeom prst="ellipse">
            <a:avLst/>
          </a:prstGeom>
          <a:solidFill>
            <a:srgbClr val="E7E9EE"/>
          </a:solidFill>
          <a:ln w="12700">
            <a:solidFill>
              <a:srgbClr val="E7E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6063" y="2692908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0323" y="3419856"/>
            <a:ext cx="22802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가독성 Usability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180323" y="3913632"/>
            <a:ext cx="2280274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 대비 4.5:1을 저장</a:t>
            </a:r>
            <a:br/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전에 재고, 렌더로 다시</a:t>
            </a:r>
            <a:br/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읽는다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8826357" y="2487168"/>
            <a:ext cx="822960" cy="822960"/>
          </a:xfrm>
          <a:prstGeom prst="ellipse">
            <a:avLst/>
          </a:prstGeom>
          <a:solidFill>
            <a:srgbClr val="E7E9EE"/>
          </a:solidFill>
          <a:ln w="12700">
            <a:solidFill>
              <a:srgbClr val="E7E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2097" y="2692908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826357" y="3419856"/>
            <a:ext cx="2813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리듬 Visual Rhythm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8826357" y="3913632"/>
            <a:ext cx="2813955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anchor, dense, breathing</a:t>
            </a:r>
            <a:br/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순서로 페이지의 밀도를</a:t>
            </a:r>
            <a:br/>
            <a:r>
              <a:rPr lang="en-US" sz="1800" dirty="0">
                <a:solidFill>
                  <a:srgbClr val="3C4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바꾼다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solidFill>
            <a:srgbClr val="EDDDD9"/>
          </a:solidFill>
          <a:ln w="12700">
            <a:solidFill>
              <a:srgbClr val="EDDD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/>
          <p:nvPr/>
        </p:nvSpPr>
        <p:spPr>
          <a:xfrm>
            <a:off x="777240" y="5623560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hangingPunct="0">
              <a:buNone/>
            </a:pPr>
            <a:r>
              <a:rPr lang="en-US" sz="1800" dirty="0">
                <a:solidFill>
                  <a:srgbClr val="171D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 지표 모두 이번 라운드의 킷 변경(프렐류드, 보색 팔레트, 그라디언트, 사진 기본값)이 직접 닿는다.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4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ient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0F1524"/>
              </a:gs>
              <a:gs pos="100000">
                <a:srgbClr val="1D253A"/>
              </a:gs>
            </a:gsLst>
            <a:lin ang="2100000" scaled="0"/>
          </a:gra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7863840" y="0"/>
            <a:ext cx="4325112" cy="6858000"/>
          </a:xfrm>
          <a:prstGeom prst="rect">
            <a:avLst/>
          </a:prstGeom>
        </p:spPr>
      </p:pic>
      <p:sp>
        <p:nvSpPr>
          <p:cNvPr id="4" name="Gradient"/>
          <p:cNvSpPr/>
          <p:nvPr/>
        </p:nvSpPr>
        <p:spPr>
          <a:xfrm>
            <a:off x="7863840" y="0"/>
            <a:ext cx="2377440" cy="6858000"/>
          </a:xfrm>
          <a:prstGeom prst="rect">
            <a:avLst/>
          </a:prstGeom>
          <a:gradFill rotWithShape="1">
            <a:gsLst>
              <a:gs pos="0">
                <a:srgbClr val="0F1524">
                  <a:alpha val="85000"/>
                </a:srgbClr>
              </a:gs>
              <a:gs pos="55000">
                <a:srgbClr val="0F1524">
                  <a:alpha val="30000"/>
                </a:srgbClr>
              </a:gs>
              <a:gs pos="100000">
                <a:srgbClr val="0F1524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82296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hangingPunct="0">
              <a:buNone/>
            </a:pPr>
            <a:r>
              <a:rPr lang="en-US" sz="1100" b="1" dirty="0">
                <a:solidFill>
                  <a:srgbClr val="E6A4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" y="2194560"/>
            <a:ext cx="6400800" cy="170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5000"/>
              </a:lnSpc>
              <a:buNone/>
            </a:pPr>
            <a:r>
              <a:rPr lang="en-US" sz="4700" b="1" dirty="0">
                <a:solidFill>
                  <a:srgbClr val="EDEEF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다음 측정은</a:t>
            </a:r>
            <a:br/>
            <a:r>
              <a:rPr lang="en-US" sz="4700" b="1" dirty="0">
                <a:solidFill>
                  <a:srgbClr val="EDEEF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우리 덱으로</a:t>
            </a:r>
            <a:endParaRPr lang="en-US" sz="4700" dirty="0"/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0" cy="1565148"/>
          </a:xfrm>
          <a:prstGeom prst="line">
            <a:avLst/>
          </a:prstGeom>
          <a:noFill/>
          <a:ln w="38100">
            <a:solidFill>
              <a:srgbClr val="AF3A1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22960" y="4308348"/>
            <a:ext cx="6583680" cy="141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E6A4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SlidesGen-Bench의</a:t>
            </a:r>
            <a:br/>
            <a:r>
              <a:rPr lang="en-US" sz="2200" b="1" dirty="0">
                <a:solidFill>
                  <a:srgbClr val="E6A4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aesthetics_metrics.py에 Mixdog 덱을 넣어</a:t>
            </a:r>
            <a:br/>
            <a:r>
              <a:rPr lang="en-US" sz="2200" b="1" dirty="0">
                <a:solidFill>
                  <a:srgbClr val="E6A4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조화, 참여, 가독성, 리듬 네 지표를 받는다.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5943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E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재영님 · Mixdog Office · 2026년 9월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761</Words>
  <Application>Microsoft Office PowerPoint</Application>
  <PresentationFormat>와이드스크린</PresentationFormat>
  <Paragraphs>140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Noto Sans KR</vt:lpstr>
      <vt:lpstr>Noto Serif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재영 박</cp:lastModifiedBy>
  <cp:revision>2</cp:revision>
  <dcterms:created xsi:type="dcterms:W3CDTF">2026-09-05T16:31:38Z</dcterms:created>
  <dcterms:modified xsi:type="dcterms:W3CDTF">2026-09-05T16:31:52Z</dcterms:modified>
</cp:coreProperties>
</file>