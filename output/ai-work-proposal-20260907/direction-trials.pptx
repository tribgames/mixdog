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</c:v>
                </c:pt>
              </c:strCache>
            </c:strRef>
          </c:tx>
          <c:spPr>
            <a:solidFill>
              <a:srgbClr val="5A6672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C4D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자료 조사</c:v>
                  </c:pt>
                  <c:pt idx="1">
                    <c:v>회의 정리</c:v>
                  </c:pt>
                  <c:pt idx="2">
                    <c:v>보고서 초안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시범 예시</c:v>
                </c:pt>
              </c:strCache>
            </c:strRef>
          </c:tx>
          <c:spPr>
            <a:solidFill>
              <a:srgbClr val="95571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C4D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자료 조사</c:v>
                  </c:pt>
                  <c:pt idx="1">
                    <c:v>회의 정리</c:v>
                  </c:pt>
                  <c:pt idx="2">
                    <c:v>보고서 초안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300" u="none">
                  <a:solidFill>
                    <a:srgbClr val="3C4D5D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C4D5D"/>
              </a:solidFill>
              <a:latin typeface="Noto Sans KR"/>
              <a:ea typeface="Noto Sans KR"/>
              <a:cs typeface="Noto Sans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</c:v>
                </c:pt>
              </c:strCache>
            </c:strRef>
          </c:tx>
          <c:spPr>
            <a:solidFill>
              <a:srgbClr val="5A6672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C4D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자료 조사</c:v>
                  </c:pt>
                  <c:pt idx="1">
                    <c:v>회의 정리</c:v>
                  </c:pt>
                  <c:pt idx="2">
                    <c:v>보고서 초안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시범 예시</c:v>
                </c:pt>
              </c:strCache>
            </c:strRef>
          </c:tx>
          <c:spPr>
            <a:solidFill>
              <a:srgbClr val="95571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C4D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자료 조사</c:v>
                  </c:pt>
                  <c:pt idx="1">
                    <c:v>회의 정리</c:v>
                  </c:pt>
                  <c:pt idx="2">
                    <c:v>보고서 초안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300" u="none">
                  <a:solidFill>
                    <a:srgbClr val="3C4D5D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6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C4D5D"/>
              </a:solidFill>
              <a:latin typeface="Noto Sans KR"/>
              <a:ea typeface="Noto Sans KR"/>
              <a:cs typeface="Noto Sans K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>원고 source.md 시간 비교. 기존 8,6,6 / 시범 예시 3,3,2. 합계 20→8. 수치는 가상이며 실측이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>구성 A와 동일한 원고, 데이터, 단위. 비교 구조만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8C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예시에서는 주간 반복 업무가 12시간 줄어든다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100" b="1" dirty="0">
                <a:solidFill>
                  <a:srgbClr val="9557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A · 예시 시간 비교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0299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참여자 1인당 주간 시간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41448"/>
          <a:ext cx="7406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029968"/>
            <a:ext cx="3273552" cy="3611880"/>
          </a:xfrm>
          <a:prstGeom prst="rect">
            <a:avLst/>
          </a:prstGeom>
          <a:solidFill>
            <a:srgbClr val="E7EBEE"/>
          </a:solidFill>
          <a:ln w="12700">
            <a:solidFill>
              <a:srgbClr val="E7EB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22585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 시간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360" y="2752344"/>
            <a:ext cx="281635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→ 8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595360" y="369189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9557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12시간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595360" y="4487418"/>
            <a:ext cx="281635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4D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감소한 예시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95360" y="502234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효과는 시범 운영에서 측정한다.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작성·검수 시간 포함. 실제 성과가 아닌 설명용 예시다.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7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예시에서는 주간 반복 업무가 12시간 줄어든다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100" b="1" dirty="0">
                <a:solidFill>
                  <a:srgbClr val="9557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B · 예시 시간 비교</a:t>
            </a:r>
            <a:endParaRPr lang="en-US" sz="1100" dirty="0"/>
          </a:p>
        </p:txBody>
      </p:sp>
      <p:sp>
        <p:nvSpPr>
          <p:cNvPr id="4" name="mixdog-spec:stat:band"/>
          <p:cNvSpPr/>
          <p:nvPr/>
        </p:nvSpPr>
        <p:spPr>
          <a:xfrm>
            <a:off x="548640" y="2029968"/>
            <a:ext cx="3422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900" b="1" dirty="0">
                <a:solidFill>
                  <a:srgbClr val="955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342290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합계 · 시간</a:t>
            </a:r>
            <a:endParaRPr lang="en-US" sz="1300" dirty="0"/>
          </a:p>
        </p:txBody>
      </p:sp>
      <p:sp>
        <p:nvSpPr>
          <p:cNvPr id="6" name="mixdog-spec:stat:band"/>
          <p:cNvSpPr/>
          <p:nvPr/>
        </p:nvSpPr>
        <p:spPr>
          <a:xfrm>
            <a:off x="4383024" y="2029968"/>
            <a:ext cx="3422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900" b="1" dirty="0">
                <a:solidFill>
                  <a:srgbClr val="955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83024" y="3108960"/>
            <a:ext cx="342290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시범 예시 · 시간</a:t>
            </a:r>
            <a:endParaRPr lang="en-US" sz="1300" dirty="0"/>
          </a:p>
        </p:txBody>
      </p:sp>
      <p:sp>
        <p:nvSpPr>
          <p:cNvPr id="8" name="mixdog-spec:stat:band"/>
          <p:cNvSpPr/>
          <p:nvPr/>
        </p:nvSpPr>
        <p:spPr>
          <a:xfrm>
            <a:off x="8217408" y="2029968"/>
            <a:ext cx="3422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900" b="1" dirty="0">
                <a:solidFill>
                  <a:srgbClr val="955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8217408" y="3108960"/>
            <a:ext cx="3422904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감소한 예시 · 시간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3721608"/>
          <a:ext cx="110916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주간 시간. 작성·검수 포함. 실제 성과가 아닌 설명용 예시다.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2026-09-07T00:46:00Z</dcterms:created>
  <dcterms:modified xsi:type="dcterms:W3CDTF">2026-09-07T00:46:00Z</dcterms:modified>
</cp:coreProperties>
</file>