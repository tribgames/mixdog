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기존</c:v>
                </c:pt>
              </c:strCache>
            </c:strRef>
          </c:tx>
          <c:spPr>
            <a:solidFill>
              <a:srgbClr val="5A6672"/>
            </a:solidFill>
            <a:effectLst/>
          </c:spPr>
          <c:invertIfNegative val="0"/>
          <c:dLbls>
            <c:numFmt formatCode="#,##0;;" sourceLinked="0"/>
            <c:spPr>
              <a:noFill/>
              <a:ln>
                <a:noFill/>
              </a:ln>
              <a:effectLst/>
            </c:spPr>
            <c:txPr>
              <a:bodyPr/>
              <a:lstStyle/>
              <a:p>
                <a:pPr>
                  <a:defRPr sz="1300" b="0" i="0" u="none" strike="noStrike">
                    <a:solidFill>
                      <a:srgbClr val="3C4D5D"/>
                    </a:solidFill>
                    <a:latin typeface="Arial"/>
                    <a:ea typeface="Arial"/>
                    <a:cs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자료 조사</c:v>
                </c:pt>
                <c:pt idx="1">
                  <c:v>회의 정리</c:v>
                </c:pt>
                <c:pt idx="2">
                  <c:v>보고서 초안</c:v>
                </c:pt>
              </c:strCache>
            </c:strRef>
          </c:cat>
          <c:val>
            <c:numRef>
              <c:f>Sheet1!$B$2:$B$4</c:f>
              <c:numCache>
                <c:formatCode>General</c:formatCode>
                <c:ptCount val="3"/>
                <c:pt idx="0">
                  <c:v>8</c:v>
                </c:pt>
                <c:pt idx="1">
                  <c:v>6</c:v>
                </c:pt>
                <c:pt idx="2">
                  <c:v>6</c:v>
                </c:pt>
              </c:numCache>
            </c:numRef>
          </c:val>
          <c:extLst>
            <c:ext xmlns:c16="http://schemas.microsoft.com/office/drawing/2014/chart" uri="{C3380CC4-5D6E-409C-BE32-E72D297353CC}">
              <c16:uniqueId val="{00000000-BB18-4E6F-83D5-1DAA8323CFE4}"/>
            </c:ext>
          </c:extLst>
        </c:ser>
        <c:ser>
          <c:idx val="1"/>
          <c:order val="1"/>
          <c:tx>
            <c:strRef>
              <c:f>Sheet1!$C$1</c:f>
              <c:strCache>
                <c:ptCount val="1"/>
                <c:pt idx="0">
                  <c:v>시범 예시</c:v>
                </c:pt>
              </c:strCache>
            </c:strRef>
          </c:tx>
          <c:spPr>
            <a:solidFill>
              <a:srgbClr val="955718"/>
            </a:solidFill>
            <a:effectLst/>
          </c:spPr>
          <c:invertIfNegative val="0"/>
          <c:dLbls>
            <c:numFmt formatCode="#,##0;;" sourceLinked="0"/>
            <c:spPr>
              <a:noFill/>
              <a:ln>
                <a:noFill/>
              </a:ln>
              <a:effectLst/>
            </c:spPr>
            <c:txPr>
              <a:bodyPr/>
              <a:lstStyle/>
              <a:p>
                <a:pPr>
                  <a:defRPr sz="1300" b="0" i="0" u="none" strike="noStrike">
                    <a:solidFill>
                      <a:srgbClr val="3C4D5D"/>
                    </a:solidFill>
                    <a:latin typeface="Arial"/>
                    <a:ea typeface="Arial"/>
                    <a:cs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자료 조사</c:v>
                </c:pt>
                <c:pt idx="1">
                  <c:v>회의 정리</c:v>
                </c:pt>
                <c:pt idx="2">
                  <c:v>보고서 초안</c:v>
                </c:pt>
              </c:strCache>
            </c:strRef>
          </c:cat>
          <c:val>
            <c:numRef>
              <c:f>Sheet1!$C$2:$C$4</c:f>
              <c:numCache>
                <c:formatCode>General</c:formatCode>
                <c:ptCount val="3"/>
                <c:pt idx="0">
                  <c:v>3</c:v>
                </c:pt>
                <c:pt idx="1">
                  <c:v>3</c:v>
                </c:pt>
                <c:pt idx="2">
                  <c:v>2</c:v>
                </c:pt>
              </c:numCache>
            </c:numRef>
          </c:val>
          <c:extLst>
            <c:ext xmlns:c16="http://schemas.microsoft.com/office/drawing/2014/chart" uri="{C3380CC4-5D6E-409C-BE32-E72D297353CC}">
              <c16:uniqueId val="{00000001-BB18-4E6F-83D5-1DAA8323CFE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A6672"/>
                </a:solidFill>
                <a:latin typeface="Noto Sans KR"/>
                <a:ea typeface="Noto Sans KR"/>
                <a:cs typeface="Noto Sans KR"/>
              </a:defRPr>
            </a:pPr>
            <a:endParaRPr lang="en-US"/>
          </a:p>
        </c:txPr>
        <c:crossAx val="2094734552"/>
        <c:crosses val="autoZero"/>
        <c:auto val="1"/>
        <c:lblAlgn val="ctr"/>
        <c:lblOffset val="100"/>
        <c:noMultiLvlLbl val="1"/>
      </c:catAx>
      <c:valAx>
        <c:axId val="2094734552"/>
        <c:scaling>
          <c:orientation val="minMax"/>
          <c:max val="1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300">
              <a:solidFill>
                <a:srgbClr val="3C4D5D"/>
              </a:solidFill>
              <a:latin typeface="Noto Sans KR"/>
              <a:ea typeface="Noto Sans KR"/>
              <a:cs typeface="Noto Sans KR"/>
            </a:defRPr>
          </a:pPr>
          <a:endParaRPr lang="en-US"/>
        </a:p>
      </c:txPr>
    </c:legend>
    <c:plotVisOnly val="1"/>
    <c:dispBlanksAs val="span"/>
    <c:showDLblsOverMax val="1"/>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69484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§제안. 실제 기업의 성과가 아닌 가상 제안서다. 표지 사진은 생성 이미지이며 실제 장소를 촬영한 사진이 아니다.
이미지 경로: cover-generated.png
Lane: gemini
Model: gemini-3.1-flash-image
Options: aspectRatio 3:4
Prompt:
Use: photorealistic
Asset: portrait side panel for a business proposal deck cover
Scene: a quiet modern desk seen from directly above, with a cool slate-grey matte surface.
Subject: one closed unbranded silver laptop in the lower right, a neatly aligned stack of blank white paper immediately above it, and one dark graphite pen beside the stack. The objects suggest drafting and reviewing office documents.
Style: restrained editorial still-life photograph, soft daylight from the upper left, clean material detail, gentle realistic contact shadows, no glow.
Composition: top-down portrait framing; the objects occupy the lower right two thirds, with the upper left area empty slate-grey desk. All objects remain recognisable within the frame.
Mood: cool blue-grey neutrals with natural paper whites; calm and precise.
Avoid: no text of any kind, no letters, no numbers, no labels, no signage, no logos, no watermarks, no faces, no people, no QR codes, no page numbers, no chart labels, no fake UI chrome.
검수 질문
- 제목이 제한된 도입과 효과 검증을 함께 말하는가?
- 사진이 제목을 가리지 않고 문서 작업이라는 배경을 보여주는가?
- 모든 수치가 예시임을 표지에서 밝히는가?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§제안. 4주·10명·3개 업무는 설명용 운영안이다. 광범위한 조직 도입이나 검증된 효과를 의미하지 않는다.
검수 질문
- 4주·10명·3개가 각각 기간·참여자·업무를 가리키는가?
- 전사 도입이 아닌 시범 운영이라는 제한이 읽히는가?
- 실제 범위는 운영 책임자가 확정한다고 명시하는가?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§업무 흐름. 두 줄의 마지막 단계는 같은 사람의 검수·승인이다. AI는 중간 단계인 정리·초안만 보조한다.
검수 질문
- 두 흐름이 모두 사람의 검수·승인으로 끝나는가?
- AI가 맡는 정리·초안 단계만 시범 방식에서 강조되는가?
- 자료 반입은 허용 범위·권한 확인을 전제로 하는가?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§시간 비교. 단위는 참여자 1인당 주간 시간이다. 자료 조사 8→3, 회의 정리 6→3, 보고서 초안 6→2. 합계 20→8이며 차이는 12시간이다. 모든 값은 가상 예시이며 작성과 검수 시간이 모두 포함된다. PowerPoint의 데이터 편집으로 변경 가능한 기본 차트다.
검수 질문
- 업무별 값이 8→3, 6→3, 6→2와 일치하는가?
- 합계 20→8과 감소 12시간이 같이 보이는가?
- 단위와 작성·검수 포함, 실제 성과·예측이 아니라는 한계가 보이는가?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§우선 적용 업무. 우선 2개, 조건부 1개, 제외 1개는 점수나 순위가 아니라 운영 범위를 구분하는 상태다. 표는 native PowerPoint table이며 각 셀을 편집할 수 있다.
검수 질문
- 회의록 정리와 공개 자료 조사가 우선으로 표시되는가?
- 보고서 초안에는 내부 자료 승인이라는 조건이 남는가?
- 외부 자동 발송이 제외되며 상태 의미가 색상 없이도 글로 읽히는가?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§승인 경계. 도식은 제안 운영 규칙이다. AI 도구에 이러한 기능이 구현되어 있다고 주장하지 않는다. 민감정보 반입을 금지하고 외부 공유는 사람의 승인을 거친다.
검수 질문
- 순서가 허용 자료→AI 처리→사람 확인→승인 후 공유인가?
- 자료 반입 전과 공유 전의 서로 다른 승인 조건이 구분되는가?
- 민감정보 금지와 외부 자동 발송 제외가 글로 명시되는가?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§시범 일정. 순서대로 기준선 기록, 교육·적용, 절차 개선, 결과 비교를 수행한다. 작성과 검수 시간을 함께 재고 정확도와 사용자 의견도 판단 근거에 포함한다.
검수 질문
- 1주차 기준선부터 4주차 결정까지 순서가 유지되는가?
- 시간뿐 아니라 오류·정확도·사용자 의견을 평가하는가?
- 정확도가 악화되면 확대하지 않는 조건과 총시간 정의가 보이는가?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§승인 요청. 요청은 제한된 시범 운영의 승인과 운영 책임자 지정, 참여 팀 선정이다. 전사 확대를 동시에 승인하는 문서가 아니다.
검수 질문
- 지금 요청하는 승인이 시범 운영에 한정되는가?
- 운영 책임자 지정과 참여 팀 선정이 요청되는가?
- 확대는 종료 후 실제 측정 결과에 달렸다고 명시하는가?</a:t>
            </a:r>
          </a:p>
        </p:txBody>
      </p:sp>
      <p:sp>
        <p:nvSpPr>
          <p:cNvPr id="4" name="Slide Number Placeholder 3"/>
          <p:cNvSpPr>
            <a:spLocks noGrp="1"/>
          </p:cNvSpPr>
          <p:nvPr>
            <p:ph type="sldNum" sz="quarter" idx="10"/>
          </p:nvPr>
        </p:nvSpPr>
        <p:spPr/>
        <p:txBody>
          <a:bodyPr/>
          <a:lstStyle/>
          <a:p>
            <a:pPr hangingPunct="0"/>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A24"/>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EB8C2"/>
                </a:solidFill>
                <a:latin typeface="Arial"/>
                <a:ea typeface="Arial"/>
                <a:cs typeface="Arial"/>
              </a:defRPr>
            </a:lvl1pPr>
          </a:lstStyle>
          <a:p>
            <a:pPr algn="r" hangingPunct="0"/>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A24"/>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32320" y="0"/>
            <a:ext cx="5056632" cy="6858000"/>
          </a:xfrm>
          <a:prstGeom prst="rect">
            <a:avLst/>
          </a:prstGeom>
        </p:spPr>
      </p:pic>
      <p:sp>
        <p:nvSpPr>
          <p:cNvPr id="3" name="Text 0"/>
          <p:cNvSpPr/>
          <p:nvPr/>
        </p:nvSpPr>
        <p:spPr>
          <a:xfrm>
            <a:off x="548640" y="548640"/>
            <a:ext cx="6035040" cy="274320"/>
          </a:xfrm>
          <a:prstGeom prst="rect">
            <a:avLst/>
          </a:prstGeom>
          <a:noFill/>
          <a:ln/>
        </p:spPr>
        <p:txBody>
          <a:bodyPr wrap="square" lIns="0" tIns="0" rIns="0" bIns="0" rtlCol="0" anchor="ctr"/>
          <a:lstStyle/>
          <a:p>
            <a:pPr marL="0" indent="0" hangingPunct="0">
              <a:buNone/>
            </a:pPr>
            <a:r>
              <a:rPr lang="en-US" sz="1100" b="1" dirty="0">
                <a:solidFill>
                  <a:srgbClr val="E6BD94"/>
                </a:solidFill>
                <a:latin typeface="Noto Sans KR" pitchFamily="34" charset="0"/>
                <a:ea typeface="Noto Sans KR" pitchFamily="34" charset="-122"/>
                <a:cs typeface="Noto Sans KR" pitchFamily="34" charset="-120"/>
              </a:rPr>
              <a:t>AI 업무 도구 도입 제안서</a:t>
            </a:r>
            <a:endParaRPr lang="en-US" sz="1100" dirty="0"/>
          </a:p>
        </p:txBody>
      </p:sp>
      <p:sp>
        <p:nvSpPr>
          <p:cNvPr id="4" name="Text 1"/>
          <p:cNvSpPr/>
          <p:nvPr/>
        </p:nvSpPr>
        <p:spPr>
          <a:xfrm>
            <a:off x="548640" y="1691640"/>
            <a:ext cx="6035040" cy="2418588"/>
          </a:xfrm>
          <a:prstGeom prst="rect">
            <a:avLst/>
          </a:prstGeom>
          <a:noFill/>
          <a:ln/>
        </p:spPr>
        <p:txBody>
          <a:bodyPr wrap="square" lIns="0" tIns="0" rIns="0" bIns="0" rtlCol="0" anchor="t"/>
          <a:lstStyle/>
          <a:p>
            <a:pPr marL="0" indent="0" algn="l" hangingPunct="0">
              <a:lnSpc>
                <a:spcPct val="110000"/>
              </a:lnSpc>
              <a:buNone/>
            </a:pPr>
            <a:r>
              <a:rPr lang="en-US" sz="4700" b="1" dirty="0">
                <a:solidFill>
                  <a:srgbClr val="EDF0F3"/>
                </a:solidFill>
                <a:latin typeface="Noto Sans KR" pitchFamily="34" charset="0"/>
                <a:ea typeface="Noto Sans KR" pitchFamily="34" charset="-122"/>
                <a:cs typeface="Noto Sans KR" pitchFamily="34" charset="-120"/>
              </a:rPr>
              <a:t>AI 업무 도구,</a:t>
            </a:r>
            <a:br/>
            <a:r>
              <a:rPr lang="en-US" sz="4700" b="1" dirty="0">
                <a:solidFill>
                  <a:srgbClr val="EDF0F3"/>
                </a:solidFill>
                <a:latin typeface="Noto Sans KR" pitchFamily="34" charset="0"/>
                <a:ea typeface="Noto Sans KR" pitchFamily="34" charset="-122"/>
                <a:cs typeface="Noto Sans KR" pitchFamily="34" charset="-120"/>
              </a:rPr>
              <a:t>작게 도입하고</a:t>
            </a:r>
            <a:br/>
            <a:r>
              <a:rPr lang="en-US" sz="4700" b="1" dirty="0">
                <a:solidFill>
                  <a:srgbClr val="EDF0F3"/>
                </a:solidFill>
                <a:latin typeface="Noto Sans KR" pitchFamily="34" charset="0"/>
                <a:ea typeface="Noto Sans KR" pitchFamily="34" charset="-122"/>
                <a:cs typeface="Noto Sans KR" pitchFamily="34" charset="-120"/>
              </a:rPr>
              <a:t>효과로 확장한다</a:t>
            </a:r>
            <a:endParaRPr lang="en-US" sz="4700" dirty="0"/>
          </a:p>
        </p:txBody>
      </p:sp>
      <p:sp>
        <p:nvSpPr>
          <p:cNvPr id="5" name="Text 2"/>
          <p:cNvSpPr/>
          <p:nvPr/>
        </p:nvSpPr>
        <p:spPr>
          <a:xfrm>
            <a:off x="548640" y="4521708"/>
            <a:ext cx="6035040" cy="960120"/>
          </a:xfrm>
          <a:prstGeom prst="rect">
            <a:avLst/>
          </a:prstGeom>
          <a:noFill/>
          <a:ln/>
        </p:spPr>
        <p:txBody>
          <a:bodyPr wrap="square" lIns="0" tIns="0" rIns="0" bIns="0" rtlCol="0" anchor="t"/>
          <a:lstStyle/>
          <a:p>
            <a:pPr marL="0" indent="0" algn="l" hangingPunct="0">
              <a:lnSpc>
                <a:spcPct val="135000"/>
              </a:lnSpc>
              <a:buNone/>
            </a:pPr>
            <a:r>
              <a:rPr lang="en-US" sz="2200" dirty="0">
                <a:solidFill>
                  <a:srgbClr val="AEB8C2"/>
                </a:solidFill>
                <a:latin typeface="Noto Sans KR" pitchFamily="34" charset="0"/>
                <a:ea typeface="Noto Sans KR" pitchFamily="34" charset="-122"/>
                <a:cs typeface="Noto Sans KR" pitchFamily="34" charset="-120"/>
              </a:rPr>
              <a:t>전사 도입에 앞서</a:t>
            </a:r>
            <a:br/>
            <a:r>
              <a:rPr lang="en-US" sz="2200" dirty="0">
                <a:solidFill>
                  <a:srgbClr val="AEB8C2"/>
                </a:solidFill>
                <a:latin typeface="Noto Sans KR" pitchFamily="34" charset="0"/>
                <a:ea typeface="Noto Sans KR" pitchFamily="34" charset="-122"/>
                <a:cs typeface="Noto Sans KR" pitchFamily="34" charset="-120"/>
              </a:rPr>
              <a:t>작은 시범 운영으로 검증한다</a:t>
            </a:r>
            <a:endParaRPr lang="en-US" sz="2200" dirty="0"/>
          </a:p>
        </p:txBody>
      </p:sp>
      <p:sp>
        <p:nvSpPr>
          <p:cNvPr id="6" name="Text 3"/>
          <p:cNvSpPr/>
          <p:nvPr/>
        </p:nvSpPr>
        <p:spPr>
          <a:xfrm>
            <a:off x="548640" y="6080760"/>
            <a:ext cx="6035040"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AEB8C2"/>
                </a:solidFill>
                <a:latin typeface="Noto Sans KR" pitchFamily="34" charset="0"/>
                <a:ea typeface="Noto Sans KR" pitchFamily="34" charset="-122"/>
                <a:cs typeface="Noto Sans KR" pitchFamily="34" charset="-120"/>
              </a:rPr>
              <a:t>디자인 샘플 · 모든 수치는 예시</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marL="0" indent="0" hangingPunct="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전사 도입보다 제한된 시범 운영이 먼저다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955718"/>
                </a:solidFill>
                <a:latin typeface="Noto Sans KR" pitchFamily="34" charset="0"/>
                <a:ea typeface="Noto Sans KR" pitchFamily="34" charset="-122"/>
                <a:cs typeface="Noto Sans KR" pitchFamily="34" charset="-120"/>
              </a:rPr>
              <a:t>도입 제안</a:t>
            </a:r>
            <a:endParaRPr lang="en-US" sz="1100" dirty="0"/>
          </a:p>
        </p:txBody>
      </p:sp>
      <p:sp>
        <p:nvSpPr>
          <p:cNvPr id="4" name="mixdog-spec:stat:hero"/>
          <p:cNvSpPr/>
          <p:nvPr/>
        </p:nvSpPr>
        <p:spPr>
          <a:xfrm>
            <a:off x="548640" y="2258568"/>
            <a:ext cx="3422904" cy="1027176"/>
          </a:xfrm>
          <a:prstGeom prst="rect">
            <a:avLst/>
          </a:prstGeom>
          <a:noFill/>
          <a:ln/>
        </p:spPr>
        <p:txBody>
          <a:bodyPr wrap="square" lIns="0" tIns="0" rIns="0" bIns="0" rtlCol="0" anchor="b"/>
          <a:lstStyle/>
          <a:p>
            <a:pPr marL="0" indent="0" hangingPunct="0">
              <a:buNone/>
            </a:pPr>
            <a:r>
              <a:rPr lang="en-US" sz="6500" b="1" dirty="0">
                <a:solidFill>
                  <a:srgbClr val="955718"/>
                </a:solidFill>
                <a:latin typeface="Arial" pitchFamily="34" charset="0"/>
                <a:ea typeface="Arial" pitchFamily="34" charset="-122"/>
                <a:cs typeface="Arial" pitchFamily="34" charset="-120"/>
              </a:rPr>
              <a:t>4</a:t>
            </a:r>
            <a:endParaRPr lang="en-US" sz="6500" dirty="0"/>
          </a:p>
        </p:txBody>
      </p:sp>
      <p:sp>
        <p:nvSpPr>
          <p:cNvPr id="5" name="Text 3"/>
          <p:cNvSpPr/>
          <p:nvPr/>
        </p:nvSpPr>
        <p:spPr>
          <a:xfrm>
            <a:off x="548640" y="3340608"/>
            <a:ext cx="3422904" cy="252984"/>
          </a:xfrm>
          <a:prstGeom prst="rect">
            <a:avLst/>
          </a:prstGeom>
          <a:noFill/>
          <a:ln/>
        </p:spPr>
        <p:txBody>
          <a:bodyPr wrap="square" lIns="0" tIns="0" rIns="0" bIns="0" rtlCol="0" anchor="t"/>
          <a:lstStyle/>
          <a:p>
            <a:pPr marL="0" indent="0" hangingPunct="0">
              <a:buNone/>
            </a:pPr>
            <a:r>
              <a:rPr lang="en-US" sz="1300" dirty="0">
                <a:solidFill>
                  <a:srgbClr val="5A6672"/>
                </a:solidFill>
                <a:latin typeface="Noto Sans KR" pitchFamily="34" charset="0"/>
                <a:ea typeface="Noto Sans KR" pitchFamily="34" charset="-122"/>
                <a:cs typeface="Noto Sans KR" pitchFamily="34" charset="-120"/>
              </a:rPr>
              <a:t>주간 시범 운영</a:t>
            </a:r>
            <a:endParaRPr lang="en-US" sz="1300" dirty="0"/>
          </a:p>
        </p:txBody>
      </p:sp>
      <p:sp>
        <p:nvSpPr>
          <p:cNvPr id="6" name="Text 4"/>
          <p:cNvSpPr/>
          <p:nvPr/>
        </p:nvSpPr>
        <p:spPr>
          <a:xfrm>
            <a:off x="548640" y="3703320"/>
            <a:ext cx="3422904"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3C4D5D"/>
                </a:solidFill>
                <a:latin typeface="Noto Sans KR" pitchFamily="34" charset="0"/>
                <a:ea typeface="Noto Sans KR" pitchFamily="34" charset="-122"/>
                <a:cs typeface="Noto Sans KR" pitchFamily="34" charset="-120"/>
              </a:rPr>
              <a:t>짧은 주기로 검증</a:t>
            </a:r>
            <a:endParaRPr lang="en-US" sz="1300" dirty="0"/>
          </a:p>
        </p:txBody>
      </p:sp>
      <p:sp>
        <p:nvSpPr>
          <p:cNvPr id="7" name="mixdog-spec:stat:hero"/>
          <p:cNvSpPr/>
          <p:nvPr/>
        </p:nvSpPr>
        <p:spPr>
          <a:xfrm>
            <a:off x="4383024" y="2258568"/>
            <a:ext cx="3422904" cy="1027176"/>
          </a:xfrm>
          <a:prstGeom prst="rect">
            <a:avLst/>
          </a:prstGeom>
          <a:noFill/>
          <a:ln/>
        </p:spPr>
        <p:txBody>
          <a:bodyPr wrap="square" lIns="0" tIns="0" rIns="0" bIns="0" rtlCol="0" anchor="b"/>
          <a:lstStyle/>
          <a:p>
            <a:pPr marL="0" indent="0" hangingPunct="0">
              <a:buNone/>
            </a:pPr>
            <a:r>
              <a:rPr lang="en-US" sz="6500" b="1" dirty="0">
                <a:solidFill>
                  <a:srgbClr val="955718"/>
                </a:solidFill>
                <a:latin typeface="Arial" pitchFamily="34" charset="0"/>
                <a:ea typeface="Arial" pitchFamily="34" charset="-122"/>
                <a:cs typeface="Arial" pitchFamily="34" charset="-120"/>
              </a:rPr>
              <a:t>10</a:t>
            </a:r>
            <a:endParaRPr lang="en-US" sz="6500" dirty="0"/>
          </a:p>
        </p:txBody>
      </p:sp>
      <p:sp>
        <p:nvSpPr>
          <p:cNvPr id="8" name="Text 6"/>
          <p:cNvSpPr/>
          <p:nvPr/>
        </p:nvSpPr>
        <p:spPr>
          <a:xfrm>
            <a:off x="4383024" y="3340608"/>
            <a:ext cx="3422904" cy="252984"/>
          </a:xfrm>
          <a:prstGeom prst="rect">
            <a:avLst/>
          </a:prstGeom>
          <a:noFill/>
          <a:ln/>
        </p:spPr>
        <p:txBody>
          <a:bodyPr wrap="square" lIns="0" tIns="0" rIns="0" bIns="0" rtlCol="0" anchor="t"/>
          <a:lstStyle/>
          <a:p>
            <a:pPr marL="0" indent="0" hangingPunct="0">
              <a:buNone/>
            </a:pPr>
            <a:r>
              <a:rPr lang="en-US" sz="1300" dirty="0">
                <a:solidFill>
                  <a:srgbClr val="5A6672"/>
                </a:solidFill>
                <a:latin typeface="Noto Sans KR" pitchFamily="34" charset="0"/>
                <a:ea typeface="Noto Sans KR" pitchFamily="34" charset="-122"/>
                <a:cs typeface="Noto Sans KR" pitchFamily="34" charset="-120"/>
              </a:rPr>
              <a:t>명 참여</a:t>
            </a:r>
            <a:endParaRPr lang="en-US" sz="1300" dirty="0"/>
          </a:p>
        </p:txBody>
      </p:sp>
      <p:sp>
        <p:nvSpPr>
          <p:cNvPr id="9" name="Text 7"/>
          <p:cNvSpPr/>
          <p:nvPr/>
        </p:nvSpPr>
        <p:spPr>
          <a:xfrm>
            <a:off x="4383024" y="3703320"/>
            <a:ext cx="3422904"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3C4D5D"/>
                </a:solidFill>
                <a:latin typeface="Noto Sans KR" pitchFamily="34" charset="0"/>
                <a:ea typeface="Noto Sans KR" pitchFamily="34" charset="-122"/>
                <a:cs typeface="Noto Sans KR" pitchFamily="34" charset="-120"/>
              </a:rPr>
              <a:t>참여자 범위 제한</a:t>
            </a:r>
            <a:endParaRPr lang="en-US" sz="1300" dirty="0"/>
          </a:p>
        </p:txBody>
      </p:sp>
      <p:sp>
        <p:nvSpPr>
          <p:cNvPr id="10" name="mixdog-spec:stat:hero"/>
          <p:cNvSpPr/>
          <p:nvPr/>
        </p:nvSpPr>
        <p:spPr>
          <a:xfrm>
            <a:off x="8217408" y="2258568"/>
            <a:ext cx="3422904" cy="1027176"/>
          </a:xfrm>
          <a:prstGeom prst="rect">
            <a:avLst/>
          </a:prstGeom>
          <a:noFill/>
          <a:ln/>
        </p:spPr>
        <p:txBody>
          <a:bodyPr wrap="square" lIns="0" tIns="0" rIns="0" bIns="0" rtlCol="0" anchor="b"/>
          <a:lstStyle/>
          <a:p>
            <a:pPr marL="0" indent="0" hangingPunct="0">
              <a:buNone/>
            </a:pPr>
            <a:r>
              <a:rPr lang="en-US" sz="6500" b="1" dirty="0">
                <a:solidFill>
                  <a:srgbClr val="955718"/>
                </a:solidFill>
                <a:latin typeface="Arial" pitchFamily="34" charset="0"/>
                <a:ea typeface="Arial" pitchFamily="34" charset="-122"/>
                <a:cs typeface="Arial" pitchFamily="34" charset="-120"/>
              </a:rPr>
              <a:t>3</a:t>
            </a:r>
            <a:endParaRPr lang="en-US" sz="6500" dirty="0"/>
          </a:p>
        </p:txBody>
      </p:sp>
      <p:sp>
        <p:nvSpPr>
          <p:cNvPr id="11" name="Text 9"/>
          <p:cNvSpPr/>
          <p:nvPr/>
        </p:nvSpPr>
        <p:spPr>
          <a:xfrm>
            <a:off x="8217408" y="3340608"/>
            <a:ext cx="3422904" cy="252984"/>
          </a:xfrm>
          <a:prstGeom prst="rect">
            <a:avLst/>
          </a:prstGeom>
          <a:noFill/>
          <a:ln/>
        </p:spPr>
        <p:txBody>
          <a:bodyPr wrap="square" lIns="0" tIns="0" rIns="0" bIns="0" rtlCol="0" anchor="t"/>
          <a:lstStyle/>
          <a:p>
            <a:pPr marL="0" indent="0" hangingPunct="0">
              <a:buNone/>
            </a:pPr>
            <a:r>
              <a:rPr lang="en-US" sz="1300" dirty="0">
                <a:solidFill>
                  <a:srgbClr val="5A6672"/>
                </a:solidFill>
                <a:latin typeface="Noto Sans KR" pitchFamily="34" charset="0"/>
                <a:ea typeface="Noto Sans KR" pitchFamily="34" charset="-122"/>
                <a:cs typeface="Noto Sans KR" pitchFamily="34" charset="-120"/>
              </a:rPr>
              <a:t>개 반복 업무</a:t>
            </a:r>
            <a:endParaRPr lang="en-US" sz="1300" dirty="0"/>
          </a:p>
        </p:txBody>
      </p:sp>
      <p:sp>
        <p:nvSpPr>
          <p:cNvPr id="12" name="Text 10"/>
          <p:cNvSpPr/>
          <p:nvPr/>
        </p:nvSpPr>
        <p:spPr>
          <a:xfrm>
            <a:off x="8217408" y="3703320"/>
            <a:ext cx="3422904"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3C4D5D"/>
                </a:solidFill>
                <a:latin typeface="Noto Sans KR" pitchFamily="34" charset="0"/>
                <a:ea typeface="Noto Sans KR" pitchFamily="34" charset="-122"/>
                <a:cs typeface="Noto Sans KR" pitchFamily="34" charset="-120"/>
              </a:rPr>
              <a:t>조사 · 정리 · 초안</a:t>
            </a:r>
            <a:endParaRPr lang="en-US" sz="1300" dirty="0"/>
          </a:p>
        </p:txBody>
      </p:sp>
      <p:sp>
        <p:nvSpPr>
          <p:cNvPr id="13" name="Shape 11"/>
          <p:cNvSpPr/>
          <p:nvPr/>
        </p:nvSpPr>
        <p:spPr>
          <a:xfrm>
            <a:off x="548640" y="4645152"/>
            <a:ext cx="11091672" cy="941832"/>
          </a:xfrm>
          <a:prstGeom prst="rect">
            <a:avLst/>
          </a:prstGeom>
          <a:solidFill>
            <a:srgbClr val="E7EBEE"/>
          </a:solidFill>
          <a:ln w="12700">
            <a:solidFill>
              <a:srgbClr val="E7EBEE"/>
            </a:solidFill>
            <a:prstDash val="solid"/>
          </a:ln>
        </p:spPr>
        <p:txBody>
          <a:bodyPr/>
          <a:lstStyle/>
          <a:p>
            <a:endParaRPr lang="ko-KR" altLang="en-US"/>
          </a:p>
        </p:txBody>
      </p:sp>
      <p:sp>
        <p:nvSpPr>
          <p:cNvPr id="14" name="Text 12"/>
          <p:cNvSpPr/>
          <p:nvPr/>
        </p:nvSpPr>
        <p:spPr>
          <a:xfrm>
            <a:off x="777240" y="4873752"/>
            <a:ext cx="10634472" cy="507492"/>
          </a:xfrm>
          <a:prstGeom prst="rect">
            <a:avLst/>
          </a:prstGeom>
          <a:noFill/>
          <a:ln/>
        </p:spPr>
        <p:txBody>
          <a:bodyPr wrap="square" lIns="0" tIns="0" rIns="0" bIns="0" rtlCol="0" anchor="t"/>
          <a:lstStyle/>
          <a:p>
            <a:pPr marL="0" indent="0" algn="l" hangingPunct="0">
              <a:lnSpc>
                <a:spcPct val="135000"/>
              </a:lnSpc>
              <a:buNone/>
            </a:pPr>
            <a:r>
              <a:rPr lang="en-US" sz="2200" dirty="0">
                <a:solidFill>
                  <a:srgbClr val="3C4D5D"/>
                </a:solidFill>
                <a:latin typeface="Noto Sans KR" pitchFamily="34" charset="0"/>
                <a:ea typeface="Noto Sans KR" pitchFamily="34" charset="-122"/>
                <a:cs typeface="Noto Sans KR" pitchFamily="34" charset="-120"/>
              </a:rPr>
              <a:t>범위는 작게, 판단 기준은 분명하게</a:t>
            </a:r>
            <a:endParaRPr lang="en-US" sz="2200" dirty="0"/>
          </a:p>
        </p:txBody>
      </p:sp>
      <p:sp>
        <p:nvSpPr>
          <p:cNvPr id="15" name="Text 13"/>
          <p:cNvSpPr/>
          <p:nvPr/>
        </p:nvSpPr>
        <p:spPr>
          <a:xfrm>
            <a:off x="548640" y="6144768"/>
            <a:ext cx="1054303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운영안이다. 실제 기간·인원·대상 업무는 운영 책임자가 확정한다.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marL="0" indent="0" hangingPunct="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AI는 초안을 맡고, 사람은 판단을 맡는다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955718"/>
                </a:solidFill>
                <a:latin typeface="Noto Sans KR" pitchFamily="34" charset="0"/>
                <a:ea typeface="Noto Sans KR" pitchFamily="34" charset="-122"/>
                <a:cs typeface="Noto Sans KR" pitchFamily="34" charset="-120"/>
              </a:rPr>
              <a:t>역할의 변화</a:t>
            </a:r>
            <a:endParaRPr lang="en-US" sz="1100" dirty="0"/>
          </a:p>
        </p:txBody>
      </p:sp>
      <p:sp>
        <p:nvSpPr>
          <p:cNvPr id="4" name="Shape 2"/>
          <p:cNvSpPr/>
          <p:nvPr/>
        </p:nvSpPr>
        <p:spPr>
          <a:xfrm>
            <a:off x="548640" y="2029968"/>
            <a:ext cx="11091672" cy="1417320"/>
          </a:xfrm>
          <a:prstGeom prst="rect">
            <a:avLst/>
          </a:prstGeom>
          <a:solidFill>
            <a:srgbClr val="E7EBEE"/>
          </a:solidFill>
          <a:ln w="12700">
            <a:solidFill>
              <a:srgbClr val="E7EBEE"/>
            </a:solidFill>
            <a:prstDash val="solid"/>
          </a:ln>
        </p:spPr>
        <p:txBody>
          <a:bodyPr/>
          <a:lstStyle/>
          <a:p>
            <a:endParaRPr lang="ko-KR" altLang="en-US"/>
          </a:p>
        </p:txBody>
      </p:sp>
      <p:sp>
        <p:nvSpPr>
          <p:cNvPr id="5" name="Text 3"/>
          <p:cNvSpPr/>
          <p:nvPr/>
        </p:nvSpPr>
        <p:spPr>
          <a:xfrm>
            <a:off x="777240" y="2258568"/>
            <a:ext cx="1005840" cy="310896"/>
          </a:xfrm>
          <a:prstGeom prst="rect">
            <a:avLst/>
          </a:prstGeom>
          <a:noFill/>
          <a:ln/>
        </p:spPr>
        <p:txBody>
          <a:bodyPr wrap="square" lIns="0" tIns="0" rIns="0" bIns="0" rtlCol="0" anchor="t"/>
          <a:lstStyle/>
          <a:p>
            <a:pPr marL="0" indent="0" algn="l" hangingPunct="0">
              <a:lnSpc>
                <a:spcPct val="120000"/>
              </a:lnSpc>
              <a:buNone/>
            </a:pPr>
            <a:r>
              <a:rPr lang="en-US" sz="1400" b="1" dirty="0">
                <a:solidFill>
                  <a:srgbClr val="17212B"/>
                </a:solidFill>
                <a:latin typeface="Noto Sans KR" pitchFamily="34" charset="0"/>
                <a:ea typeface="Noto Sans KR" pitchFamily="34" charset="-122"/>
                <a:cs typeface="Noto Sans KR" pitchFamily="34" charset="-120"/>
              </a:rPr>
              <a:t>기존 방식</a:t>
            </a:r>
            <a:endParaRPr lang="en-US" sz="1400" dirty="0"/>
          </a:p>
        </p:txBody>
      </p:sp>
      <p:sp>
        <p:nvSpPr>
          <p:cNvPr id="6" name="Shape 4"/>
          <p:cNvSpPr/>
          <p:nvPr/>
        </p:nvSpPr>
        <p:spPr>
          <a:xfrm>
            <a:off x="8551551" y="2139696"/>
            <a:ext cx="3088761" cy="1197864"/>
          </a:xfrm>
          <a:prstGeom prst="rect">
            <a:avLst/>
          </a:prstGeom>
          <a:solidFill>
            <a:srgbClr val="F7F9FA">
              <a:alpha val="0"/>
            </a:srgbClr>
          </a:solidFill>
          <a:ln w="12700">
            <a:solidFill>
              <a:srgbClr val="ABB8C4"/>
            </a:solidFill>
            <a:prstDash val="solid"/>
          </a:ln>
        </p:spPr>
        <p:txBody>
          <a:bodyPr/>
          <a:lstStyle/>
          <a:p>
            <a:endParaRPr lang="ko-KR" altLang="en-US"/>
          </a:p>
        </p:txBody>
      </p:sp>
      <p:sp>
        <p:nvSpPr>
          <p:cNvPr id="7" name="Shape 5"/>
          <p:cNvSpPr/>
          <p:nvPr/>
        </p:nvSpPr>
        <p:spPr>
          <a:xfrm>
            <a:off x="4768528" y="2738628"/>
            <a:ext cx="411480" cy="0"/>
          </a:xfrm>
          <a:prstGeom prst="line">
            <a:avLst/>
          </a:prstGeom>
          <a:noFill/>
          <a:ln w="19050">
            <a:solidFill>
              <a:srgbClr val="5A6672"/>
            </a:solidFill>
            <a:prstDash val="solid"/>
            <a:tailEnd type="triangle"/>
          </a:ln>
        </p:spPr>
        <p:txBody>
          <a:bodyPr/>
          <a:lstStyle/>
          <a:p>
            <a:endParaRPr lang="ko-KR" altLang="en-US"/>
          </a:p>
        </p:txBody>
      </p:sp>
      <p:sp>
        <p:nvSpPr>
          <p:cNvPr id="8" name="Shape 6"/>
          <p:cNvSpPr/>
          <p:nvPr/>
        </p:nvSpPr>
        <p:spPr>
          <a:xfrm>
            <a:off x="8140071" y="2738628"/>
            <a:ext cx="411480" cy="0"/>
          </a:xfrm>
          <a:prstGeom prst="line">
            <a:avLst/>
          </a:prstGeom>
          <a:noFill/>
          <a:ln w="19050">
            <a:solidFill>
              <a:srgbClr val="5A6672"/>
            </a:solidFill>
            <a:prstDash val="solid"/>
            <a:tailEnd type="triangle"/>
          </a:ln>
        </p:spPr>
        <p:txBody>
          <a:bodyPr/>
          <a:lstStyle/>
          <a:p>
            <a:endParaRPr lang="ko-KR" altLang="en-US"/>
          </a:p>
        </p:txBody>
      </p:sp>
      <p:sp>
        <p:nvSpPr>
          <p:cNvPr id="9" name="Text 7"/>
          <p:cNvSpPr/>
          <p:nvPr/>
        </p:nvSpPr>
        <p:spPr>
          <a:xfrm>
            <a:off x="2423160" y="2258568"/>
            <a:ext cx="2116768"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자료 수집</a:t>
            </a:r>
            <a:endParaRPr lang="en-US" sz="1800" dirty="0"/>
          </a:p>
        </p:txBody>
      </p:sp>
      <p:sp>
        <p:nvSpPr>
          <p:cNvPr id="10" name="Text 8"/>
          <p:cNvSpPr/>
          <p:nvPr/>
        </p:nvSpPr>
        <p:spPr>
          <a:xfrm>
            <a:off x="2423160" y="2752344"/>
            <a:ext cx="211676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준비</a:t>
            </a:r>
            <a:endParaRPr lang="en-US" sz="1300" dirty="0"/>
          </a:p>
        </p:txBody>
      </p:sp>
      <p:sp>
        <p:nvSpPr>
          <p:cNvPr id="11" name="Text 9"/>
          <p:cNvSpPr/>
          <p:nvPr/>
        </p:nvSpPr>
        <p:spPr>
          <a:xfrm>
            <a:off x="5408608" y="2258568"/>
            <a:ext cx="2502863"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정리·작성</a:t>
            </a:r>
            <a:endParaRPr lang="en-US" sz="1800" dirty="0"/>
          </a:p>
        </p:txBody>
      </p:sp>
      <p:sp>
        <p:nvSpPr>
          <p:cNvPr id="12" name="Text 10"/>
          <p:cNvSpPr/>
          <p:nvPr/>
        </p:nvSpPr>
        <p:spPr>
          <a:xfrm>
            <a:off x="5408608" y="2752344"/>
            <a:ext cx="2502863"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초안 작성</a:t>
            </a:r>
            <a:endParaRPr lang="en-US" sz="1300" dirty="0"/>
          </a:p>
        </p:txBody>
      </p:sp>
      <p:sp>
        <p:nvSpPr>
          <p:cNvPr id="13" name="Text 11"/>
          <p:cNvSpPr/>
          <p:nvPr/>
        </p:nvSpPr>
        <p:spPr>
          <a:xfrm>
            <a:off x="8780151" y="2258568"/>
            <a:ext cx="2631561"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검수·승인</a:t>
            </a:r>
            <a:endParaRPr lang="en-US" sz="1800" dirty="0"/>
          </a:p>
        </p:txBody>
      </p:sp>
      <p:sp>
        <p:nvSpPr>
          <p:cNvPr id="14" name="Text 12"/>
          <p:cNvSpPr/>
          <p:nvPr/>
        </p:nvSpPr>
        <p:spPr>
          <a:xfrm>
            <a:off x="8780151" y="2752344"/>
            <a:ext cx="2631561"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최종 결정</a:t>
            </a:r>
            <a:endParaRPr lang="en-US" sz="1300" dirty="0"/>
          </a:p>
        </p:txBody>
      </p:sp>
      <p:sp>
        <p:nvSpPr>
          <p:cNvPr id="15" name="Shape 13"/>
          <p:cNvSpPr/>
          <p:nvPr/>
        </p:nvSpPr>
        <p:spPr>
          <a:xfrm>
            <a:off x="548640" y="3858768"/>
            <a:ext cx="11091672" cy="1417320"/>
          </a:xfrm>
          <a:prstGeom prst="rect">
            <a:avLst/>
          </a:prstGeom>
          <a:solidFill>
            <a:srgbClr val="E7EBEE"/>
          </a:solidFill>
          <a:ln w="12700">
            <a:solidFill>
              <a:srgbClr val="E7EBEE"/>
            </a:solidFill>
            <a:prstDash val="solid"/>
          </a:ln>
        </p:spPr>
        <p:txBody>
          <a:bodyPr/>
          <a:lstStyle/>
          <a:p>
            <a:endParaRPr lang="ko-KR" altLang="en-US"/>
          </a:p>
        </p:txBody>
      </p:sp>
      <p:sp>
        <p:nvSpPr>
          <p:cNvPr id="16" name="Text 14"/>
          <p:cNvSpPr/>
          <p:nvPr/>
        </p:nvSpPr>
        <p:spPr>
          <a:xfrm>
            <a:off x="777240" y="4087368"/>
            <a:ext cx="1005840" cy="310896"/>
          </a:xfrm>
          <a:prstGeom prst="rect">
            <a:avLst/>
          </a:prstGeom>
          <a:noFill/>
          <a:ln/>
        </p:spPr>
        <p:txBody>
          <a:bodyPr wrap="square" lIns="0" tIns="0" rIns="0" bIns="0" rtlCol="0" anchor="t"/>
          <a:lstStyle/>
          <a:p>
            <a:pPr marL="0" indent="0" algn="l" hangingPunct="0">
              <a:lnSpc>
                <a:spcPct val="120000"/>
              </a:lnSpc>
              <a:buNone/>
            </a:pPr>
            <a:r>
              <a:rPr lang="en-US" sz="1400" b="1" dirty="0">
                <a:solidFill>
                  <a:srgbClr val="17212B"/>
                </a:solidFill>
                <a:latin typeface="Noto Sans KR" pitchFamily="34" charset="0"/>
                <a:ea typeface="Noto Sans KR" pitchFamily="34" charset="-122"/>
                <a:cs typeface="Noto Sans KR" pitchFamily="34" charset="-120"/>
              </a:rPr>
              <a:t>시범 방식</a:t>
            </a:r>
            <a:endParaRPr lang="en-US" sz="1400" dirty="0"/>
          </a:p>
        </p:txBody>
      </p:sp>
      <p:sp>
        <p:nvSpPr>
          <p:cNvPr id="17" name="Shape 15"/>
          <p:cNvSpPr/>
          <p:nvPr/>
        </p:nvSpPr>
        <p:spPr>
          <a:xfrm>
            <a:off x="5180008" y="3968496"/>
            <a:ext cx="2960063" cy="1197864"/>
          </a:xfrm>
          <a:prstGeom prst="rect">
            <a:avLst/>
          </a:prstGeom>
          <a:solidFill>
            <a:srgbClr val="EDE3D9"/>
          </a:solidFill>
          <a:ln w="12700">
            <a:solidFill>
              <a:srgbClr val="EDE3D9"/>
            </a:solidFill>
            <a:prstDash val="solid"/>
          </a:ln>
        </p:spPr>
        <p:txBody>
          <a:bodyPr/>
          <a:lstStyle/>
          <a:p>
            <a:endParaRPr lang="ko-KR" altLang="en-US"/>
          </a:p>
        </p:txBody>
      </p:sp>
      <p:sp>
        <p:nvSpPr>
          <p:cNvPr id="18" name="Shape 16"/>
          <p:cNvSpPr/>
          <p:nvPr/>
        </p:nvSpPr>
        <p:spPr>
          <a:xfrm>
            <a:off x="8551551" y="3968496"/>
            <a:ext cx="3088761" cy="1197864"/>
          </a:xfrm>
          <a:prstGeom prst="rect">
            <a:avLst/>
          </a:prstGeom>
          <a:solidFill>
            <a:srgbClr val="F7F9FA">
              <a:alpha val="0"/>
            </a:srgbClr>
          </a:solidFill>
          <a:ln w="12700">
            <a:solidFill>
              <a:srgbClr val="ABB8C4"/>
            </a:solidFill>
            <a:prstDash val="solid"/>
          </a:ln>
        </p:spPr>
        <p:txBody>
          <a:bodyPr/>
          <a:lstStyle/>
          <a:p>
            <a:endParaRPr lang="ko-KR" altLang="en-US"/>
          </a:p>
        </p:txBody>
      </p:sp>
      <p:sp>
        <p:nvSpPr>
          <p:cNvPr id="19" name="Shape 17"/>
          <p:cNvSpPr/>
          <p:nvPr/>
        </p:nvSpPr>
        <p:spPr>
          <a:xfrm>
            <a:off x="4768528" y="4567428"/>
            <a:ext cx="411480" cy="0"/>
          </a:xfrm>
          <a:prstGeom prst="line">
            <a:avLst/>
          </a:prstGeom>
          <a:noFill/>
          <a:ln w="19050">
            <a:solidFill>
              <a:srgbClr val="5A6672"/>
            </a:solidFill>
            <a:prstDash val="solid"/>
            <a:tailEnd type="triangle"/>
          </a:ln>
        </p:spPr>
        <p:txBody>
          <a:bodyPr/>
          <a:lstStyle/>
          <a:p>
            <a:endParaRPr lang="ko-KR" altLang="en-US"/>
          </a:p>
        </p:txBody>
      </p:sp>
      <p:sp>
        <p:nvSpPr>
          <p:cNvPr id="20" name="Shape 18"/>
          <p:cNvSpPr/>
          <p:nvPr/>
        </p:nvSpPr>
        <p:spPr>
          <a:xfrm>
            <a:off x="8140071" y="4567428"/>
            <a:ext cx="411480" cy="0"/>
          </a:xfrm>
          <a:prstGeom prst="line">
            <a:avLst/>
          </a:prstGeom>
          <a:noFill/>
          <a:ln w="19050">
            <a:solidFill>
              <a:srgbClr val="5A6672"/>
            </a:solidFill>
            <a:prstDash val="solid"/>
            <a:tailEnd type="triangle"/>
          </a:ln>
        </p:spPr>
        <p:txBody>
          <a:bodyPr/>
          <a:lstStyle/>
          <a:p>
            <a:endParaRPr lang="ko-KR" altLang="en-US"/>
          </a:p>
        </p:txBody>
      </p:sp>
      <p:sp>
        <p:nvSpPr>
          <p:cNvPr id="21" name="Text 19"/>
          <p:cNvSpPr/>
          <p:nvPr/>
        </p:nvSpPr>
        <p:spPr>
          <a:xfrm>
            <a:off x="2423160" y="4087368"/>
            <a:ext cx="2116768"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허용 자료</a:t>
            </a:r>
            <a:endParaRPr lang="en-US" sz="1800" dirty="0"/>
          </a:p>
        </p:txBody>
      </p:sp>
      <p:sp>
        <p:nvSpPr>
          <p:cNvPr id="22" name="Text 20"/>
          <p:cNvSpPr/>
          <p:nvPr/>
        </p:nvSpPr>
        <p:spPr>
          <a:xfrm>
            <a:off x="2423160" y="4581144"/>
            <a:ext cx="211676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범위·권한 확인</a:t>
            </a:r>
            <a:endParaRPr lang="en-US" sz="1300" dirty="0"/>
          </a:p>
        </p:txBody>
      </p:sp>
      <p:sp>
        <p:nvSpPr>
          <p:cNvPr id="23" name="Text 21"/>
          <p:cNvSpPr/>
          <p:nvPr/>
        </p:nvSpPr>
        <p:spPr>
          <a:xfrm>
            <a:off x="5408608" y="4087368"/>
            <a:ext cx="2502863"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정리·초안</a:t>
            </a:r>
            <a:endParaRPr lang="en-US" sz="1800" dirty="0"/>
          </a:p>
        </p:txBody>
      </p:sp>
      <p:sp>
        <p:nvSpPr>
          <p:cNvPr id="24" name="Text 22"/>
          <p:cNvSpPr/>
          <p:nvPr/>
        </p:nvSpPr>
        <p:spPr>
          <a:xfrm>
            <a:off x="5408608" y="4581144"/>
            <a:ext cx="2502863"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AI가 작성 보조</a:t>
            </a:r>
            <a:endParaRPr lang="en-US" sz="1300" dirty="0"/>
          </a:p>
        </p:txBody>
      </p:sp>
      <p:sp>
        <p:nvSpPr>
          <p:cNvPr id="25" name="Text 23"/>
          <p:cNvSpPr/>
          <p:nvPr/>
        </p:nvSpPr>
        <p:spPr>
          <a:xfrm>
            <a:off x="8780151" y="4087368"/>
            <a:ext cx="2631561"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검수·승인</a:t>
            </a:r>
            <a:endParaRPr lang="en-US" sz="1800" dirty="0"/>
          </a:p>
        </p:txBody>
      </p:sp>
      <p:sp>
        <p:nvSpPr>
          <p:cNvPr id="26" name="Text 24"/>
          <p:cNvSpPr/>
          <p:nvPr/>
        </p:nvSpPr>
        <p:spPr>
          <a:xfrm>
            <a:off x="8780151" y="4581144"/>
            <a:ext cx="2631561"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최종 결정</a:t>
            </a:r>
            <a:endParaRPr lang="en-US" sz="1300" dirty="0"/>
          </a:p>
        </p:txBody>
      </p:sp>
      <p:sp>
        <p:nvSpPr>
          <p:cNvPr id="27" name="Text 25"/>
          <p:cNvSpPr/>
          <p:nvPr/>
        </p:nvSpPr>
        <p:spPr>
          <a:xfrm>
            <a:off x="548640" y="5687568"/>
            <a:ext cx="11091672" cy="507492"/>
          </a:xfrm>
          <a:prstGeom prst="rect">
            <a:avLst/>
          </a:prstGeom>
          <a:noFill/>
          <a:ln/>
        </p:spPr>
        <p:txBody>
          <a:bodyPr wrap="square" lIns="0" tIns="0" rIns="0" bIns="0" rtlCol="0" anchor="t"/>
          <a:lstStyle/>
          <a:p>
            <a:pPr marL="0" indent="0" algn="l" hangingPunct="0">
              <a:lnSpc>
                <a:spcPct val="135000"/>
              </a:lnSpc>
              <a:buNone/>
            </a:pPr>
            <a:r>
              <a:rPr lang="en-US" sz="2200" dirty="0">
                <a:solidFill>
                  <a:srgbClr val="3C4D5D"/>
                </a:solidFill>
                <a:latin typeface="Noto Sans KR" pitchFamily="34" charset="0"/>
                <a:ea typeface="Noto Sans KR" pitchFamily="34" charset="-122"/>
                <a:cs typeface="Noto Sans KR" pitchFamily="34" charset="-120"/>
              </a:rPr>
              <a:t>시범에서도 사실 확인과 승인 책임은 사람에게 남는다.</a:t>
            </a:r>
            <a:endParaRPr lang="en-US" sz="2200" dirty="0"/>
          </a:p>
        </p:txBody>
      </p:sp>
      <p:sp>
        <p:nvSpPr>
          <p:cNvPr id="28" name="Text 26"/>
          <p:cNvSpPr/>
          <p:nvPr/>
        </p:nvSpPr>
        <p:spPr>
          <a:xfrm>
            <a:off x="548640" y="6144768"/>
            <a:ext cx="1054303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출처: 샘플 원고 §업무 흐름. 특정 제품의 구현 상태를 설명한 도식이 아니다.</a:t>
            </a:r>
            <a:endParaRPr lang="en-US" sz="1300" dirty="0"/>
          </a:p>
        </p:txBody>
      </p:sp>
      <p:sp>
        <p:nvSpPr>
          <p:cNvPr id="29"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marL="0" indent="0" hangingPunct="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예시에서는 주간 반복 업무가 12시간 줄어든다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955718"/>
                </a:solidFill>
                <a:latin typeface="Noto Sans KR" pitchFamily="34" charset="0"/>
                <a:ea typeface="Noto Sans KR" pitchFamily="34" charset="-122"/>
                <a:cs typeface="Noto Sans KR" pitchFamily="34" charset="-120"/>
              </a:rPr>
              <a:t>예시 시간 비교</a:t>
            </a:r>
            <a:endParaRPr lang="en-US" sz="1100" dirty="0"/>
          </a:p>
        </p:txBody>
      </p:sp>
      <p:sp>
        <p:nvSpPr>
          <p:cNvPr id="4" name="Text 2"/>
          <p:cNvSpPr/>
          <p:nvPr/>
        </p:nvSpPr>
        <p:spPr>
          <a:xfrm>
            <a:off x="548640" y="2029968"/>
            <a:ext cx="7406640"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참여자 1인당 주간 시간</a:t>
            </a:r>
            <a:endParaRPr lang="en-US" sz="1300" dirty="0"/>
          </a:p>
        </p:txBody>
      </p:sp>
      <p:graphicFrame>
        <p:nvGraphicFramePr>
          <p:cNvPr id="5" name="Chart 0"/>
          <p:cNvGraphicFramePr/>
          <p:nvPr/>
        </p:nvGraphicFramePr>
        <p:xfrm>
          <a:off x="548640" y="2441448"/>
          <a:ext cx="74066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366760" y="2029968"/>
            <a:ext cx="3273552" cy="3611880"/>
          </a:xfrm>
          <a:prstGeom prst="rect">
            <a:avLst/>
          </a:prstGeom>
          <a:solidFill>
            <a:srgbClr val="E7EBEE"/>
          </a:solidFill>
          <a:ln w="12700">
            <a:solidFill>
              <a:srgbClr val="E7EBEE"/>
            </a:solidFill>
            <a:prstDash val="solid"/>
          </a:ln>
        </p:spPr>
        <p:txBody>
          <a:bodyPr/>
          <a:lstStyle/>
          <a:p>
            <a:endParaRPr lang="ko-KR" altLang="en-US"/>
          </a:p>
        </p:txBody>
      </p:sp>
      <p:sp>
        <p:nvSpPr>
          <p:cNvPr id="7" name="Text 4"/>
          <p:cNvSpPr/>
          <p:nvPr/>
        </p:nvSpPr>
        <p:spPr>
          <a:xfrm>
            <a:off x="8595360" y="2258568"/>
            <a:ext cx="2816352" cy="384048"/>
          </a:xfrm>
          <a:prstGeom prst="rect">
            <a:avLst/>
          </a:prstGeom>
          <a:noFill/>
          <a:ln/>
        </p:spPr>
        <p:txBody>
          <a:bodyPr wrap="square" lIns="0" tIns="0" rIns="0" bIns="0" rtlCol="0" anchor="t"/>
          <a:lstStyle/>
          <a:p>
            <a:pPr marL="0" indent="0"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합계 시간</a:t>
            </a:r>
            <a:endParaRPr lang="en-US" sz="1800" dirty="0"/>
          </a:p>
        </p:txBody>
      </p:sp>
      <p:sp>
        <p:nvSpPr>
          <p:cNvPr id="8" name="Text 5"/>
          <p:cNvSpPr/>
          <p:nvPr/>
        </p:nvSpPr>
        <p:spPr>
          <a:xfrm>
            <a:off x="8595360" y="2752344"/>
            <a:ext cx="2816352" cy="528066"/>
          </a:xfrm>
          <a:prstGeom prst="rect">
            <a:avLst/>
          </a:prstGeom>
          <a:noFill/>
          <a:ln/>
        </p:spPr>
        <p:txBody>
          <a:bodyPr wrap="square" lIns="0" tIns="0" rIns="0" bIns="0" rtlCol="0" anchor="t"/>
          <a:lstStyle/>
          <a:p>
            <a:pPr marL="0" indent="0" hangingPunct="0">
              <a:lnSpc>
                <a:spcPct val="115000"/>
              </a:lnSpc>
              <a:buNone/>
            </a:pPr>
            <a:r>
              <a:rPr lang="en-US" sz="2700" b="1" dirty="0">
                <a:solidFill>
                  <a:srgbClr val="17212B"/>
                </a:solidFill>
                <a:latin typeface="Noto Sans KR" pitchFamily="34" charset="0"/>
                <a:ea typeface="Noto Sans KR" pitchFamily="34" charset="-122"/>
                <a:cs typeface="Noto Sans KR" pitchFamily="34" charset="-120"/>
              </a:rPr>
              <a:t>20 → 8</a:t>
            </a:r>
            <a:endParaRPr lang="en-US" sz="2700" dirty="0"/>
          </a:p>
        </p:txBody>
      </p:sp>
      <p:sp>
        <p:nvSpPr>
          <p:cNvPr id="9" name="Text 6"/>
          <p:cNvSpPr/>
          <p:nvPr/>
        </p:nvSpPr>
        <p:spPr>
          <a:xfrm>
            <a:off x="8595360" y="3691890"/>
            <a:ext cx="2816352" cy="685800"/>
          </a:xfrm>
          <a:prstGeom prst="rect">
            <a:avLst/>
          </a:prstGeom>
          <a:noFill/>
          <a:ln/>
        </p:spPr>
        <p:txBody>
          <a:bodyPr wrap="square" lIns="0" tIns="0" rIns="0" bIns="0" rtlCol="0" anchor="t"/>
          <a:lstStyle/>
          <a:p>
            <a:pPr marL="0" indent="0" hangingPunct="0">
              <a:lnSpc>
                <a:spcPct val="115000"/>
              </a:lnSpc>
              <a:buNone/>
            </a:pPr>
            <a:r>
              <a:rPr lang="en-US" sz="3600" b="1" dirty="0">
                <a:solidFill>
                  <a:srgbClr val="955718"/>
                </a:solidFill>
                <a:latin typeface="Noto Sans KR" pitchFamily="34" charset="0"/>
                <a:ea typeface="Noto Sans KR" pitchFamily="34" charset="-122"/>
                <a:cs typeface="Noto Sans KR" pitchFamily="34" charset="-120"/>
              </a:rPr>
              <a:t>12시간</a:t>
            </a:r>
            <a:endParaRPr lang="en-US" sz="3600" dirty="0"/>
          </a:p>
        </p:txBody>
      </p:sp>
      <p:sp>
        <p:nvSpPr>
          <p:cNvPr id="10" name="Text 7"/>
          <p:cNvSpPr/>
          <p:nvPr/>
        </p:nvSpPr>
        <p:spPr>
          <a:xfrm>
            <a:off x="8595360" y="4487418"/>
            <a:ext cx="2816352" cy="425196"/>
          </a:xfrm>
          <a:prstGeom prst="rect">
            <a:avLst/>
          </a:prstGeom>
          <a:noFill/>
          <a:ln/>
        </p:spPr>
        <p:txBody>
          <a:bodyPr wrap="square" lIns="0" tIns="0" rIns="0" bIns="0" rtlCol="0" anchor="t"/>
          <a:lstStyle/>
          <a:p>
            <a:pPr marL="0" indent="0" hangingPunct="0">
              <a:lnSpc>
                <a:spcPct val="135000"/>
              </a:lnSpc>
              <a:buNone/>
            </a:pPr>
            <a:r>
              <a:rPr lang="en-US" sz="1800" dirty="0">
                <a:solidFill>
                  <a:srgbClr val="3C4D5D"/>
                </a:solidFill>
                <a:latin typeface="Noto Sans KR" pitchFamily="34" charset="0"/>
                <a:ea typeface="Noto Sans KR" pitchFamily="34" charset="-122"/>
                <a:cs typeface="Noto Sans KR" pitchFamily="34" charset="-120"/>
              </a:rPr>
              <a:t>감소한 예시</a:t>
            </a:r>
            <a:endParaRPr lang="en-US" sz="1800" dirty="0"/>
          </a:p>
        </p:txBody>
      </p:sp>
      <p:sp>
        <p:nvSpPr>
          <p:cNvPr id="11" name="Text 8"/>
          <p:cNvSpPr/>
          <p:nvPr/>
        </p:nvSpPr>
        <p:spPr>
          <a:xfrm>
            <a:off x="8595360" y="5022342"/>
            <a:ext cx="2816352" cy="292608"/>
          </a:xfrm>
          <a:prstGeom prst="rect">
            <a:avLst/>
          </a:prstGeom>
          <a:noFill/>
          <a:ln/>
        </p:spPr>
        <p:txBody>
          <a:bodyPr wrap="square" lIns="0" tIns="0" rIns="0" bIns="0" rtlCol="0" anchor="t"/>
          <a:lstStyle/>
          <a:p>
            <a:pPr marL="0" indent="0"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실제 효과는 시범 운영에서 측정한다.</a:t>
            </a:r>
            <a:endParaRPr lang="en-US" sz="1300" dirty="0"/>
          </a:p>
        </p:txBody>
      </p:sp>
      <p:sp>
        <p:nvSpPr>
          <p:cNvPr id="12" name="Text 9"/>
          <p:cNvSpPr/>
          <p:nvPr/>
        </p:nvSpPr>
        <p:spPr>
          <a:xfrm>
            <a:off x="548640" y="6144768"/>
            <a:ext cx="1054303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작성·검수 시간 포함. 실제 성과나 예측이 아닌 설명용 예시다.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marL="0" indent="0" hangingPunct="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자료 범위에 따라 적용 여부를 구분한다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955718"/>
                </a:solidFill>
                <a:latin typeface="Noto Sans KR" pitchFamily="34" charset="0"/>
                <a:ea typeface="Noto Sans KR" pitchFamily="34" charset="-122"/>
                <a:cs typeface="Noto Sans KR" pitchFamily="34" charset="-120"/>
              </a:rPr>
              <a:t>우선 적용 업무</a:t>
            </a:r>
            <a:endParaRPr lang="en-US" sz="1100" dirty="0"/>
          </a:p>
        </p:txBody>
      </p:sp>
      <p:graphicFrame>
        <p:nvGraphicFramePr>
          <p:cNvPr id="6" name="mixdog-spec:table:toned"/>
          <p:cNvGraphicFramePr>
            <a:graphicFrameLocks noGrp="1"/>
          </p:cNvGraphicFramePr>
          <p:nvPr>
            <p:extLst>
              <p:ext uri="{D42A27DB-BD31-4B8C-83A1-F6EECF244321}">
                <p14:modId xmlns:p14="http://schemas.microsoft.com/office/powerpoint/2010/main" val="1579011935"/>
              </p:ext>
            </p:extLst>
          </p:nvPr>
        </p:nvGraphicFramePr>
        <p:xfrm>
          <a:off x="548640" y="2029968"/>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585216">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업무</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자료 범위</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사람의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시범 판단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extLst>
                  <a:ext uri="{0D108BD9-81ED-4DB2-BD59-A6C34878D82A}">
                    <a16:rowId xmlns:a16="http://schemas.microsoft.com/office/drawing/2014/main" val="10000"/>
                  </a:ext>
                </a:extLst>
              </a:tr>
              <a:tr h="585216">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회의록 정리</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비식별 회의 메모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결정·담당자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b="1" dirty="0">
                          <a:solidFill>
                            <a:srgbClr val="3D7157"/>
                          </a:solidFill>
                          <a:latin typeface="Noto Sans KR" pitchFamily="34" charset="0"/>
                          <a:ea typeface="Noto Sans KR" pitchFamily="34" charset="-122"/>
                          <a:cs typeface="Noto Sans KR" pitchFamily="34" charset="-120"/>
                        </a:rPr>
                        <a:t>우선</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1F4EB"/>
                    </a:solidFill>
                  </a:tcPr>
                </a:tc>
                <a:extLst>
                  <a:ext uri="{0D108BD9-81ED-4DB2-BD59-A6C34878D82A}">
                    <a16:rowId xmlns:a16="http://schemas.microsoft.com/office/drawing/2014/main" val="10001"/>
                  </a:ext>
                </a:extLst>
              </a:tr>
              <a:tr h="585216">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공개 자료 조사</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공개 문서·웹자료</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출처·최신성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b="1" dirty="0">
                          <a:solidFill>
                            <a:srgbClr val="3D7157"/>
                          </a:solidFill>
                          <a:latin typeface="Noto Sans KR" pitchFamily="34" charset="0"/>
                          <a:ea typeface="Noto Sans KR" pitchFamily="34" charset="-122"/>
                          <a:cs typeface="Noto Sans KR" pitchFamily="34" charset="-120"/>
                        </a:rPr>
                        <a:t>우선</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1F4EB"/>
                    </a:solidFill>
                  </a:tcPr>
                </a:tc>
                <a:extLst>
                  <a:ext uri="{0D108BD9-81ED-4DB2-BD59-A6C34878D82A}">
                    <a16:rowId xmlns:a16="http://schemas.microsoft.com/office/drawing/2014/main" val="10002"/>
                  </a:ext>
                </a:extLst>
              </a:tr>
              <a:tr h="585216">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보고서 초안</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승인된 내부 자료</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수치·논리 검수</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b="1" dirty="0">
                          <a:solidFill>
                            <a:srgbClr val="715F3D"/>
                          </a:solidFill>
                          <a:latin typeface="Noto Sans KR" pitchFamily="34" charset="0"/>
                          <a:ea typeface="Noto Sans KR" pitchFamily="34" charset="-122"/>
                          <a:cs typeface="Noto Sans KR" pitchFamily="34" charset="-120"/>
                        </a:rPr>
                        <a:t>조건부</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4EEE1"/>
                    </a:solidFill>
                  </a:tcPr>
                </a:tc>
                <a:extLst>
                  <a:ext uri="{0D108BD9-81ED-4DB2-BD59-A6C34878D82A}">
                    <a16:rowId xmlns:a16="http://schemas.microsoft.com/office/drawing/2014/main" val="10003"/>
                  </a:ext>
                </a:extLst>
              </a:tr>
              <a:tr h="585216">
                <a:tc>
                  <a:txBody>
                    <a:bodyPr/>
                    <a:lstStyle/>
                    <a:p>
                      <a:pPr marL="0" indent="0" algn="l" hangingPunct="0">
                        <a:buNone/>
                      </a:pPr>
                      <a:r>
                        <a:rPr lang="en-US" sz="1800" b="1" dirty="0">
                          <a:solidFill>
                            <a:srgbClr val="17212B"/>
                          </a:solidFill>
                          <a:latin typeface="Noto Sans KR" pitchFamily="34" charset="0"/>
                          <a:ea typeface="Noto Sans KR" pitchFamily="34" charset="-122"/>
                          <a:cs typeface="Noto Sans KR" pitchFamily="34" charset="-120"/>
                        </a:rPr>
                        <a:t>외부 자동 발송</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외부 수신자 포함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dirty="0">
                          <a:solidFill>
                            <a:srgbClr val="3C4D5D"/>
                          </a:solidFill>
                          <a:latin typeface="Noto Sans KR" pitchFamily="34" charset="0"/>
                          <a:ea typeface="Noto Sans KR" pitchFamily="34" charset="-122"/>
                          <a:cs typeface="Noto Sans KR" pitchFamily="34" charset="-120"/>
                        </a:rPr>
                        <a:t>발송 전 승인 필수</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marL="0" indent="0" algn="l" hangingPunct="0">
                        <a:buNone/>
                      </a:pPr>
                      <a:r>
                        <a:rPr lang="en-US" sz="1800" b="1" dirty="0">
                          <a:solidFill>
                            <a:srgbClr val="71413D"/>
                          </a:solidFill>
                          <a:latin typeface="Noto Sans KR" pitchFamily="34" charset="0"/>
                          <a:ea typeface="Noto Sans KR" pitchFamily="34" charset="-122"/>
                          <a:cs typeface="Noto Sans KR" pitchFamily="34" charset="-120"/>
                        </a:rPr>
                        <a:t>제외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4E3E1"/>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5367528"/>
            <a:ext cx="1109167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우선은 시범 대상, 조건부는 자료 승인 후 적용, 제외는 이번 시범 범위 밖이다.</a:t>
            </a:r>
            <a:endParaRPr lang="en-US" sz="1300" dirty="0"/>
          </a:p>
        </p:txBody>
      </p:sp>
      <p:sp>
        <p:nvSpPr>
          <p:cNvPr id="4" name="Text 3"/>
          <p:cNvSpPr/>
          <p:nvPr/>
        </p:nvSpPr>
        <p:spPr>
          <a:xfrm>
            <a:off x="548640" y="6144768"/>
            <a:ext cx="1054303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운영안. 제품별 지원 기능·보안·사용 조건은 도입 전에 별도로 확인한다.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marL="0" indent="0" hangingPunct="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자료 반입과 외부 공유에 승인 경계를 둔다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955718"/>
                </a:solidFill>
                <a:latin typeface="Noto Sans KR" pitchFamily="34" charset="0"/>
                <a:ea typeface="Noto Sans KR" pitchFamily="34" charset="-122"/>
                <a:cs typeface="Noto Sans KR" pitchFamily="34" charset="-120"/>
              </a:rPr>
              <a:t>승인 경계</a:t>
            </a:r>
            <a:endParaRPr lang="en-US" sz="1100" dirty="0"/>
          </a:p>
        </p:txBody>
      </p:sp>
      <p:sp>
        <p:nvSpPr>
          <p:cNvPr id="4" name="Text 2"/>
          <p:cNvSpPr/>
          <p:nvPr/>
        </p:nvSpPr>
        <p:spPr>
          <a:xfrm>
            <a:off x="548640" y="2029968"/>
            <a:ext cx="1109167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제안 운영 규칙 · 특정 제품의 구현 상태가 아니다</a:t>
            </a:r>
            <a:endParaRPr lang="en-US" sz="1300" dirty="0"/>
          </a:p>
        </p:txBody>
      </p:sp>
      <p:sp>
        <p:nvSpPr>
          <p:cNvPr id="5" name="Shape 3"/>
          <p:cNvSpPr/>
          <p:nvPr/>
        </p:nvSpPr>
        <p:spPr>
          <a:xfrm>
            <a:off x="548640" y="2578608"/>
            <a:ext cx="2464308" cy="1207008"/>
          </a:xfrm>
          <a:prstGeom prst="rect">
            <a:avLst/>
          </a:prstGeom>
          <a:solidFill>
            <a:srgbClr val="E7EBEE"/>
          </a:solidFill>
          <a:ln w="12700">
            <a:solidFill>
              <a:srgbClr val="E7EBEE"/>
            </a:solidFill>
            <a:prstDash val="solid"/>
          </a:ln>
        </p:spPr>
        <p:txBody>
          <a:bodyPr/>
          <a:lstStyle/>
          <a:p>
            <a:endParaRPr lang="ko-KR" altLang="en-US"/>
          </a:p>
        </p:txBody>
      </p:sp>
      <p:sp>
        <p:nvSpPr>
          <p:cNvPr id="6" name="Shape 4"/>
          <p:cNvSpPr/>
          <p:nvPr/>
        </p:nvSpPr>
        <p:spPr>
          <a:xfrm>
            <a:off x="3424428" y="2578608"/>
            <a:ext cx="2464308" cy="1207008"/>
          </a:xfrm>
          <a:prstGeom prst="rect">
            <a:avLst/>
          </a:prstGeom>
          <a:solidFill>
            <a:srgbClr val="E7EBEE"/>
          </a:solidFill>
          <a:ln w="12700">
            <a:solidFill>
              <a:srgbClr val="E7EBEE"/>
            </a:solidFill>
            <a:prstDash val="solid"/>
          </a:ln>
        </p:spPr>
        <p:txBody>
          <a:bodyPr/>
          <a:lstStyle/>
          <a:p>
            <a:endParaRPr lang="ko-KR" altLang="en-US"/>
          </a:p>
        </p:txBody>
      </p:sp>
      <p:sp>
        <p:nvSpPr>
          <p:cNvPr id="7" name="Shape 5"/>
          <p:cNvSpPr/>
          <p:nvPr/>
        </p:nvSpPr>
        <p:spPr>
          <a:xfrm>
            <a:off x="6300216" y="2578608"/>
            <a:ext cx="2464308" cy="1207008"/>
          </a:xfrm>
          <a:prstGeom prst="rect">
            <a:avLst/>
          </a:prstGeom>
          <a:solidFill>
            <a:srgbClr val="EDE3D9"/>
          </a:solidFill>
          <a:ln w="12700">
            <a:solidFill>
              <a:srgbClr val="EDE3D9"/>
            </a:solidFill>
            <a:prstDash val="solid"/>
          </a:ln>
        </p:spPr>
        <p:txBody>
          <a:bodyPr/>
          <a:lstStyle/>
          <a:p>
            <a:endParaRPr lang="ko-KR" altLang="en-US"/>
          </a:p>
        </p:txBody>
      </p:sp>
      <p:sp>
        <p:nvSpPr>
          <p:cNvPr id="8" name="Shape 6"/>
          <p:cNvSpPr/>
          <p:nvPr/>
        </p:nvSpPr>
        <p:spPr>
          <a:xfrm>
            <a:off x="9176004" y="2578608"/>
            <a:ext cx="2464308" cy="1207008"/>
          </a:xfrm>
          <a:prstGeom prst="rect">
            <a:avLst/>
          </a:prstGeom>
          <a:solidFill>
            <a:srgbClr val="E7EBEE"/>
          </a:solidFill>
          <a:ln w="12700">
            <a:solidFill>
              <a:srgbClr val="E7EBEE"/>
            </a:solidFill>
            <a:prstDash val="solid"/>
          </a:ln>
        </p:spPr>
        <p:txBody>
          <a:bodyPr/>
          <a:lstStyle/>
          <a:p>
            <a:endParaRPr lang="ko-KR" altLang="en-US"/>
          </a:p>
        </p:txBody>
      </p:sp>
      <p:sp>
        <p:nvSpPr>
          <p:cNvPr id="9" name="Shape 7"/>
          <p:cNvSpPr/>
          <p:nvPr/>
        </p:nvSpPr>
        <p:spPr>
          <a:xfrm>
            <a:off x="3012948" y="3182112"/>
            <a:ext cx="411480" cy="0"/>
          </a:xfrm>
          <a:prstGeom prst="line">
            <a:avLst/>
          </a:prstGeom>
          <a:noFill/>
          <a:ln w="19050">
            <a:solidFill>
              <a:srgbClr val="5A6672"/>
            </a:solidFill>
            <a:prstDash val="solid"/>
            <a:tailEnd type="triangle"/>
          </a:ln>
        </p:spPr>
        <p:txBody>
          <a:bodyPr/>
          <a:lstStyle/>
          <a:p>
            <a:endParaRPr lang="ko-KR" altLang="en-US"/>
          </a:p>
        </p:txBody>
      </p:sp>
      <p:sp>
        <p:nvSpPr>
          <p:cNvPr id="10" name="Shape 8"/>
          <p:cNvSpPr/>
          <p:nvPr/>
        </p:nvSpPr>
        <p:spPr>
          <a:xfrm>
            <a:off x="5888736" y="3182112"/>
            <a:ext cx="411480" cy="0"/>
          </a:xfrm>
          <a:prstGeom prst="line">
            <a:avLst/>
          </a:prstGeom>
          <a:noFill/>
          <a:ln w="19050">
            <a:solidFill>
              <a:srgbClr val="5A6672"/>
            </a:solidFill>
            <a:prstDash val="solid"/>
            <a:tailEnd type="triangle"/>
          </a:ln>
        </p:spPr>
        <p:txBody>
          <a:bodyPr/>
          <a:lstStyle/>
          <a:p>
            <a:endParaRPr lang="ko-KR" altLang="en-US"/>
          </a:p>
        </p:txBody>
      </p:sp>
      <p:sp>
        <p:nvSpPr>
          <p:cNvPr id="11" name="Shape 9"/>
          <p:cNvSpPr/>
          <p:nvPr/>
        </p:nvSpPr>
        <p:spPr>
          <a:xfrm>
            <a:off x="8764524" y="3182112"/>
            <a:ext cx="411480" cy="0"/>
          </a:xfrm>
          <a:prstGeom prst="line">
            <a:avLst/>
          </a:prstGeom>
          <a:noFill/>
          <a:ln w="19050">
            <a:solidFill>
              <a:srgbClr val="5A6672"/>
            </a:solidFill>
            <a:prstDash val="solid"/>
            <a:tailEnd type="triangle"/>
          </a:ln>
        </p:spPr>
        <p:txBody>
          <a:bodyPr/>
          <a:lstStyle/>
          <a:p>
            <a:endParaRPr lang="ko-KR" altLang="en-US"/>
          </a:p>
        </p:txBody>
      </p:sp>
      <p:sp>
        <p:nvSpPr>
          <p:cNvPr id="12" name="Text 10"/>
          <p:cNvSpPr/>
          <p:nvPr/>
        </p:nvSpPr>
        <p:spPr>
          <a:xfrm>
            <a:off x="777240" y="2807208"/>
            <a:ext cx="2007108"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허용 자료</a:t>
            </a:r>
            <a:endParaRPr lang="en-US" sz="1800" dirty="0"/>
          </a:p>
        </p:txBody>
      </p:sp>
      <p:sp>
        <p:nvSpPr>
          <p:cNvPr id="13" name="Text 11"/>
          <p:cNvSpPr/>
          <p:nvPr/>
        </p:nvSpPr>
        <p:spPr>
          <a:xfrm>
            <a:off x="777240" y="3300984"/>
            <a:ext cx="20071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범위·권한 확인</a:t>
            </a:r>
            <a:endParaRPr lang="en-US" sz="1300" dirty="0"/>
          </a:p>
        </p:txBody>
      </p:sp>
      <p:sp>
        <p:nvSpPr>
          <p:cNvPr id="14" name="Text 12"/>
          <p:cNvSpPr/>
          <p:nvPr/>
        </p:nvSpPr>
        <p:spPr>
          <a:xfrm>
            <a:off x="548640" y="3895344"/>
            <a:ext cx="24643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반입 전 확인</a:t>
            </a:r>
            <a:endParaRPr lang="en-US" sz="1300" dirty="0"/>
          </a:p>
        </p:txBody>
      </p:sp>
      <p:sp>
        <p:nvSpPr>
          <p:cNvPr id="15" name="Text 13"/>
          <p:cNvSpPr/>
          <p:nvPr/>
        </p:nvSpPr>
        <p:spPr>
          <a:xfrm>
            <a:off x="3653028" y="2807208"/>
            <a:ext cx="2007108"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AI 처리</a:t>
            </a:r>
            <a:endParaRPr lang="en-US" sz="1800" dirty="0"/>
          </a:p>
        </p:txBody>
      </p:sp>
      <p:sp>
        <p:nvSpPr>
          <p:cNvPr id="16" name="Text 14"/>
          <p:cNvSpPr/>
          <p:nvPr/>
        </p:nvSpPr>
        <p:spPr>
          <a:xfrm>
            <a:off x="3653028" y="3300984"/>
            <a:ext cx="20071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정리·초안 보조</a:t>
            </a:r>
            <a:endParaRPr lang="en-US" sz="1300" dirty="0"/>
          </a:p>
        </p:txBody>
      </p:sp>
      <p:sp>
        <p:nvSpPr>
          <p:cNvPr id="17" name="Text 15"/>
          <p:cNvSpPr/>
          <p:nvPr/>
        </p:nvSpPr>
        <p:spPr>
          <a:xfrm>
            <a:off x="3424428" y="3895344"/>
            <a:ext cx="24643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판단 책임 없음</a:t>
            </a:r>
            <a:endParaRPr lang="en-US" sz="1300" dirty="0"/>
          </a:p>
        </p:txBody>
      </p:sp>
      <p:sp>
        <p:nvSpPr>
          <p:cNvPr id="18" name="Text 16"/>
          <p:cNvSpPr/>
          <p:nvPr/>
        </p:nvSpPr>
        <p:spPr>
          <a:xfrm>
            <a:off x="6528816" y="2807208"/>
            <a:ext cx="2007108"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사람 확인</a:t>
            </a:r>
            <a:endParaRPr lang="en-US" sz="1800" dirty="0"/>
          </a:p>
        </p:txBody>
      </p:sp>
      <p:sp>
        <p:nvSpPr>
          <p:cNvPr id="19" name="Text 17"/>
          <p:cNvSpPr/>
          <p:nvPr/>
        </p:nvSpPr>
        <p:spPr>
          <a:xfrm>
            <a:off x="6528816" y="3300984"/>
            <a:ext cx="20071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사실·수치 검수</a:t>
            </a:r>
            <a:endParaRPr lang="en-US" sz="1300" dirty="0"/>
          </a:p>
        </p:txBody>
      </p:sp>
      <p:sp>
        <p:nvSpPr>
          <p:cNvPr id="20" name="Text 18"/>
          <p:cNvSpPr/>
          <p:nvPr/>
        </p:nvSpPr>
        <p:spPr>
          <a:xfrm>
            <a:off x="6300216" y="3895344"/>
            <a:ext cx="24643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공유 전 승인</a:t>
            </a:r>
            <a:endParaRPr lang="en-US" sz="1300" dirty="0"/>
          </a:p>
        </p:txBody>
      </p:sp>
      <p:sp>
        <p:nvSpPr>
          <p:cNvPr id="21" name="Text 19"/>
          <p:cNvSpPr/>
          <p:nvPr/>
        </p:nvSpPr>
        <p:spPr>
          <a:xfrm>
            <a:off x="9404604" y="2807208"/>
            <a:ext cx="2007108" cy="384048"/>
          </a:xfrm>
          <a:prstGeom prst="rect">
            <a:avLst/>
          </a:prstGeom>
          <a:noFill/>
          <a:ln/>
        </p:spPr>
        <p:txBody>
          <a:bodyPr wrap="square" lIns="0" tIns="0" rIns="0" bIns="0" rtlCol="0" anchor="t"/>
          <a:lstStyle/>
          <a:p>
            <a:pPr marL="0" indent="0" algn="l"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승인 후 공유</a:t>
            </a:r>
            <a:endParaRPr lang="en-US" sz="1800" dirty="0"/>
          </a:p>
        </p:txBody>
      </p:sp>
      <p:sp>
        <p:nvSpPr>
          <p:cNvPr id="22" name="Text 20"/>
          <p:cNvSpPr/>
          <p:nvPr/>
        </p:nvSpPr>
        <p:spPr>
          <a:xfrm>
            <a:off x="9404604" y="3300984"/>
            <a:ext cx="20071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확정 결과 전달</a:t>
            </a:r>
            <a:endParaRPr lang="en-US" sz="1300" dirty="0"/>
          </a:p>
        </p:txBody>
      </p:sp>
      <p:sp>
        <p:nvSpPr>
          <p:cNvPr id="23" name="Text 21"/>
          <p:cNvSpPr/>
          <p:nvPr/>
        </p:nvSpPr>
        <p:spPr>
          <a:xfrm>
            <a:off x="9176004" y="3895344"/>
            <a:ext cx="2464308"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자동 발송 제외</a:t>
            </a:r>
            <a:endParaRPr lang="en-US" sz="1300" dirty="0"/>
          </a:p>
        </p:txBody>
      </p:sp>
      <p:sp>
        <p:nvSpPr>
          <p:cNvPr id="24" name="Shape 22"/>
          <p:cNvSpPr/>
          <p:nvPr/>
        </p:nvSpPr>
        <p:spPr>
          <a:xfrm>
            <a:off x="548640" y="4562856"/>
            <a:ext cx="11091672" cy="685800"/>
          </a:xfrm>
          <a:prstGeom prst="rect">
            <a:avLst/>
          </a:prstGeom>
          <a:solidFill>
            <a:srgbClr val="F4EEE1"/>
          </a:solidFill>
          <a:ln w="12700">
            <a:solidFill>
              <a:srgbClr val="F4EEE1"/>
            </a:solidFill>
            <a:prstDash val="solid"/>
          </a:ln>
        </p:spPr>
        <p:txBody>
          <a:bodyPr/>
          <a:lstStyle/>
          <a:p>
            <a:endParaRPr lang="ko-KR" altLang="en-US"/>
          </a:p>
        </p:txBody>
      </p:sp>
      <p:sp>
        <p:nvSpPr>
          <p:cNvPr id="25" name="mixdog-spec:callout:warning"/>
          <p:cNvSpPr/>
          <p:nvPr/>
        </p:nvSpPr>
        <p:spPr>
          <a:xfrm>
            <a:off x="777240" y="4562856"/>
            <a:ext cx="10634472" cy="685800"/>
          </a:xfrm>
          <a:prstGeom prst="rect">
            <a:avLst/>
          </a:prstGeom>
          <a:noFill/>
          <a:ln/>
        </p:spPr>
        <p:txBody>
          <a:bodyPr wrap="square" lIns="0" tIns="0" rIns="0" bIns="0" rtlCol="0" anchor="ctr"/>
          <a:lstStyle/>
          <a:p>
            <a:pPr marL="0" indent="0" hangingPunct="0">
              <a:buNone/>
            </a:pPr>
            <a:r>
              <a:rPr lang="en-US" sz="1400" dirty="0">
                <a:solidFill>
                  <a:srgbClr val="715F3D"/>
                </a:solidFill>
                <a:latin typeface="Noto Sans KR" pitchFamily="34" charset="0"/>
                <a:ea typeface="Noto Sans KR" pitchFamily="34" charset="-122"/>
                <a:cs typeface="Noto Sans KR" pitchFamily="34" charset="-120"/>
              </a:rPr>
              <a:t>민감정보는 반입하지 않고, 외부 공유는 사람이 승인한다.</a:t>
            </a:r>
            <a:endParaRPr lang="en-US" sz="1400" dirty="0"/>
          </a:p>
        </p:txBody>
      </p:sp>
      <p:sp>
        <p:nvSpPr>
          <p:cNvPr id="26" name="Text 24"/>
          <p:cNvSpPr/>
          <p:nvPr/>
        </p:nvSpPr>
        <p:spPr>
          <a:xfrm>
            <a:off x="548640" y="6144768"/>
            <a:ext cx="1054303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출처: 샘플 원고 §승인 경계. 실제 도입 시 조직의 보안 정책을 우선한다.</a:t>
            </a:r>
            <a:endParaRPr lang="en-US" sz="1300" dirty="0"/>
          </a:p>
        </p:txBody>
      </p:sp>
      <p:sp>
        <p:nvSpPr>
          <p:cNvPr id="27"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marL="0" indent="0" hangingPunct="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4주 동안 효과와 오류를 함께 측정한다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955718"/>
                </a:solidFill>
                <a:latin typeface="Noto Sans KR" pitchFamily="34" charset="0"/>
                <a:ea typeface="Noto Sans KR" pitchFamily="34" charset="-122"/>
                <a:cs typeface="Noto Sans KR" pitchFamily="34" charset="-120"/>
              </a:rPr>
              <a:t>시범 운영 일정</a:t>
            </a:r>
            <a:endParaRPr lang="en-US" sz="1100" dirty="0"/>
          </a:p>
        </p:txBody>
      </p:sp>
      <p:sp>
        <p:nvSpPr>
          <p:cNvPr id="4" name="Shape 2"/>
          <p:cNvSpPr/>
          <p:nvPr/>
        </p:nvSpPr>
        <p:spPr>
          <a:xfrm>
            <a:off x="548640" y="2029968"/>
            <a:ext cx="2906649" cy="713232"/>
          </a:xfrm>
          <a:prstGeom prst="chevron">
            <a:avLst/>
          </a:prstGeom>
          <a:solidFill>
            <a:srgbClr val="E7EBEE"/>
          </a:solidFill>
          <a:ln w="19050">
            <a:solidFill>
              <a:srgbClr val="F7F9FA"/>
            </a:solidFill>
            <a:prstDash val="solid"/>
          </a:ln>
        </p:spPr>
        <p:txBody>
          <a:bodyPr/>
          <a:lstStyle/>
          <a:p>
            <a:endParaRPr lang="ko-KR" altLang="en-US"/>
          </a:p>
        </p:txBody>
      </p:sp>
      <p:sp>
        <p:nvSpPr>
          <p:cNvPr id="5" name="mixdog-spec:chevrons:default"/>
          <p:cNvSpPr/>
          <p:nvPr/>
        </p:nvSpPr>
        <p:spPr>
          <a:xfrm>
            <a:off x="726948" y="2029968"/>
            <a:ext cx="2550033" cy="713232"/>
          </a:xfrm>
          <a:prstGeom prst="rect">
            <a:avLst/>
          </a:prstGeom>
          <a:noFill/>
          <a:ln/>
        </p:spPr>
        <p:txBody>
          <a:bodyPr wrap="square" lIns="0" tIns="0" rIns="0" bIns="0" rtlCol="0" anchor="ctr"/>
          <a:lstStyle/>
          <a:p>
            <a:pPr marL="0" indent="0" algn="ctr" hangingPunct="0">
              <a:buNone/>
            </a:pPr>
            <a:r>
              <a:rPr lang="en-US" sz="1400" dirty="0">
                <a:solidFill>
                  <a:srgbClr val="3C4D5D"/>
                </a:solidFill>
                <a:latin typeface="Noto Sans KR" pitchFamily="34" charset="0"/>
                <a:ea typeface="Noto Sans KR" pitchFamily="34" charset="-122"/>
                <a:cs typeface="Noto Sans KR" pitchFamily="34" charset="-120"/>
              </a:rPr>
              <a:t>1주차 · 기준선</a:t>
            </a:r>
            <a:endParaRPr lang="en-US" sz="1400" dirty="0"/>
          </a:p>
        </p:txBody>
      </p:sp>
      <p:sp>
        <p:nvSpPr>
          <p:cNvPr id="6" name="Shape 4"/>
          <p:cNvSpPr/>
          <p:nvPr/>
        </p:nvSpPr>
        <p:spPr>
          <a:xfrm>
            <a:off x="3276981" y="2029968"/>
            <a:ext cx="2906649" cy="713232"/>
          </a:xfrm>
          <a:prstGeom prst="chevron">
            <a:avLst/>
          </a:prstGeom>
          <a:solidFill>
            <a:srgbClr val="E7EBEE"/>
          </a:solidFill>
          <a:ln w="19050">
            <a:solidFill>
              <a:srgbClr val="F7F9FA"/>
            </a:solidFill>
            <a:prstDash val="solid"/>
          </a:ln>
        </p:spPr>
        <p:txBody>
          <a:bodyPr/>
          <a:lstStyle/>
          <a:p>
            <a:endParaRPr lang="ko-KR" altLang="en-US"/>
          </a:p>
        </p:txBody>
      </p:sp>
      <p:sp>
        <p:nvSpPr>
          <p:cNvPr id="7" name="mixdog-spec:chevrons:default"/>
          <p:cNvSpPr/>
          <p:nvPr/>
        </p:nvSpPr>
        <p:spPr>
          <a:xfrm>
            <a:off x="3455289" y="2029968"/>
            <a:ext cx="2550033" cy="713232"/>
          </a:xfrm>
          <a:prstGeom prst="rect">
            <a:avLst/>
          </a:prstGeom>
          <a:noFill/>
          <a:ln/>
        </p:spPr>
        <p:txBody>
          <a:bodyPr wrap="square" lIns="0" tIns="0" rIns="0" bIns="0" rtlCol="0" anchor="ctr"/>
          <a:lstStyle/>
          <a:p>
            <a:pPr marL="0" indent="0" algn="ctr" hangingPunct="0">
              <a:buNone/>
            </a:pPr>
            <a:r>
              <a:rPr lang="en-US" sz="1400" dirty="0">
                <a:solidFill>
                  <a:srgbClr val="3C4D5D"/>
                </a:solidFill>
                <a:latin typeface="Noto Sans KR" pitchFamily="34" charset="0"/>
                <a:ea typeface="Noto Sans KR" pitchFamily="34" charset="-122"/>
                <a:cs typeface="Noto Sans KR" pitchFamily="34" charset="-120"/>
              </a:rPr>
              <a:t>2주차 · 적용</a:t>
            </a:r>
            <a:endParaRPr lang="en-US" sz="1400" dirty="0"/>
          </a:p>
        </p:txBody>
      </p:sp>
      <p:sp>
        <p:nvSpPr>
          <p:cNvPr id="8" name="Shape 6"/>
          <p:cNvSpPr/>
          <p:nvPr/>
        </p:nvSpPr>
        <p:spPr>
          <a:xfrm>
            <a:off x="6005322" y="2029968"/>
            <a:ext cx="2906649" cy="713232"/>
          </a:xfrm>
          <a:prstGeom prst="chevron">
            <a:avLst/>
          </a:prstGeom>
          <a:solidFill>
            <a:srgbClr val="E7EBEE"/>
          </a:solidFill>
          <a:ln w="19050">
            <a:solidFill>
              <a:srgbClr val="F7F9FA"/>
            </a:solidFill>
            <a:prstDash val="solid"/>
          </a:ln>
        </p:spPr>
        <p:txBody>
          <a:bodyPr/>
          <a:lstStyle/>
          <a:p>
            <a:endParaRPr lang="ko-KR" altLang="en-US"/>
          </a:p>
        </p:txBody>
      </p:sp>
      <p:sp>
        <p:nvSpPr>
          <p:cNvPr id="9" name="mixdog-spec:chevrons:default"/>
          <p:cNvSpPr/>
          <p:nvPr/>
        </p:nvSpPr>
        <p:spPr>
          <a:xfrm>
            <a:off x="6183630" y="2029968"/>
            <a:ext cx="2550033" cy="713232"/>
          </a:xfrm>
          <a:prstGeom prst="rect">
            <a:avLst/>
          </a:prstGeom>
          <a:noFill/>
          <a:ln/>
        </p:spPr>
        <p:txBody>
          <a:bodyPr wrap="square" lIns="0" tIns="0" rIns="0" bIns="0" rtlCol="0" anchor="ctr"/>
          <a:lstStyle/>
          <a:p>
            <a:pPr marL="0" indent="0" algn="ctr" hangingPunct="0">
              <a:buNone/>
            </a:pPr>
            <a:r>
              <a:rPr lang="en-US" sz="1400" dirty="0">
                <a:solidFill>
                  <a:srgbClr val="3C4D5D"/>
                </a:solidFill>
                <a:latin typeface="Noto Sans KR" pitchFamily="34" charset="0"/>
                <a:ea typeface="Noto Sans KR" pitchFamily="34" charset="-122"/>
                <a:cs typeface="Noto Sans KR" pitchFamily="34" charset="-120"/>
              </a:rPr>
              <a:t>3주차 · 개선</a:t>
            </a:r>
            <a:endParaRPr lang="en-US" sz="1400" dirty="0"/>
          </a:p>
        </p:txBody>
      </p:sp>
      <p:sp>
        <p:nvSpPr>
          <p:cNvPr id="10" name="Shape 8"/>
          <p:cNvSpPr/>
          <p:nvPr/>
        </p:nvSpPr>
        <p:spPr>
          <a:xfrm>
            <a:off x="8733663" y="2029968"/>
            <a:ext cx="2906649" cy="713232"/>
          </a:xfrm>
          <a:prstGeom prst="chevron">
            <a:avLst/>
          </a:prstGeom>
          <a:solidFill>
            <a:srgbClr val="955718"/>
          </a:solidFill>
          <a:ln w="19050">
            <a:solidFill>
              <a:srgbClr val="F7F9FA"/>
            </a:solidFill>
            <a:prstDash val="solid"/>
          </a:ln>
        </p:spPr>
        <p:txBody>
          <a:bodyPr/>
          <a:lstStyle/>
          <a:p>
            <a:endParaRPr lang="ko-KR" altLang="en-US"/>
          </a:p>
        </p:txBody>
      </p:sp>
      <p:sp>
        <p:nvSpPr>
          <p:cNvPr id="11" name="mixdog-spec:chevrons:active"/>
          <p:cNvSpPr/>
          <p:nvPr/>
        </p:nvSpPr>
        <p:spPr>
          <a:xfrm>
            <a:off x="8911971" y="2029968"/>
            <a:ext cx="2550033" cy="713232"/>
          </a:xfrm>
          <a:prstGeom prst="rect">
            <a:avLst/>
          </a:prstGeom>
          <a:noFill/>
          <a:ln/>
        </p:spPr>
        <p:txBody>
          <a:bodyPr wrap="square" lIns="0" tIns="0" rIns="0" bIns="0" rtlCol="0" anchor="ctr"/>
          <a:lstStyle/>
          <a:p>
            <a:pPr marL="0" indent="0" algn="ctr" hangingPunct="0">
              <a:buNone/>
            </a:pPr>
            <a:r>
              <a:rPr lang="en-US" sz="1400" b="1" dirty="0">
                <a:solidFill>
                  <a:srgbClr val="FFFFFF"/>
                </a:solidFill>
                <a:latin typeface="Noto Sans KR" pitchFamily="34" charset="0"/>
                <a:ea typeface="Noto Sans KR" pitchFamily="34" charset="-122"/>
                <a:cs typeface="Noto Sans KR" pitchFamily="34" charset="-120"/>
              </a:rPr>
              <a:t>4주차 · 결정</a:t>
            </a:r>
            <a:endParaRPr lang="en-US" sz="1400" dirty="0"/>
          </a:p>
        </p:txBody>
      </p:sp>
      <p:sp>
        <p:nvSpPr>
          <p:cNvPr id="12" name="Text 10"/>
          <p:cNvSpPr/>
          <p:nvPr/>
        </p:nvSpPr>
        <p:spPr>
          <a:xfrm>
            <a:off x="548640" y="3154680"/>
            <a:ext cx="2464308" cy="384048"/>
          </a:xfrm>
          <a:prstGeom prst="rect">
            <a:avLst/>
          </a:prstGeom>
          <a:noFill/>
          <a:ln/>
        </p:spPr>
        <p:txBody>
          <a:bodyPr wrap="square" lIns="0" tIns="0" rIns="0" bIns="0" rtlCol="0" anchor="t"/>
          <a:lstStyle/>
          <a:p>
            <a:pPr marL="0" indent="0"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범위와 기준 확정</a:t>
            </a:r>
            <a:endParaRPr lang="en-US" sz="1800" dirty="0"/>
          </a:p>
        </p:txBody>
      </p:sp>
      <p:sp>
        <p:nvSpPr>
          <p:cNvPr id="13" name="Text 11"/>
          <p:cNvSpPr/>
          <p:nvPr/>
        </p:nvSpPr>
        <p:spPr>
          <a:xfrm>
            <a:off x="548640" y="3648456"/>
            <a:ext cx="2235708" cy="795528"/>
          </a:xfrm>
          <a:prstGeom prst="rect">
            <a:avLst/>
          </a:prstGeom>
          <a:noFill/>
          <a:ln/>
        </p:spPr>
        <p:txBody>
          <a:bodyPr wrap="square" lIns="0" tIns="0" rIns="0" bIns="0" rtlCol="0" anchor="t"/>
          <a:lstStyle/>
          <a:p>
            <a:pPr marL="0" indent="0" hangingPunct="0">
              <a:lnSpc>
                <a:spcPct val="135000"/>
              </a:lnSpc>
              <a:buNone/>
            </a:pPr>
            <a:r>
              <a:rPr lang="ko-KR" altLang="en-US">
                <a:solidFill>
                  <a:srgbClr val="3C4D5D"/>
                </a:solidFill>
                <a:latin typeface="Noto Sans KR" panose="020B0200000000000000" pitchFamily="50" charset="-127"/>
                <a:ea typeface="Noto Sans KR" pitchFamily="34" charset="-122"/>
                <a:cs typeface="Noto Sans KR" pitchFamily="34" charset="-120"/>
              </a:rPr>
              <a:t>총시간</a:t>
            </a:r>
            <a:r>
              <a:rPr lang="en-US" altLang="ko-KR">
                <a:solidFill>
                  <a:srgbClr val="3C4D5D"/>
                </a:solidFill>
                <a:latin typeface="Noto Sans KR" panose="020B0200000000000000" pitchFamily="50" charset="-127"/>
                <a:ea typeface="Noto Sans KR" pitchFamily="34" charset="-122"/>
                <a:cs typeface="Noto Sans KR" pitchFamily="34" charset="-120"/>
              </a:rPr>
              <a:t>·</a:t>
            </a:r>
            <a:r>
              <a:rPr lang="ko-KR" altLang="en-US">
                <a:solidFill>
                  <a:srgbClr val="3C4D5D"/>
                </a:solidFill>
                <a:latin typeface="Noto Sans KR" panose="020B0200000000000000" pitchFamily="50" charset="-127"/>
                <a:ea typeface="Noto Sans KR" pitchFamily="34" charset="-122"/>
                <a:cs typeface="Noto Sans KR" pitchFamily="34" charset="-120"/>
              </a:rPr>
              <a:t>오류 유형
기준선 기록</a:t>
            </a:r>
            <a:endParaRPr lang="en-US" dirty="0">
              <a:latin typeface="Noto Sans KR" panose="020B0200000000000000" pitchFamily="50" charset="-127"/>
            </a:endParaRPr>
          </a:p>
        </p:txBody>
      </p:sp>
      <p:sp>
        <p:nvSpPr>
          <p:cNvPr id="14" name="Text 12"/>
          <p:cNvSpPr/>
          <p:nvPr/>
        </p:nvSpPr>
        <p:spPr>
          <a:xfrm>
            <a:off x="3424428" y="3154680"/>
            <a:ext cx="2464308" cy="384048"/>
          </a:xfrm>
          <a:prstGeom prst="rect">
            <a:avLst/>
          </a:prstGeom>
          <a:noFill/>
          <a:ln/>
        </p:spPr>
        <p:txBody>
          <a:bodyPr wrap="square" lIns="0" tIns="0" rIns="0" bIns="0" rtlCol="0" anchor="t"/>
          <a:lstStyle/>
          <a:p>
            <a:pPr marL="0" indent="0"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교육 후 업무 적용</a:t>
            </a:r>
            <a:endParaRPr lang="en-US" sz="1800" dirty="0"/>
          </a:p>
        </p:txBody>
      </p:sp>
      <p:sp>
        <p:nvSpPr>
          <p:cNvPr id="15" name="Text 13"/>
          <p:cNvSpPr/>
          <p:nvPr/>
        </p:nvSpPr>
        <p:spPr>
          <a:xfrm>
            <a:off x="3424428" y="3648456"/>
            <a:ext cx="2235708" cy="795528"/>
          </a:xfrm>
          <a:prstGeom prst="rect">
            <a:avLst/>
          </a:prstGeom>
          <a:noFill/>
          <a:ln/>
        </p:spPr>
        <p:txBody>
          <a:bodyPr wrap="square" lIns="0" tIns="0" rIns="0" bIns="0" rtlCol="0" anchor="t"/>
          <a:lstStyle/>
          <a:p>
            <a:pPr marL="0" indent="0" hangingPunct="0">
              <a:lnSpc>
                <a:spcPct val="135000"/>
              </a:lnSpc>
              <a:buNone/>
            </a:pPr>
            <a:r>
              <a:rPr lang="ko-KR" altLang="en-US">
                <a:solidFill>
                  <a:srgbClr val="3C4D5D"/>
                </a:solidFill>
                <a:latin typeface="Noto Sans KR" panose="020B0200000000000000" pitchFamily="50" charset="-127"/>
                <a:ea typeface="Noto Sans KR" pitchFamily="34" charset="-122"/>
                <a:cs typeface="Noto Sans KR" pitchFamily="34" charset="-120"/>
              </a:rPr>
              <a:t>허용 자료로
업무 실행</a:t>
            </a:r>
            <a:endParaRPr lang="en-US" dirty="0">
              <a:latin typeface="Noto Sans KR" panose="020B0200000000000000" pitchFamily="50" charset="-127"/>
            </a:endParaRPr>
          </a:p>
        </p:txBody>
      </p:sp>
      <p:sp>
        <p:nvSpPr>
          <p:cNvPr id="16" name="Text 14"/>
          <p:cNvSpPr/>
          <p:nvPr/>
        </p:nvSpPr>
        <p:spPr>
          <a:xfrm>
            <a:off x="6300216" y="3154680"/>
            <a:ext cx="2464308" cy="384048"/>
          </a:xfrm>
          <a:prstGeom prst="rect">
            <a:avLst/>
          </a:prstGeom>
          <a:noFill/>
          <a:ln/>
        </p:spPr>
        <p:txBody>
          <a:bodyPr wrap="square" lIns="0" tIns="0" rIns="0" bIns="0" rtlCol="0" anchor="t"/>
          <a:lstStyle/>
          <a:p>
            <a:pPr marL="0" indent="0"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재작업 원인 개선</a:t>
            </a:r>
            <a:endParaRPr lang="en-US" sz="1800" dirty="0"/>
          </a:p>
        </p:txBody>
      </p:sp>
      <p:sp>
        <p:nvSpPr>
          <p:cNvPr id="17" name="Text 15"/>
          <p:cNvSpPr/>
          <p:nvPr/>
        </p:nvSpPr>
        <p:spPr>
          <a:xfrm>
            <a:off x="6300216" y="3648456"/>
            <a:ext cx="2235708" cy="795528"/>
          </a:xfrm>
          <a:prstGeom prst="rect">
            <a:avLst/>
          </a:prstGeom>
          <a:noFill/>
          <a:ln/>
        </p:spPr>
        <p:txBody>
          <a:bodyPr wrap="square" lIns="0" tIns="0" rIns="0" bIns="0" rtlCol="0" anchor="t"/>
          <a:lstStyle/>
          <a:p>
            <a:pPr marL="0" indent="0" hangingPunct="0">
              <a:lnSpc>
                <a:spcPct val="135000"/>
              </a:lnSpc>
              <a:buNone/>
            </a:pPr>
            <a:r>
              <a:rPr lang="en-US" dirty="0">
                <a:solidFill>
                  <a:srgbClr val="3C4D5D"/>
                </a:solidFill>
                <a:latin typeface="Noto Sans KR" panose="020B0200000000000000" pitchFamily="50" charset="-127"/>
                <a:ea typeface="Noto Sans KR" pitchFamily="34" charset="-122"/>
                <a:cs typeface="Noto Sans KR" pitchFamily="34" charset="-120"/>
              </a:rPr>
              <a:t>요청문과</a:t>
            </a:r>
            <a:br>
              <a:rPr>
                <a:latin typeface="Noto Sans KR" panose="020B0200000000000000" pitchFamily="50" charset="-127"/>
              </a:rPr>
            </a:br>
            <a:r>
              <a:rPr lang="en-US" dirty="0">
                <a:solidFill>
                  <a:srgbClr val="3C4D5D"/>
                </a:solidFill>
                <a:latin typeface="Noto Sans KR" panose="020B0200000000000000" pitchFamily="50" charset="-127"/>
                <a:ea typeface="Noto Sans KR" pitchFamily="34" charset="-122"/>
                <a:cs typeface="Noto Sans KR" pitchFamily="34" charset="-120"/>
              </a:rPr>
              <a:t>검수 절차 보완</a:t>
            </a:r>
            <a:endParaRPr lang="en-US" dirty="0">
              <a:latin typeface="Noto Sans KR" panose="020B0200000000000000" pitchFamily="50" charset="-127"/>
            </a:endParaRPr>
          </a:p>
        </p:txBody>
      </p:sp>
      <p:sp>
        <p:nvSpPr>
          <p:cNvPr id="18" name="Text 16"/>
          <p:cNvSpPr/>
          <p:nvPr/>
        </p:nvSpPr>
        <p:spPr>
          <a:xfrm>
            <a:off x="9176004" y="3154680"/>
            <a:ext cx="2464308" cy="384048"/>
          </a:xfrm>
          <a:prstGeom prst="rect">
            <a:avLst/>
          </a:prstGeom>
          <a:noFill/>
          <a:ln/>
        </p:spPr>
        <p:txBody>
          <a:bodyPr wrap="square" lIns="0" tIns="0" rIns="0" bIns="0" rtlCol="0" anchor="t"/>
          <a:lstStyle/>
          <a:p>
            <a:pPr marL="0" indent="0" hangingPunct="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확대 여부 판단</a:t>
            </a:r>
            <a:endParaRPr lang="en-US" sz="1800" dirty="0"/>
          </a:p>
        </p:txBody>
      </p:sp>
      <p:sp>
        <p:nvSpPr>
          <p:cNvPr id="19" name="Text 17"/>
          <p:cNvSpPr/>
          <p:nvPr/>
        </p:nvSpPr>
        <p:spPr>
          <a:xfrm>
            <a:off x="9176004" y="3648456"/>
            <a:ext cx="2235708" cy="795528"/>
          </a:xfrm>
          <a:prstGeom prst="rect">
            <a:avLst/>
          </a:prstGeom>
          <a:noFill/>
          <a:ln/>
        </p:spPr>
        <p:txBody>
          <a:bodyPr wrap="square" lIns="0" tIns="0" rIns="0" bIns="0" rtlCol="0" anchor="t"/>
          <a:lstStyle/>
          <a:p>
            <a:pPr marL="0" indent="0" hangingPunct="0">
              <a:lnSpc>
                <a:spcPct val="135000"/>
              </a:lnSpc>
              <a:buNone/>
            </a:pPr>
            <a:r>
              <a:rPr lang="en-US" dirty="0">
                <a:solidFill>
                  <a:srgbClr val="3C4D5D"/>
                </a:solidFill>
                <a:latin typeface="Noto Sans KR" panose="020B0200000000000000" pitchFamily="50" charset="-127"/>
                <a:ea typeface="Noto Sans KR" pitchFamily="34" charset="-122"/>
                <a:cs typeface="Noto Sans KR" pitchFamily="34" charset="-120"/>
              </a:rPr>
              <a:t>시간·정확도와</a:t>
            </a:r>
            <a:br>
              <a:rPr>
                <a:latin typeface="Noto Sans KR" panose="020B0200000000000000" pitchFamily="50" charset="-127"/>
              </a:rPr>
            </a:br>
            <a:r>
              <a:rPr lang="en-US" dirty="0">
                <a:solidFill>
                  <a:srgbClr val="3C4D5D"/>
                </a:solidFill>
                <a:latin typeface="Noto Sans KR" panose="020B0200000000000000" pitchFamily="50" charset="-127"/>
                <a:ea typeface="Noto Sans KR" pitchFamily="34" charset="-122"/>
                <a:cs typeface="Noto Sans KR" pitchFamily="34" charset="-120"/>
              </a:rPr>
              <a:t>사용자 의견 비교</a:t>
            </a:r>
            <a:endParaRPr lang="en-US" dirty="0">
              <a:latin typeface="Noto Sans KR" panose="020B0200000000000000" pitchFamily="50" charset="-127"/>
            </a:endParaRPr>
          </a:p>
        </p:txBody>
      </p:sp>
      <p:sp>
        <p:nvSpPr>
          <p:cNvPr id="20" name="Shape 18"/>
          <p:cNvSpPr/>
          <p:nvPr/>
        </p:nvSpPr>
        <p:spPr>
          <a:xfrm>
            <a:off x="548640" y="4617720"/>
            <a:ext cx="11091672" cy="685800"/>
          </a:xfrm>
          <a:prstGeom prst="rect">
            <a:avLst/>
          </a:prstGeom>
          <a:solidFill>
            <a:srgbClr val="E1E9F4"/>
          </a:solidFill>
          <a:ln w="12700">
            <a:solidFill>
              <a:srgbClr val="E1E9F4"/>
            </a:solidFill>
            <a:prstDash val="solid"/>
          </a:ln>
        </p:spPr>
        <p:txBody>
          <a:bodyPr/>
          <a:lstStyle/>
          <a:p>
            <a:endParaRPr lang="ko-KR" altLang="en-US"/>
          </a:p>
        </p:txBody>
      </p:sp>
      <p:sp>
        <p:nvSpPr>
          <p:cNvPr id="21" name="mixdog-spec:callout:informative"/>
          <p:cNvSpPr/>
          <p:nvPr/>
        </p:nvSpPr>
        <p:spPr>
          <a:xfrm>
            <a:off x="777240" y="4617720"/>
            <a:ext cx="10634472" cy="685800"/>
          </a:xfrm>
          <a:prstGeom prst="rect">
            <a:avLst/>
          </a:prstGeom>
          <a:noFill/>
          <a:ln/>
        </p:spPr>
        <p:txBody>
          <a:bodyPr wrap="square" lIns="0" tIns="0" rIns="0" bIns="0" rtlCol="0" anchor="ctr"/>
          <a:lstStyle/>
          <a:p>
            <a:pPr marL="0" indent="0" hangingPunct="0">
              <a:buNone/>
            </a:pPr>
            <a:r>
              <a:rPr lang="en-US" sz="1400" dirty="0">
                <a:solidFill>
                  <a:srgbClr val="3D5271"/>
                </a:solidFill>
                <a:latin typeface="Noto Sans KR" pitchFamily="34" charset="0"/>
                <a:ea typeface="Noto Sans KR" pitchFamily="34" charset="-122"/>
                <a:cs typeface="Noto Sans KR" pitchFamily="34" charset="-120"/>
              </a:rPr>
              <a:t>시간이 줄어도 정확도가 나빠지면 확대하지 않는다.</a:t>
            </a:r>
            <a:endParaRPr lang="en-US" sz="1400" dirty="0"/>
          </a:p>
        </p:txBody>
      </p:sp>
      <p:sp>
        <p:nvSpPr>
          <p:cNvPr id="22" name="Text 20"/>
          <p:cNvSpPr/>
          <p:nvPr/>
        </p:nvSpPr>
        <p:spPr>
          <a:xfrm>
            <a:off x="548640" y="6144768"/>
            <a:ext cx="1054303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일정. 총시간은 작성 시간과 검수 시간의 합으로 측정한다.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A6672"/>
                </a:solidFill>
                <a:latin typeface="Arial"/>
                <a:ea typeface="Arial"/>
                <a:cs typeface="Arial"/>
              </a:defRPr>
            </a:lvl1pPr>
          </a:lstStyle>
          <a:p>
            <a:pPr algn="r" hangingPunct="0"/>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68512" y="1463040"/>
            <a:ext cx="2971800" cy="4434840"/>
          </a:xfrm>
          <a:prstGeom prst="rect">
            <a:avLst/>
          </a:prstGeom>
          <a:solidFill>
            <a:srgbClr val="1D2B3A"/>
          </a:solidFill>
          <a:ln w="12700">
            <a:solidFill>
              <a:srgbClr val="1D2B3A"/>
            </a:solidFill>
            <a:prstDash val="solid"/>
          </a:ln>
        </p:spPr>
        <p:txBody>
          <a:bodyPr/>
          <a:lstStyle/>
          <a:p>
            <a:endParaRPr lang="ko-KR" altLang="en-US"/>
          </a:p>
        </p:txBody>
      </p:sp>
      <p:sp>
        <p:nvSpPr>
          <p:cNvPr id="3" name="Text 1"/>
          <p:cNvSpPr/>
          <p:nvPr/>
        </p:nvSpPr>
        <p:spPr>
          <a:xfrm>
            <a:off x="548640" y="548640"/>
            <a:ext cx="5486400" cy="274320"/>
          </a:xfrm>
          <a:prstGeom prst="rect">
            <a:avLst/>
          </a:prstGeom>
          <a:noFill/>
          <a:ln/>
        </p:spPr>
        <p:txBody>
          <a:bodyPr wrap="square" lIns="0" tIns="0" rIns="0" bIns="0" rtlCol="0" anchor="ctr"/>
          <a:lstStyle/>
          <a:p>
            <a:pPr marL="0" indent="0" hangingPunct="0">
              <a:buNone/>
            </a:pPr>
            <a:r>
              <a:rPr lang="en-US" sz="1100" b="1" dirty="0">
                <a:solidFill>
                  <a:srgbClr val="E6BD94"/>
                </a:solidFill>
                <a:latin typeface="Noto Sans KR" pitchFamily="34" charset="0"/>
                <a:ea typeface="Noto Sans KR" pitchFamily="34" charset="-122"/>
                <a:cs typeface="Noto Sans KR" pitchFamily="34" charset="-120"/>
              </a:rPr>
              <a:t>승인 요청</a:t>
            </a:r>
            <a:endParaRPr lang="en-US" sz="1100" dirty="0"/>
          </a:p>
        </p:txBody>
      </p:sp>
      <p:sp>
        <p:nvSpPr>
          <p:cNvPr id="4" name="Text 2"/>
          <p:cNvSpPr/>
          <p:nvPr/>
        </p:nvSpPr>
        <p:spPr>
          <a:xfrm>
            <a:off x="548640" y="1828800"/>
            <a:ext cx="7708392" cy="1630680"/>
          </a:xfrm>
          <a:prstGeom prst="rect">
            <a:avLst/>
          </a:prstGeom>
          <a:noFill/>
          <a:ln/>
        </p:spPr>
        <p:txBody>
          <a:bodyPr wrap="square" lIns="0" tIns="0" rIns="0" bIns="0" rtlCol="0" anchor="t"/>
          <a:lstStyle/>
          <a:p>
            <a:pPr marL="0" indent="0" algn="l" hangingPunct="0">
              <a:lnSpc>
                <a:spcPct val="110000"/>
              </a:lnSpc>
              <a:buNone/>
            </a:pPr>
            <a:r>
              <a:rPr lang="en-US" sz="4700" b="1" dirty="0">
                <a:solidFill>
                  <a:srgbClr val="EDF0F3"/>
                </a:solidFill>
                <a:latin typeface="Noto Sans KR" pitchFamily="34" charset="0"/>
                <a:ea typeface="Noto Sans KR" pitchFamily="34" charset="-122"/>
                <a:cs typeface="Noto Sans KR" pitchFamily="34" charset="-120"/>
              </a:rPr>
              <a:t>시범 운영을 승인하고,</a:t>
            </a:r>
            <a:br/>
            <a:r>
              <a:rPr lang="en-US" sz="4700" b="1" dirty="0">
                <a:solidFill>
                  <a:srgbClr val="EDF0F3"/>
                </a:solidFill>
                <a:latin typeface="Noto Sans KR" pitchFamily="34" charset="0"/>
                <a:ea typeface="Noto Sans KR" pitchFamily="34" charset="-122"/>
                <a:cs typeface="Noto Sans KR" pitchFamily="34" charset="-120"/>
              </a:rPr>
              <a:t>확대는 결과로 결정합니다</a:t>
            </a:r>
            <a:endParaRPr lang="en-US" sz="4700" dirty="0"/>
          </a:p>
        </p:txBody>
      </p:sp>
      <p:sp>
        <p:nvSpPr>
          <p:cNvPr id="5" name="Text 3"/>
          <p:cNvSpPr/>
          <p:nvPr/>
        </p:nvSpPr>
        <p:spPr>
          <a:xfrm>
            <a:off x="548640" y="3870960"/>
            <a:ext cx="7708392" cy="960120"/>
          </a:xfrm>
          <a:prstGeom prst="rect">
            <a:avLst/>
          </a:prstGeom>
          <a:noFill/>
          <a:ln/>
        </p:spPr>
        <p:txBody>
          <a:bodyPr wrap="square" lIns="0" tIns="0" rIns="0" bIns="0" rtlCol="0" anchor="t"/>
          <a:lstStyle/>
          <a:p>
            <a:pPr marL="0" indent="0" algn="l" hangingPunct="0">
              <a:lnSpc>
                <a:spcPct val="135000"/>
              </a:lnSpc>
              <a:buNone/>
            </a:pPr>
            <a:r>
              <a:rPr lang="ko-KR" altLang="en-US" sz="2200">
                <a:solidFill>
                  <a:srgbClr val="AEB8C2"/>
                </a:solidFill>
                <a:latin typeface="Noto Sans KR" panose="020B0200000000000000" pitchFamily="50" charset="-127"/>
                <a:ea typeface="Noto Sans KR" pitchFamily="34" charset="-122"/>
                <a:cs typeface="Noto Sans KR" pitchFamily="34" charset="-120"/>
              </a:rPr>
              <a:t>운영 책임자를 지정하고 참여 팀을 정합니다</a:t>
            </a:r>
            <a:r>
              <a:rPr lang="en-US" altLang="ko-KR" sz="2200">
                <a:solidFill>
                  <a:srgbClr val="AEB8C2"/>
                </a:solidFill>
                <a:latin typeface="Noto Sans KR" panose="020B0200000000000000" pitchFamily="50" charset="-127"/>
                <a:ea typeface="Noto Sans KR" pitchFamily="34" charset="-122"/>
                <a:cs typeface="Noto Sans KR" pitchFamily="34" charset="-120"/>
              </a:rPr>
              <a:t>.
</a:t>
            </a:r>
            <a:r>
              <a:rPr lang="ko-KR" altLang="en-US" sz="2200">
                <a:solidFill>
                  <a:srgbClr val="AEB8C2"/>
                </a:solidFill>
                <a:latin typeface="Noto Sans KR" panose="020B0200000000000000" pitchFamily="50" charset="-127"/>
                <a:ea typeface="Noto Sans KR" pitchFamily="34" charset="-122"/>
                <a:cs typeface="Noto Sans KR" pitchFamily="34" charset="-120"/>
              </a:rPr>
              <a:t>허용 자료와 대상 업무를 확정합니다</a:t>
            </a:r>
            <a:r>
              <a:rPr lang="en-US" altLang="ko-KR" sz="2200">
                <a:solidFill>
                  <a:srgbClr val="AEB8C2"/>
                </a:solidFill>
                <a:latin typeface="Noto Sans KR" panose="020B0200000000000000" pitchFamily="50" charset="-127"/>
                <a:ea typeface="Noto Sans KR" pitchFamily="34" charset="-122"/>
                <a:cs typeface="Noto Sans KR" pitchFamily="34" charset="-120"/>
              </a:rPr>
              <a:t>.</a:t>
            </a:r>
            <a:endParaRPr lang="en-US" sz="2200" dirty="0">
              <a:latin typeface="Noto Sans KR" panose="020B0200000000000000" pitchFamily="50" charset="-127"/>
            </a:endParaRPr>
          </a:p>
        </p:txBody>
      </p:sp>
      <p:sp>
        <p:nvSpPr>
          <p:cNvPr id="6" name="Text 4"/>
          <p:cNvSpPr/>
          <p:nvPr/>
        </p:nvSpPr>
        <p:spPr>
          <a:xfrm>
            <a:off x="8897112" y="1691640"/>
            <a:ext cx="2514600" cy="384048"/>
          </a:xfrm>
          <a:prstGeom prst="rect">
            <a:avLst/>
          </a:prstGeom>
          <a:noFill/>
          <a:ln/>
        </p:spPr>
        <p:txBody>
          <a:bodyPr wrap="square" lIns="0" tIns="0" rIns="0" bIns="0" rtlCol="0" anchor="t"/>
          <a:lstStyle/>
          <a:p>
            <a:pPr marL="0" indent="0" hangingPunct="0">
              <a:lnSpc>
                <a:spcPct val="120000"/>
              </a:lnSpc>
              <a:buNone/>
            </a:pPr>
            <a:r>
              <a:rPr lang="en-US" sz="1800" b="1" dirty="0">
                <a:solidFill>
                  <a:srgbClr val="EDF0F3"/>
                </a:solidFill>
                <a:latin typeface="Noto Sans KR" pitchFamily="34" charset="0"/>
                <a:ea typeface="Noto Sans KR" pitchFamily="34" charset="-122"/>
                <a:cs typeface="Noto Sans KR" pitchFamily="34" charset="-120"/>
              </a:rPr>
              <a:t>제안 범위</a:t>
            </a:r>
            <a:endParaRPr lang="en-US" sz="1800" dirty="0"/>
          </a:p>
        </p:txBody>
      </p:sp>
      <p:sp>
        <p:nvSpPr>
          <p:cNvPr id="7" name="Text 5"/>
          <p:cNvSpPr/>
          <p:nvPr/>
        </p:nvSpPr>
        <p:spPr>
          <a:xfrm>
            <a:off x="8897112" y="2185416"/>
            <a:ext cx="2514600" cy="1045464"/>
          </a:xfrm>
          <a:prstGeom prst="rect">
            <a:avLst/>
          </a:prstGeom>
          <a:noFill/>
          <a:ln/>
        </p:spPr>
        <p:txBody>
          <a:bodyPr wrap="square" lIns="0" tIns="0" rIns="0" bIns="0" rtlCol="0" anchor="t"/>
          <a:lstStyle/>
          <a:p>
            <a:pPr marL="0" indent="0" hangingPunct="0">
              <a:lnSpc>
                <a:spcPct val="100000"/>
              </a:lnSpc>
              <a:buNone/>
            </a:pPr>
            <a:r>
              <a:rPr lang="en-US" sz="6500" b="1" dirty="0">
                <a:solidFill>
                  <a:srgbClr val="E6BD94"/>
                </a:solidFill>
                <a:latin typeface="Noto Sans KR" pitchFamily="34" charset="0"/>
                <a:ea typeface="Noto Sans KR" pitchFamily="34" charset="-122"/>
                <a:cs typeface="Noto Sans KR" pitchFamily="34" charset="-120"/>
              </a:rPr>
              <a:t>4주</a:t>
            </a:r>
            <a:endParaRPr lang="en-US" sz="6500" dirty="0"/>
          </a:p>
        </p:txBody>
      </p:sp>
      <p:sp>
        <p:nvSpPr>
          <p:cNvPr id="8" name="Text 6"/>
          <p:cNvSpPr/>
          <p:nvPr/>
        </p:nvSpPr>
        <p:spPr>
          <a:xfrm>
            <a:off x="8897112" y="3642360"/>
            <a:ext cx="2514600" cy="795528"/>
          </a:xfrm>
          <a:prstGeom prst="rect">
            <a:avLst/>
          </a:prstGeom>
          <a:noFill/>
          <a:ln/>
        </p:spPr>
        <p:txBody>
          <a:bodyPr wrap="square" lIns="0" tIns="0" rIns="0" bIns="0" rtlCol="0" anchor="t"/>
          <a:lstStyle/>
          <a:p>
            <a:pPr marL="0" indent="0" hangingPunct="0">
              <a:lnSpc>
                <a:spcPct val="135000"/>
              </a:lnSpc>
              <a:buNone/>
            </a:pPr>
            <a:r>
              <a:rPr lang="en-US" sz="1800" dirty="0">
                <a:solidFill>
                  <a:srgbClr val="EDF0F3"/>
                </a:solidFill>
                <a:latin typeface="Noto Sans KR" pitchFamily="34" charset="0"/>
                <a:ea typeface="Noto Sans KR" pitchFamily="34" charset="-122"/>
                <a:cs typeface="Noto Sans KR" pitchFamily="34" charset="-120"/>
              </a:rPr>
              <a:t>10명 참여</a:t>
            </a:r>
            <a:br/>
            <a:r>
              <a:rPr lang="en-US" sz="1800" dirty="0">
                <a:solidFill>
                  <a:srgbClr val="EDF0F3"/>
                </a:solidFill>
                <a:latin typeface="Noto Sans KR" pitchFamily="34" charset="0"/>
                <a:ea typeface="Noto Sans KR" pitchFamily="34" charset="-122"/>
                <a:cs typeface="Noto Sans KR" pitchFamily="34" charset="-120"/>
              </a:rPr>
              <a:t>반복 업무 3개</a:t>
            </a:r>
            <a:endParaRPr lang="en-US" sz="1800" dirty="0"/>
          </a:p>
        </p:txBody>
      </p:sp>
      <p:sp>
        <p:nvSpPr>
          <p:cNvPr id="9" name="Text 7"/>
          <p:cNvSpPr/>
          <p:nvPr/>
        </p:nvSpPr>
        <p:spPr>
          <a:xfrm>
            <a:off x="8897112" y="4547616"/>
            <a:ext cx="2514600" cy="530352"/>
          </a:xfrm>
          <a:prstGeom prst="rect">
            <a:avLst/>
          </a:prstGeom>
          <a:noFill/>
          <a:ln/>
        </p:spPr>
        <p:txBody>
          <a:bodyPr wrap="square" lIns="0" tIns="0" rIns="0" bIns="0" rtlCol="0" anchor="t"/>
          <a:lstStyle/>
          <a:p>
            <a:pPr marL="0" indent="0" hangingPunct="0">
              <a:lnSpc>
                <a:spcPct val="120000"/>
              </a:lnSpc>
              <a:buNone/>
            </a:pPr>
            <a:r>
              <a:rPr lang="en-US" sz="1300" dirty="0">
                <a:solidFill>
                  <a:srgbClr val="AEB8C2"/>
                </a:solidFill>
                <a:latin typeface="Noto Sans KR" pitchFamily="34" charset="0"/>
                <a:ea typeface="Noto Sans KR" pitchFamily="34" charset="-122"/>
                <a:cs typeface="Noto Sans KR" pitchFamily="34" charset="-120"/>
              </a:rPr>
              <a:t>종료 후 실측 결과로</a:t>
            </a:r>
            <a:br/>
            <a:r>
              <a:rPr lang="en-US" sz="1300" dirty="0">
                <a:solidFill>
                  <a:srgbClr val="AEB8C2"/>
                </a:solidFill>
                <a:latin typeface="Noto Sans KR" pitchFamily="34" charset="0"/>
                <a:ea typeface="Noto Sans KR" pitchFamily="34" charset="-122"/>
                <a:cs typeface="Noto Sans KR" pitchFamily="34" charset="-120"/>
              </a:rPr>
              <a:t>확대 또는 보완</a:t>
            </a:r>
            <a:endParaRPr lang="en-US" sz="1300" dirty="0"/>
          </a:p>
        </p:txBody>
      </p:sp>
      <p:sp>
        <p:nvSpPr>
          <p:cNvPr id="10" name="Text 8"/>
          <p:cNvSpPr/>
          <p:nvPr/>
        </p:nvSpPr>
        <p:spPr>
          <a:xfrm>
            <a:off x="548640" y="6080760"/>
            <a:ext cx="7708392" cy="292608"/>
          </a:xfrm>
          <a:prstGeom prst="rect">
            <a:avLst/>
          </a:prstGeom>
          <a:noFill/>
          <a:ln/>
        </p:spPr>
        <p:txBody>
          <a:bodyPr wrap="square" lIns="0" tIns="0" rIns="0" bIns="0" rtlCol="0" anchor="t"/>
          <a:lstStyle/>
          <a:p>
            <a:pPr marL="0" indent="0" algn="l" hangingPunct="0">
              <a:lnSpc>
                <a:spcPct val="120000"/>
              </a:lnSpc>
              <a:buNone/>
            </a:pPr>
            <a:r>
              <a:rPr lang="en-US" sz="1300" dirty="0">
                <a:solidFill>
                  <a:srgbClr val="AEB8C2"/>
                </a:solidFill>
                <a:latin typeface="Noto Sans KR" pitchFamily="34" charset="0"/>
                <a:ea typeface="Noto Sans KR" pitchFamily="34" charset="-122"/>
                <a:cs typeface="Noto Sans KR" pitchFamily="34" charset="-120"/>
              </a:rPr>
              <a:t>디자인 샘플 · 수치와 운영 범위는 예시</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1335</Words>
  <Application>Microsoft Office PowerPoint</Application>
  <PresentationFormat>와이드스크린</PresentationFormat>
  <Paragraphs>131</Paragraphs>
  <Slides>8</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Noto Sans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Mixdog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작게 도입하고 효과로 확장한다</dc:title>
  <dc:subject>AI 업무 도구 도입 제안서 — 예시 수치를 사용한 디자인 샘플</dc:subject>
  <dc:creator>Mixdog</dc:creator>
  <cp:lastModifiedBy>재영 박</cp:lastModifiedBy>
  <cp:revision>2</cp:revision>
  <dcterms:created xsi:type="dcterms:W3CDTF">2026-09-07T00:48:21Z</dcterms:created>
  <dcterms:modified xsi:type="dcterms:W3CDTF">2026-09-07T01:09:50Z</dcterms:modified>
</cp:coreProperties>
</file>