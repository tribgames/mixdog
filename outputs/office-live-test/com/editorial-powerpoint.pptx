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3"/>
          <c:y val="0.14"/>
          <c:w val="0.94"/>
          <c:h val="0.7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FAF8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2024 물류비</c:v>
                  </c:pt>
                  <c:pt idx="1">
                    <c:v>대기</c:v>
                  </c:pt>
                  <c:pt idx="2">
                    <c:v>우회</c:v>
                  </c:pt>
                  <c:pt idx="3">
                    <c:v>인건비</c:v>
                  </c:pt>
                  <c:pt idx="4">
                    <c:v>연료 절감</c:v>
                  </c:pt>
                  <c:pt idx="5">
                    <c:v>2026 물류비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4200</c:v>
                </c:pt>
                <c:pt idx="2">
                  <c:v>4580</c:v>
                </c:pt>
                <c:pt idx="3">
                  <c:v>4840</c:v>
                </c:pt>
                <c:pt idx="4">
                  <c:v>5030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합계</c:v>
                </c:pt>
              </c:strCache>
            </c:strRef>
          </c:tx>
          <c:spPr>
            <a:solidFill>
              <a:srgbClr val="6C65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2024 물류비</c:v>
                  </c:pt>
                  <c:pt idx="1">
                    <c:v>대기</c:v>
                  </c:pt>
                  <c:pt idx="2">
                    <c:v>우회</c:v>
                  </c:pt>
                  <c:pt idx="3">
                    <c:v>인건비</c:v>
                  </c:pt>
                  <c:pt idx="4">
                    <c:v>연료 절감</c:v>
                  </c:pt>
                  <c:pt idx="5">
                    <c:v>2026 물류비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4200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5030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증가</c:v>
                </c:pt>
              </c:strCache>
            </c:strRef>
          </c:tx>
          <c:spPr>
            <a:solidFill>
              <a:srgbClr val="1AB6D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2024 물류비</c:v>
                  </c:pt>
                  <c:pt idx="1">
                    <c:v>대기</c:v>
                  </c:pt>
                  <c:pt idx="2">
                    <c:v>우회</c:v>
                  </c:pt>
                  <c:pt idx="3">
                    <c:v>인건비</c:v>
                  </c:pt>
                  <c:pt idx="4">
                    <c:v>연료 절감</c:v>
                  </c:pt>
                  <c:pt idx="5">
                    <c:v>2026 물류비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380</c:v>
                </c:pt>
                <c:pt idx="2">
                  <c:v>260</c:v>
                </c:pt>
                <c:pt idx="3">
                  <c:v>310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감소</c:v>
                </c:pt>
              </c:strCache>
            </c:strRef>
          </c:tx>
          <c:spPr>
            <a:solidFill>
              <a:srgbClr val="D0CB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2024 물류비</c:v>
                  </c:pt>
                  <c:pt idx="1">
                    <c:v>대기</c:v>
                  </c:pt>
                  <c:pt idx="2">
                    <c:v>우회</c:v>
                  </c:pt>
                  <c:pt idx="3">
                    <c:v>인건비</c:v>
                  </c:pt>
                  <c:pt idx="4">
                    <c:v>연료 절감</c:v>
                  </c:pt>
                  <c:pt idx="5">
                    <c:v>2026 물류비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120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2645A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922.49999999999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정체 지수</c:v>
                </c:pt>
              </c:strCache>
            </c:strRef>
          </c:tx>
          <c:spPr>
            <a:solidFill>
              <a:srgbClr val="D0CBC8"/>
            </a:solidFill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1AB6D5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A473A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23년</c:v>
                  </c:pt>
                  <c:pt idx="1">
                    <c:v>24년</c:v>
                  </c:pt>
                  <c:pt idx="2">
                    <c:v>25년</c:v>
                  </c:pt>
                  <c:pt idx="3">
                    <c:v>26년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64</c:v>
                </c:pt>
                <c:pt idx="2">
                  <c:v>71</c:v>
                </c:pt>
                <c:pt idx="3">
                  <c:v>73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100" u="none">
                  <a:solidFill>
                    <a:srgbClr val="5A473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2645A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정체 지수</c:v>
                </c:pt>
              </c:strCache>
            </c:strRef>
          </c:tx>
          <c:spPr>
            <a:solidFill>
              <a:srgbClr val="D0CBC8"/>
            </a:solidFill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1AB6D5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A473A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23년</c:v>
                  </c:pt>
                  <c:pt idx="1">
                    <c:v>24년</c:v>
                  </c:pt>
                  <c:pt idx="2">
                    <c:v>25년</c:v>
                  </c:pt>
                  <c:pt idx="3">
                    <c:v>26년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49</c:v>
                </c:pt>
                <c:pt idx="2">
                  <c:v>55</c:v>
                </c:pt>
                <c:pt idx="3">
                  <c:v>57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100" u="none">
                  <a:solidFill>
                    <a:srgbClr val="5A473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2645A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정체 지수</c:v>
                </c:pt>
              </c:strCache>
            </c:strRef>
          </c:tx>
          <c:spPr>
            <a:solidFill>
              <a:srgbClr val="D0CBC8"/>
            </a:solidFill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1AB6D5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A473A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23년</c:v>
                  </c:pt>
                  <c:pt idx="1">
                    <c:v>24년</c:v>
                  </c:pt>
                  <c:pt idx="2">
                    <c:v>25년</c:v>
                  </c:pt>
                  <c:pt idx="3">
                    <c:v>26년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42</c:v>
                </c:pt>
                <c:pt idx="2">
                  <c:v>46</c:v>
                </c:pt>
                <c:pt idx="3">
                  <c:v>47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100" u="none">
                  <a:solidFill>
                    <a:srgbClr val="5A473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2645A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41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2B6AE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241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Relationship Id="rId9" Type="http://schemas.openxmlformats.org/officeDocument/2006/relationships/image" Target="../media/mixdog-icon-1.svg"/><Relationship Id="rId10" Type="http://schemas.openxmlformats.org/officeDocument/2006/relationships/image" Target="../media/mixdog-icon-2.svg"/><Relationship Id="rId11" Type="http://schemas.openxmlformats.org/officeDocument/2006/relationships/image" Target="../media/mixdog-icon-3.svg"/><Relationship Id="rId12" Type="http://schemas.openxmlformats.org/officeDocument/2006/relationships/image" Target="../media/mixdog-icon-4.svg"/><Relationship Id="rId13" Type="http://schemas.openxmlformats.org/officeDocument/2006/relationships/image" Target="../media/mixdog-icon-5.svg"/><Relationship Id="rId14" Type="http://schemas.openxmlformats.org/officeDocument/2006/relationships/image" Target="../media/mixdog-icon-6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mixdog-icon-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spc="400" kern="0" dirty="0">
                <a:solidFill>
                  <a:srgbClr val="15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REPORT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야간 배송을 막는 규제가</a:t>
            </a:r>
            <a:br/>
            <a:r>
              <a:rPr lang="en-US" sz="3600" b="1" dirty="0">
                <a:solidFill>
                  <a:srgbClr val="15718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도시 비용</a:t>
            </a:r>
            <a:r>
              <a:rPr lang="en-US" sz="36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을 키운다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655003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 물류 연구소는 2026년 한 해 동안 세 도시의 야간 배송 데이터를 모아, 규제가 교통과</a:t>
            </a:r>
            <a:br/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비용에 주는 영향을 추적했다.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348472" y="548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900" b="1" spc="400" kern="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 · NO.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7444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리포트의 결론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31820" y="3744468"/>
            <a:ext cx="0" cy="1005840"/>
          </a:xfrm>
          <a:prstGeom prst="line">
            <a:avLst/>
          </a:prstGeom>
          <a:noFill/>
          <a:ln w="12700">
            <a:solidFill>
              <a:srgbClr val="BFB6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3744468"/>
            <a:ext cx="8302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배송 제한이 주간 정체를 14% 키웠다</a:t>
            </a:r>
            <a:endParaRPr lang="en-US" sz="1300" dirty="0"/>
          </a:p>
          <a:p>
            <a:pPr hangingPunct="0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제한을 풀면 도시 물류비가 연 1,280억 원 줄어든다</a:t>
            </a:r>
            <a:endParaRPr lang="en-US" sz="1300" dirty="0"/>
          </a:p>
          <a:p>
            <a:pPr hangingPunct="0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소음 기준을 지키는 차량만 허용하면 민원은 늘지 않는다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물류 연구소 · 예시 데이터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물류비 증가의 절반이 대기와 우회에서 나왔다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971800" y="1948434"/>
          <a:ext cx="4954219" cy="378485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120427" y="1687830"/>
            <a:ext cx="128016" cy="128016"/>
          </a:xfrm>
          <a:prstGeom prst="rect">
            <a:avLst/>
          </a:prstGeom>
          <a:solidFill>
            <a:srgbClr val="6C6560"/>
          </a:solidFill>
          <a:ln w="12700">
            <a:solidFill>
              <a:srgbClr val="6C65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303307" y="1664970"/>
            <a:ext cx="31943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6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합계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034216" y="1687830"/>
            <a:ext cx="128016" cy="128016"/>
          </a:xfrm>
          <a:prstGeom prst="rect">
            <a:avLst/>
          </a:prstGeom>
          <a:solidFill>
            <a:srgbClr val="1AB6D5"/>
          </a:solidFill>
          <a:ln w="12700">
            <a:solidFill>
              <a:srgbClr val="1AB6D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17096" y="1664970"/>
            <a:ext cx="31943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6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증가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948006" y="1687830"/>
            <a:ext cx="128016" cy="128016"/>
          </a:xfrm>
          <a:prstGeom prst="rect">
            <a:avLst/>
          </a:prstGeom>
          <a:solidFill>
            <a:srgbClr val="D0CBC8"/>
          </a:solidFill>
          <a:ln w="12700">
            <a:solidFill>
              <a:srgbClr val="D0CB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30886" y="1664970"/>
            <a:ext cx="31943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6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감소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120427" y="2996560"/>
            <a:ext cx="7761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4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896588" y="2821712"/>
            <a:ext cx="7761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4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+380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672749" y="2702080"/>
            <a:ext cx="7761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4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+260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448910" y="2559441"/>
            <a:ext cx="7761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4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225071" y="2559441"/>
            <a:ext cx="7761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4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−120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001232" y="2614656"/>
            <a:ext cx="7761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4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5,030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337499" y="1664970"/>
            <a:ext cx="33028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5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대기와 우회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337499" y="1980438"/>
            <a:ext cx="330281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항목이 늘어난 비용 830억 원 가운데 640억</a:t>
            </a:r>
            <a:br/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원을 차지했다.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337499" y="2795778"/>
            <a:ext cx="3302813" cy="0"/>
          </a:xfrm>
          <a:prstGeom prst="line">
            <a:avLst/>
          </a:prstGeom>
          <a:noFill/>
          <a:ln w="12700">
            <a:solidFill>
              <a:srgbClr val="EBE8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37499" y="3001518"/>
            <a:ext cx="33028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5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연료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337499" y="3316986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전기 트럭 전환으로 연료비는 120억 원 줄었다.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단위: 억 원 · 세 도시 합산 (예시)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규제 뒤 평균 배송 시간이 네 권역 모두에서 늘었다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971800" y="1664970"/>
            <a:ext cx="4954219" cy="4068318"/>
          </a:xfrm>
          <a:prstGeom prst="rect">
            <a:avLst/>
          </a:prstGeom>
          <a:solidFill>
            <a:srgbClr val="EEEAE7"/>
          </a:solidFill>
          <a:ln w="12700">
            <a:solidFill>
              <a:srgbClr val="EEEA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939290"/>
            <a:ext cx="1143000" cy="811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도심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77420" y="2344960"/>
            <a:ext cx="905599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49404" y="2216944"/>
            <a:ext cx="256032" cy="256032"/>
          </a:xfrm>
          <a:prstGeom prst="ellipse">
            <a:avLst/>
          </a:prstGeom>
          <a:solidFill>
            <a:srgbClr val="6C6560"/>
          </a:solidFill>
          <a:ln w="12700">
            <a:solidFill>
              <a:srgbClr val="6C6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5003" y="2216944"/>
            <a:ext cx="256032" cy="256032"/>
          </a:xfrm>
          <a:prstGeom prst="ellipse">
            <a:avLst/>
          </a:prstGeom>
          <a:solidFill>
            <a:srgbClr val="1AB6D5"/>
          </a:solidFill>
          <a:ln w="12700">
            <a:solidFill>
              <a:srgbClr val="1AB6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7300" y="21620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65899" y="21620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2B1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2842070"/>
            <a:ext cx="1143000" cy="811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부도심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86768" y="3247739"/>
            <a:ext cx="524294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58752" y="3119723"/>
            <a:ext cx="256032" cy="256032"/>
          </a:xfrm>
          <a:prstGeom prst="ellipse">
            <a:avLst/>
          </a:prstGeom>
          <a:solidFill>
            <a:srgbClr val="6C6560"/>
          </a:solidFill>
          <a:ln w="12700">
            <a:solidFill>
              <a:srgbClr val="6C65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3046" y="3119723"/>
            <a:ext cx="256032" cy="256032"/>
          </a:xfrm>
          <a:prstGeom prst="ellipse">
            <a:avLst/>
          </a:prstGeom>
          <a:solidFill>
            <a:srgbClr val="1AB6D5"/>
          </a:solidFill>
          <a:ln w="12700">
            <a:solidFill>
              <a:srgbClr val="1AB6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6648" y="3064859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93942" y="3064859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2B1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3744849"/>
            <a:ext cx="1143000" cy="811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주거지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48452" y="4150519"/>
            <a:ext cx="381305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20436" y="4022503"/>
            <a:ext cx="256032" cy="256032"/>
          </a:xfrm>
          <a:prstGeom prst="ellipse">
            <a:avLst/>
          </a:prstGeom>
          <a:solidFill>
            <a:srgbClr val="6C6560"/>
          </a:solidFill>
          <a:ln w="12700">
            <a:solidFill>
              <a:srgbClr val="6C65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01741" y="4022503"/>
            <a:ext cx="256032" cy="256032"/>
          </a:xfrm>
          <a:prstGeom prst="ellipse">
            <a:avLst/>
          </a:prstGeom>
          <a:solidFill>
            <a:srgbClr val="1AB6D5"/>
          </a:solidFill>
          <a:ln w="12700">
            <a:solidFill>
              <a:srgbClr val="1AB6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8332" y="3967639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12637" y="3967639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2B1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4647629"/>
            <a:ext cx="1143000" cy="811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산업단지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57800" y="5053298"/>
            <a:ext cx="95326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9784" y="4925282"/>
            <a:ext cx="256032" cy="256032"/>
          </a:xfrm>
          <a:prstGeom prst="ellipse">
            <a:avLst/>
          </a:prstGeom>
          <a:solidFill>
            <a:srgbClr val="6C6560"/>
          </a:solidFill>
          <a:ln w="12700">
            <a:solidFill>
              <a:srgbClr val="6C65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25110" y="4925282"/>
            <a:ext cx="256032" cy="256032"/>
          </a:xfrm>
          <a:prstGeom prst="ellipse">
            <a:avLst/>
          </a:prstGeom>
          <a:solidFill>
            <a:srgbClr val="1AB6D5"/>
          </a:solidFill>
          <a:ln w="12700">
            <a:solidFill>
              <a:srgbClr val="1AB6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487041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36006" y="487041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2B1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37499" y="2178844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도심은 19분이 늘어 가장 크게 나빠졌다.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37499" y="3081623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부도심은 11분 늘었다.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37499" y="3984403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주거지는 8분 늘었다.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37499" y="4887182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산업단지는 거의 그대로다.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규제 전 2024년 3월, 규제 뒤 2025년 3월 평균 (예시)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정체와 비용이 서로를 키우는 고리가 생겼다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971800" y="1664970"/>
            <a:ext cx="4954219" cy="4068318"/>
          </a:xfrm>
          <a:prstGeom prst="rect">
            <a:avLst/>
          </a:prstGeom>
          <a:solidFill>
            <a:srgbClr val="EEEAE7"/>
          </a:solidFill>
          <a:ln w="12700">
            <a:solidFill>
              <a:srgbClr val="EEEA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57751" y="2807970"/>
            <a:ext cx="1782318" cy="1782318"/>
          </a:xfrm>
          <a:prstGeom prst="blockArc">
            <a:avLst>
              <a:gd name="adj1" fmla="val 16380000"/>
              <a:gd name="adj2" fmla="val 21420000"/>
              <a:gd name="adj3" fmla="val 14000"/>
            </a:avLst>
          </a:prstGeom>
          <a:solidFill>
            <a:srgbClr val="157184"/>
          </a:solidFill>
          <a:ln w="12700">
            <a:solidFill>
              <a:srgbClr val="157184"/>
            </a:solidFill>
            <a:prstDash val="solid"/>
          </a:ln>
        </p:spPr>
      </p:sp>
      <p:sp>
        <p:nvSpPr>
          <p:cNvPr id="6" name="mixdog-spec:structure:loop"/>
          <p:cNvSpPr/>
          <p:nvPr/>
        </p:nvSpPr>
        <p:spPr>
          <a:xfrm>
            <a:off x="6402343" y="2288495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3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몰림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57751" y="2807970"/>
            <a:ext cx="1782318" cy="1782318"/>
          </a:xfrm>
          <a:prstGeom prst="blockArc">
            <a:avLst>
              <a:gd name="adj1" fmla="val 180000"/>
              <a:gd name="adj2" fmla="val 5220000"/>
              <a:gd name="adj3" fmla="val 14000"/>
            </a:avLst>
          </a:prstGeom>
          <a:solidFill>
            <a:srgbClr val="FAF8F7"/>
          </a:solidFill>
          <a:ln w="12700">
            <a:solidFill>
              <a:srgbClr val="FAF8F7"/>
            </a:solidFill>
            <a:prstDash val="solid"/>
          </a:ln>
        </p:spPr>
      </p:sp>
      <p:sp>
        <p:nvSpPr>
          <p:cNvPr id="8" name="mixdog-spec:structure:loop"/>
          <p:cNvSpPr/>
          <p:nvPr/>
        </p:nvSpPr>
        <p:spPr>
          <a:xfrm>
            <a:off x="6402343" y="4652563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3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정체 증가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57751" y="2807970"/>
            <a:ext cx="1782318" cy="1782318"/>
          </a:xfrm>
          <a:prstGeom prst="blockArc">
            <a:avLst>
              <a:gd name="adj1" fmla="val 5580000"/>
              <a:gd name="adj2" fmla="val 10620000"/>
              <a:gd name="adj3" fmla="val 14000"/>
            </a:avLst>
          </a:prstGeom>
          <a:solidFill>
            <a:srgbClr val="FAF8F7"/>
          </a:solidFill>
          <a:ln w="12700">
            <a:solidFill>
              <a:srgbClr val="FAF8F7"/>
            </a:solidFill>
            <a:prstDash val="solid"/>
          </a:ln>
        </p:spPr>
      </p:sp>
      <p:sp>
        <p:nvSpPr>
          <p:cNvPr id="10" name="mixdog-spec:structure:loop"/>
          <p:cNvSpPr/>
          <p:nvPr/>
        </p:nvSpPr>
        <p:spPr>
          <a:xfrm>
            <a:off x="2666676" y="4652563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3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배송 지연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57751" y="2807970"/>
            <a:ext cx="1782318" cy="1782318"/>
          </a:xfrm>
          <a:prstGeom prst="blockArc">
            <a:avLst>
              <a:gd name="adj1" fmla="val 10980000"/>
              <a:gd name="adj2" fmla="val 16020000"/>
              <a:gd name="adj3" fmla="val 14000"/>
            </a:avLst>
          </a:prstGeom>
          <a:solidFill>
            <a:srgbClr val="FAF8F7"/>
          </a:solidFill>
          <a:ln w="12700">
            <a:solidFill>
              <a:srgbClr val="FAF8F7"/>
            </a:solidFill>
            <a:prstDash val="solid"/>
          </a:ln>
        </p:spPr>
      </p:sp>
      <p:sp>
        <p:nvSpPr>
          <p:cNvPr id="12" name="mixdog-spec:structure:loop"/>
          <p:cNvSpPr/>
          <p:nvPr/>
        </p:nvSpPr>
        <p:spPr>
          <a:xfrm>
            <a:off x="2666676" y="2288495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3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추가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62139" y="3112359"/>
            <a:ext cx="1173541" cy="1173541"/>
          </a:xfrm>
          <a:prstGeom prst="ellipse">
            <a:avLst/>
          </a:prstGeom>
          <a:solidFill>
            <a:srgbClr val="FAF8F7"/>
          </a:solidFill>
          <a:ln w="12700">
            <a:solidFill>
              <a:srgbClr val="FAF8F7"/>
            </a:solidFill>
            <a:prstDash val="solid"/>
          </a:ln>
        </p:spPr>
      </p:sp>
      <p:sp>
        <p:nvSpPr>
          <p:cNvPr id="14" name="mixdog-spec:structure:loop"/>
          <p:cNvSpPr/>
          <p:nvPr/>
        </p:nvSpPr>
        <p:spPr>
          <a:xfrm>
            <a:off x="4862139" y="3112359"/>
            <a:ext cx="1173541" cy="1173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6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악순환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7499" y="1893570"/>
            <a:ext cx="33028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5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고리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37499" y="2209038"/>
            <a:ext cx="3302813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야간에 못 나간 물량이 주간으로 몰리고,</a:t>
            </a:r>
            <a:br/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정체가 지연을 부르며, 지연을 메우려 차량을</a:t>
            </a:r>
            <a:br/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넣는다.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37499" y="3301746"/>
            <a:ext cx="3302813" cy="0"/>
          </a:xfrm>
          <a:prstGeom prst="line">
            <a:avLst/>
          </a:prstGeom>
          <a:noFill/>
          <a:ln w="12700">
            <a:solidFill>
              <a:srgbClr val="EBE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7499" y="3507486"/>
            <a:ext cx="33028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5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끊는 지점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37499" y="3822954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허용은 첫 고리인 주간 몰림을 줄인다.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연구소 분석 (예시)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xdog-spec:structure:agenda"/>
          <p:cNvSpPr/>
          <p:nvPr/>
        </p:nvSpPr>
        <p:spPr>
          <a:xfrm>
            <a:off x="2011680" y="1463040"/>
            <a:ext cx="926287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C2B6A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문제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914400" y="2614041"/>
            <a:ext cx="640080" cy="0"/>
          </a:xfrm>
          <a:prstGeom prst="line">
            <a:avLst/>
          </a:prstGeom>
          <a:noFill/>
          <a:ln w="31750">
            <a:solidFill>
              <a:srgbClr val="94D8E6"/>
            </a:solidFill>
            <a:prstDash val="solid"/>
          </a:ln>
        </p:spPr>
      </p:sp>
      <p:sp>
        <p:nvSpPr>
          <p:cNvPr id="4" name="mixdog-spec:structure:agenda"/>
          <p:cNvSpPr/>
          <p:nvPr/>
        </p:nvSpPr>
        <p:spPr>
          <a:xfrm>
            <a:off x="2011680" y="2332482"/>
            <a:ext cx="9262872" cy="563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3EFE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해법</a:t>
            </a:r>
            <a:endParaRPr lang="en-US" sz="2900" dirty="0"/>
          </a:p>
        </p:txBody>
      </p:sp>
      <p:sp>
        <p:nvSpPr>
          <p:cNvPr id="5" name="mixdog-spec:structure:agenda"/>
          <p:cNvSpPr/>
          <p:nvPr/>
        </p:nvSpPr>
        <p:spPr>
          <a:xfrm>
            <a:off x="2011680" y="3307080"/>
            <a:ext cx="926287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C2B6A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실행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2B6AE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시와 사업자, 주민이 석 달씩 나눠 맡는다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971800" y="1664970"/>
            <a:ext cx="8668512" cy="1356106"/>
          </a:xfrm>
          <a:prstGeom prst="rect">
            <a:avLst/>
          </a:prstGeom>
          <a:solidFill>
            <a:srgbClr val="EEEAE7"/>
          </a:solidFill>
          <a:ln w="12700">
            <a:solidFill>
              <a:srgbClr val="EEEAE7"/>
            </a:solidFill>
            <a:prstDash val="solid"/>
          </a:ln>
        </p:spPr>
      </p:sp>
      <p:sp>
        <p:nvSpPr>
          <p:cNvPr id="5" name="mixdog-spec:structure:lanes"/>
          <p:cNvSpPr/>
          <p:nvPr/>
        </p:nvSpPr>
        <p:spPr>
          <a:xfrm>
            <a:off x="3081528" y="2022983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34840" y="2022983"/>
            <a:ext cx="2161642" cy="640080"/>
          </a:xfrm>
          <a:prstGeom prst="roundRect">
            <a:avLst/>
          </a:prstGeom>
          <a:solidFill>
            <a:srgbClr val="FAF8F7"/>
          </a:solidFill>
          <a:ln w="12700">
            <a:solidFill>
              <a:srgbClr val="BFB6B0"/>
            </a:solidFill>
            <a:prstDash val="solid"/>
          </a:ln>
        </p:spPr>
      </p:sp>
      <p:pic>
        <p:nvPicPr>
          <p:cNvPr id="7" name="Icon" descr="조례 개정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44568" y="2205863"/>
            <a:ext cx="274320" cy="274320"/>
          </a:xfrm>
          <a:prstGeom prst="rect">
            <a:avLst/>
          </a:prstGeom>
        </p:spPr>
      </p:pic>
      <p:sp>
        <p:nvSpPr>
          <p:cNvPr id="8" name="mixdog-spec:structure:lanes"/>
          <p:cNvSpPr/>
          <p:nvPr/>
        </p:nvSpPr>
        <p:spPr>
          <a:xfrm>
            <a:off x="4928616" y="2022983"/>
            <a:ext cx="1558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조례 개정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956755" y="2022983"/>
            <a:ext cx="2161642" cy="640080"/>
          </a:xfrm>
          <a:prstGeom prst="roundRect">
            <a:avLst/>
          </a:prstGeom>
          <a:solidFill>
            <a:srgbClr val="FAF8F7"/>
          </a:solidFill>
          <a:ln w="12700">
            <a:solidFill>
              <a:srgbClr val="BFB6B0"/>
            </a:solidFill>
            <a:prstDash val="solid"/>
          </a:ln>
        </p:spPr>
      </p:sp>
      <p:pic>
        <p:nvPicPr>
          <p:cNvPr id="10" name="Icon" descr="소음 측정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66483" y="2205863"/>
            <a:ext cx="274320" cy="274320"/>
          </a:xfrm>
          <a:prstGeom prst="rect">
            <a:avLst/>
          </a:prstGeom>
        </p:spPr>
      </p:pic>
      <p:sp>
        <p:nvSpPr>
          <p:cNvPr id="11" name="mixdog-spec:structure:lanes"/>
          <p:cNvSpPr/>
          <p:nvPr/>
        </p:nvSpPr>
        <p:spPr>
          <a:xfrm>
            <a:off x="7450531" y="2022983"/>
            <a:ext cx="1558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소음 측정</a:t>
            </a:r>
            <a:endParaRPr lang="en-US" sz="1300" dirty="0"/>
          </a:p>
        </p:txBody>
      </p:sp>
      <p:sp>
        <p:nvSpPr>
          <p:cNvPr id="12" name="mixdog-spec:structure:lanes"/>
          <p:cNvSpPr/>
          <p:nvPr/>
        </p:nvSpPr>
        <p:spPr>
          <a:xfrm>
            <a:off x="3081528" y="3379089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사업자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875934" y="3379089"/>
            <a:ext cx="2521915" cy="640080"/>
          </a:xfrm>
          <a:prstGeom prst="roundRect">
            <a:avLst/>
          </a:prstGeom>
          <a:solidFill>
            <a:srgbClr val="1AB6D5"/>
          </a:solidFill>
          <a:ln w="12700">
            <a:solidFill>
              <a:srgbClr val="1AB6D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pic>
        <p:nvPicPr>
          <p:cNvPr id="14" name="Icon" descr="저소음 차량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85662" y="3561969"/>
            <a:ext cx="274320" cy="274320"/>
          </a:xfrm>
          <a:prstGeom prst="rect">
            <a:avLst/>
          </a:prstGeom>
        </p:spPr>
      </p:pic>
      <p:sp>
        <p:nvSpPr>
          <p:cNvPr id="15" name="mixdog-spec:structure:lanes"/>
          <p:cNvSpPr/>
          <p:nvPr/>
        </p:nvSpPr>
        <p:spPr>
          <a:xfrm>
            <a:off x="6369710" y="3379089"/>
            <a:ext cx="19184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저소음 차량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758123" y="3379089"/>
            <a:ext cx="2521915" cy="640080"/>
          </a:xfrm>
          <a:prstGeom prst="roundRect">
            <a:avLst/>
          </a:prstGeom>
          <a:solidFill>
            <a:srgbClr val="FAF8F7"/>
          </a:solidFill>
          <a:ln w="12700">
            <a:solidFill>
              <a:srgbClr val="BFB6B0"/>
            </a:solidFill>
            <a:prstDash val="solid"/>
          </a:ln>
        </p:spPr>
      </p:sp>
      <p:pic>
        <p:nvPicPr>
          <p:cNvPr id="17" name="Icon" descr="야간 배차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67851" y="3561969"/>
            <a:ext cx="274320" cy="274320"/>
          </a:xfrm>
          <a:prstGeom prst="rect">
            <a:avLst/>
          </a:prstGeom>
        </p:spPr>
      </p:pic>
      <p:sp>
        <p:nvSpPr>
          <p:cNvPr id="18" name="mixdog-spec:structure:lanes"/>
          <p:cNvSpPr/>
          <p:nvPr/>
        </p:nvSpPr>
        <p:spPr>
          <a:xfrm>
            <a:off x="9251899" y="3379089"/>
            <a:ext cx="19184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배차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2971800" y="3021076"/>
            <a:ext cx="8668512" cy="0"/>
          </a:xfrm>
          <a:prstGeom prst="line">
            <a:avLst/>
          </a:prstGeom>
          <a:noFill/>
          <a:ln w="12700">
            <a:solidFill>
              <a:srgbClr val="E0DBD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2971800" y="4377182"/>
            <a:ext cx="8668512" cy="1356106"/>
          </a:xfrm>
          <a:prstGeom prst="rect">
            <a:avLst/>
          </a:prstGeom>
          <a:solidFill>
            <a:srgbClr val="EEEAE7"/>
          </a:solidFill>
          <a:ln w="12700">
            <a:solidFill>
              <a:srgbClr val="EEEAE7"/>
            </a:solidFill>
            <a:prstDash val="solid"/>
          </a:ln>
        </p:spPr>
      </p:sp>
      <p:sp>
        <p:nvSpPr>
          <p:cNvPr id="21" name="mixdog-spec:structure:lanes"/>
          <p:cNvSpPr/>
          <p:nvPr/>
        </p:nvSpPr>
        <p:spPr>
          <a:xfrm>
            <a:off x="3081528" y="4735195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155387" y="4735195"/>
            <a:ext cx="2161642" cy="640080"/>
          </a:xfrm>
          <a:prstGeom prst="roundRect">
            <a:avLst/>
          </a:prstGeom>
          <a:solidFill>
            <a:srgbClr val="FAF8F7"/>
          </a:solidFill>
          <a:ln w="12700">
            <a:solidFill>
              <a:srgbClr val="BFB6B0"/>
            </a:solidFill>
            <a:prstDash val="solid"/>
          </a:ln>
        </p:spPr>
      </p:sp>
      <p:pic>
        <p:nvPicPr>
          <p:cNvPr id="23" name="Icon" descr="의견 수렴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65115" y="4918075"/>
            <a:ext cx="274320" cy="274320"/>
          </a:xfrm>
          <a:prstGeom prst="rect">
            <a:avLst/>
          </a:prstGeom>
        </p:spPr>
      </p:pic>
      <p:sp>
        <p:nvSpPr>
          <p:cNvPr id="24" name="mixdog-spec:structure:lanes"/>
          <p:cNvSpPr/>
          <p:nvPr/>
        </p:nvSpPr>
        <p:spPr>
          <a:xfrm>
            <a:off x="5649163" y="4735195"/>
            <a:ext cx="1558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의견 수렴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9118397" y="4735195"/>
            <a:ext cx="2161642" cy="640080"/>
          </a:xfrm>
          <a:prstGeom prst="roundRect">
            <a:avLst/>
          </a:prstGeom>
          <a:solidFill>
            <a:srgbClr val="FAF8F7"/>
          </a:solidFill>
          <a:ln w="12700">
            <a:solidFill>
              <a:srgbClr val="BFB6B0"/>
            </a:solidFill>
            <a:prstDash val="solid"/>
          </a:ln>
        </p:spPr>
      </p:sp>
      <p:pic>
        <p:nvPicPr>
          <p:cNvPr id="26" name="Icon" descr="민원 창구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28125" y="4918075"/>
            <a:ext cx="274320" cy="274320"/>
          </a:xfrm>
          <a:prstGeom prst="rect">
            <a:avLst/>
          </a:prstGeom>
        </p:spPr>
      </p:pic>
      <p:sp>
        <p:nvSpPr>
          <p:cNvPr id="27" name="mixdog-spec:structure:lanes"/>
          <p:cNvSpPr/>
          <p:nvPr/>
        </p:nvSpPr>
        <p:spPr>
          <a:xfrm>
            <a:off x="9612173" y="4735195"/>
            <a:ext cx="1558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민원 창구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2971800" y="4377182"/>
            <a:ext cx="8668512" cy="0"/>
          </a:xfrm>
          <a:prstGeom prst="line">
            <a:avLst/>
          </a:prstGeom>
          <a:noFill/>
          <a:ln w="12700">
            <a:solidFill>
              <a:srgbClr val="E0DBD7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실행안 초안 (예시)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세 주체의 이익이 겹치는 곳은 저소음 야간 배송이다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이익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971800" y="1664970"/>
            <a:ext cx="4954219" cy="4068318"/>
          </a:xfrm>
          <a:prstGeom prst="rect">
            <a:avLst/>
          </a:prstGeom>
          <a:solidFill>
            <a:srgbClr val="EEEAE7"/>
          </a:solidFill>
          <a:ln w="12700">
            <a:solidFill>
              <a:srgbClr val="EEEA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65830" y="2999613"/>
            <a:ext cx="2194560" cy="2194560"/>
          </a:xfrm>
          <a:prstGeom prst="ellipse">
            <a:avLst/>
          </a:prstGeom>
          <a:solidFill>
            <a:srgbClr val="157184">
              <a:alpha val="35000"/>
            </a:srgbClr>
          </a:solidFill>
          <a:ln w="12700">
            <a:solidFill>
              <a:srgbClr val="157184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37430" y="2999613"/>
            <a:ext cx="2194560" cy="2194560"/>
          </a:xfrm>
          <a:prstGeom prst="ellipse">
            <a:avLst/>
          </a:prstGeom>
          <a:solidFill>
            <a:srgbClr val="6C6560">
              <a:alpha val="35000"/>
            </a:srgbClr>
          </a:solidFill>
          <a:ln w="12700">
            <a:solidFill>
              <a:srgbClr val="6C6560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51630" y="1806321"/>
            <a:ext cx="2194560" cy="2194560"/>
          </a:xfrm>
          <a:prstGeom prst="ellipse">
            <a:avLst/>
          </a:prstGeom>
          <a:solidFill>
            <a:srgbClr val="D0CBC8">
              <a:alpha val="35000"/>
            </a:srgbClr>
          </a:solidFill>
          <a:ln w="12700">
            <a:solidFill>
              <a:srgbClr val="D0CBC8">
                <a:alpha val="60000"/>
              </a:srgbClr>
            </a:solidFill>
            <a:prstDash val="solid"/>
          </a:ln>
        </p:spPr>
      </p:sp>
      <p:sp>
        <p:nvSpPr>
          <p:cNvPr id="8" name="mixdog-spec:structure:venn"/>
          <p:cNvSpPr/>
          <p:nvPr/>
        </p:nvSpPr>
        <p:spPr>
          <a:xfrm>
            <a:off x="3742639" y="3982849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</a:t>
            </a:r>
            <a:endParaRPr lang="en-US" sz="1300" dirty="0"/>
          </a:p>
        </p:txBody>
      </p:sp>
      <p:sp>
        <p:nvSpPr>
          <p:cNvPr id="9" name="mixdog-spec:structure:venn"/>
          <p:cNvSpPr/>
          <p:nvPr/>
        </p:nvSpPr>
        <p:spPr>
          <a:xfrm>
            <a:off x="5509260" y="3982849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사업자</a:t>
            </a:r>
            <a:endParaRPr lang="en-US" sz="1300" dirty="0"/>
          </a:p>
        </p:txBody>
      </p:sp>
      <p:sp>
        <p:nvSpPr>
          <p:cNvPr id="10" name="mixdog-spec:structure:venn"/>
          <p:cNvSpPr/>
          <p:nvPr/>
        </p:nvSpPr>
        <p:spPr>
          <a:xfrm>
            <a:off x="4625950" y="2445889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</a:t>
            </a:r>
            <a:endParaRPr lang="en-US" sz="1300" dirty="0"/>
          </a:p>
        </p:txBody>
      </p:sp>
      <p:sp>
        <p:nvSpPr>
          <p:cNvPr id="11" name="mixdog-spec:structure:venn"/>
          <p:cNvSpPr/>
          <p:nvPr/>
        </p:nvSpPr>
        <p:spPr>
          <a:xfrm>
            <a:off x="4717390" y="3470529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0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저소음 야간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37499" y="1893570"/>
            <a:ext cx="33028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5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37499" y="2209038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정체가 줄어든다.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37499" y="2747010"/>
            <a:ext cx="3302813" cy="0"/>
          </a:xfrm>
          <a:prstGeom prst="line">
            <a:avLst/>
          </a:prstGeom>
          <a:noFill/>
          <a:ln w="12700">
            <a:solidFill>
              <a:srgbClr val="EBE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7499" y="2952750"/>
            <a:ext cx="33028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5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37499" y="3268218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배송 비용이 내려간다.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37499" y="3806190"/>
            <a:ext cx="3302813" cy="0"/>
          </a:xfrm>
          <a:prstGeom prst="line">
            <a:avLst/>
          </a:prstGeom>
          <a:noFill/>
          <a:ln w="12700">
            <a:solidFill>
              <a:srgbClr val="EBE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7499" y="4011930"/>
            <a:ext cx="33028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5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주민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37499" y="4327398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소음 기준 안에서 배송이 빨라진다.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연구소 분석 (예시)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세 도시 모두 규제 뒤 주간 정체 지수가 올랐다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71800" y="166497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971800" y="1975866"/>
          <a:ext cx="2615184" cy="375742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998464" y="166497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</a:t>
            </a:r>
            <a:endParaRPr lang="en-US" sz="11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5998464" y="1975866"/>
          <a:ext cx="2615184" cy="375742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9025128" y="166497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대구</a:t>
            </a:r>
            <a:endParaRPr lang="en-US" sz="1100" dirty="0"/>
          </a:p>
        </p:txBody>
      </p:sp>
      <p:graphicFrame>
        <p:nvGraphicFramePr>
          <p:cNvPr id="9" name="Chart 2" descr=""/>
          <p:cNvGraphicFramePr/>
          <p:nvPr/>
        </p:nvGraphicFramePr>
        <p:xfrm>
          <a:off x="9025128" y="1975866"/>
          <a:ext cx="2615184" cy="375742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 5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정체 지수 = 평균 통행 속도 대비 지연 비율 × 100 (예시)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기사들은 규제보다 대기가 더 힘들다고 말한다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939290"/>
            <a:ext cx="835551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2000" b="1" dirty="0">
                <a:solidFill>
                  <a:srgbClr val="15718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“</a:t>
            </a:r>
            <a:endParaRPr lang="en-US" sz="12000" dirty="0"/>
          </a:p>
        </p:txBody>
      </p:sp>
      <p:sp>
        <p:nvSpPr>
          <p:cNvPr id="5" name="mixdog-spec:structure:quote"/>
          <p:cNvSpPr/>
          <p:nvPr/>
        </p:nvSpPr>
        <p:spPr>
          <a:xfrm>
            <a:off x="3825639" y="3128010"/>
            <a:ext cx="7814673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밤에 나가면 한 시간이면 끝날 일이 낮에는 세 시간 걸립니다.</a:t>
            </a:r>
            <a:br/>
            <a:r>
              <a:rPr lang="en-US" sz="21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기다리는 시간이 제일 깁니다.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825639" y="4458462"/>
            <a:ext cx="7814673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택배 기사 인터뷰, 2026년 5월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인터뷰 12건 가운데 발췌 (예시)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" descr="waves motif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771900"/>
            <a:ext cx="12188952" cy="3086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627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spc="400" kern="0" dirty="0">
                <a:solidFill>
                  <a:srgbClr val="94D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2011680"/>
            <a:ext cx="82296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3EFE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10월 교통위원회 안건으로 올려</a:t>
            </a:r>
            <a:br/>
            <a:r>
              <a:rPr lang="en-US" sz="3600" b="1" dirty="0">
                <a:solidFill>
                  <a:srgbClr val="F3EFE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주십시오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630168"/>
            <a:ext cx="731520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2B6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research@citylogistics.example · 도시 물류 연구소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2026-09-23T08:41:30Z</dcterms:created>
  <dcterms:modified xsi:type="dcterms:W3CDTF">2026-09-23T08:41:30Z</dcterms:modified>
</cp:coreProperties>
</file>