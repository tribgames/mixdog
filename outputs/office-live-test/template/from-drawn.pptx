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MAU(만 명)</c:v>
                </c:pt>
              </c:strCache>
            </c:strRef>
          </c:tx>
          <c:spPr>
            <a:solidFill>
              <a:srgbClr val="C8CBD0"/>
            </a:solidFill>
            <a:effectLst/>
          </c:spPr>
          <c:invertIfNegative val="0"/>
          <c:dPt>
            <c:idx val="5"/>
            <c:invertIfNegative val="0"/>
            <c:bubble3D val="0"/>
            <c:spPr>
              <a:solidFill>
                <a:srgbClr val="1C6FE3"/>
              </a:solidFill>
            </c:spPr>
          </c:dPt>
          <c:dLbls>
            <c:numFmt formatCode="#,##0;-#,##0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C4A5D"/>
                    </a:solidFill>
                    <a:latin typeface="Noto Sans KR"/>
                    <a:ea typeface="Noto Sans KR"/>
                    <a:cs typeface="Noto Sans KR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  <c:pt idx="5">
                    <c:v>2026 상반기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410</c:v>
                </c:pt>
                <c:pt idx="1">
                  <c:v>620</c:v>
                </c:pt>
                <c:pt idx="2">
                  <c:v>830</c:v>
                </c:pt>
                <c:pt idx="3">
                  <c:v>1040</c:v>
                </c:pt>
                <c:pt idx="4">
                  <c:v>1260</c:v>
                </c:pt>
                <c:pt idx="5">
                  <c:v>1420</c:v>
                </c:pt>
              </c:numCache>
            </c:numRef>
          </c:val>
        </c:ser>
        <c:dLbls>
          <c:numFmt formatCode="#,##0;-#,##0;" sourceLinked="0"/>
          <c:txPr>
            <a:bodyPr/>
            <a:lstStyle/>
            <a:p>
              <a:pPr>
                <a:defRPr b="0" i="0" strike="noStrike" sz="1200" u="none">
                  <a:solidFill>
                    <a:srgbClr val="3C4A5D"/>
                  </a:solidFill>
                  <a:latin typeface="Noto Sans KR"/>
                  <a:ea typeface="Noto Sans KR"/>
                  <a:cs typeface="Noto Sans K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2"/>
                </a:solidFill>
                <a:latin typeface="Noto Sans KR"/>
                <a:ea typeface="Noto Sans KR"/>
                <a:cs typeface="Noto Sans K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txPr>
    <a:bodyPr/>
    <a:lstStyle/>
    <a:p>
      <a:pPr>
        <a:defRPr>
          <a:latin typeface="Noto Sans KR"/>
          <a:ea typeface="Noto Sans KR"/>
          <a:cs typeface="Noto Sans KR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</c:v>
                </c:pt>
              </c:strCache>
            </c:strRef>
          </c:tx>
          <c:spPr>
            <a:solidFill>
              <a:srgbClr val="C8CBD0"/>
            </a:solidFill>
            <a:effectLst/>
          </c:spPr>
          <c:invertIfNegative val="0"/>
          <c:dPt>
            <c:idx val="5"/>
            <c:invertIfNegative val="0"/>
            <c:bubble3D val="0"/>
            <c:spPr>
              <a:solidFill>
                <a:srgbClr val="1C6FE3"/>
              </a:solidFill>
            </c:spPr>
          </c:dPt>
          <c:dLbls>
            <c:numFmt formatCode="#,##0;-#,##0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C4A5D"/>
                    </a:solidFill>
                    <a:latin typeface="Noto Sans KR"/>
                    <a:ea typeface="Noto Sans KR"/>
                    <a:cs typeface="Noto Sans KR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25.1Q</c:v>
                  </c:pt>
                  <c:pt idx="1">
                    <c:v>25.2Q</c:v>
                  </c:pt>
                  <c:pt idx="2">
                    <c:v>25.3Q</c:v>
                  </c:pt>
                  <c:pt idx="3">
                    <c:v>25.4Q</c:v>
                  </c:pt>
                  <c:pt idx="4">
                    <c:v>26.1Q</c:v>
                  </c:pt>
                  <c:pt idx="5">
                    <c:v>26.2Q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1480</c:v>
                </c:pt>
                <c:pt idx="1">
                  <c:v>1560</c:v>
                </c:pt>
                <c:pt idx="2">
                  <c:v>1690</c:v>
                </c:pt>
                <c:pt idx="3">
                  <c:v>1820</c:v>
                </c:pt>
                <c:pt idx="4">
                  <c:v>1970</c:v>
                </c:pt>
                <c:pt idx="5">
                  <c:v>2150</c:v>
                </c:pt>
              </c:numCache>
            </c:numRef>
          </c:val>
        </c:ser>
        <c:dLbls>
          <c:numFmt formatCode="#,##0;-#,##0;" sourceLinked="0"/>
          <c:txPr>
            <a:bodyPr/>
            <a:lstStyle/>
            <a:p>
              <a:pPr>
                <a:defRPr b="0" i="0" strike="noStrike" sz="1200" u="none">
                  <a:solidFill>
                    <a:srgbClr val="3C4A5D"/>
                  </a:solidFill>
                  <a:latin typeface="Noto Sans KR"/>
                  <a:ea typeface="Noto Sans KR"/>
                  <a:cs typeface="Noto Sans K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2"/>
                </a:solidFill>
                <a:latin typeface="Noto Sans KR"/>
                <a:ea typeface="Noto Sans KR"/>
                <a:cs typeface="Noto Sans K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txPr>
    <a:bodyPr/>
    <a:lstStyle/>
    <a:p>
      <a:pPr>
        <a:defRPr>
          <a:latin typeface="Noto Sans KR"/>
          <a:ea typeface="Noto Sans KR"/>
          <a:cs typeface="Noto Sans KR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영업이익</c:v>
                </c:pt>
              </c:strCache>
            </c:strRef>
          </c:tx>
          <c:spPr>
            <a:solidFill>
              <a:srgbClr val="C8CBD0"/>
            </a:solidFill>
            <a:effectLst/>
          </c:spPr>
          <c:invertIfNegative val="0"/>
          <c:dPt>
            <c:idx val="5"/>
            <c:invertIfNegative val="0"/>
            <c:bubble3D val="0"/>
            <c:spPr>
              <a:solidFill>
                <a:srgbClr val="1C6FE3"/>
              </a:solidFill>
            </c:spPr>
          </c:dPt>
          <c:dLbls>
            <c:numFmt formatCode="#,##0;-#,##0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C4A5D"/>
                    </a:solidFill>
                    <a:latin typeface="Noto Sans KR"/>
                    <a:ea typeface="Noto Sans KR"/>
                    <a:cs typeface="Noto Sans KR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25.1Q</c:v>
                  </c:pt>
                  <c:pt idx="1">
                    <c:v>25.2Q</c:v>
                  </c:pt>
                  <c:pt idx="2">
                    <c:v>25.3Q</c:v>
                  </c:pt>
                  <c:pt idx="3">
                    <c:v>25.4Q</c:v>
                  </c:pt>
                  <c:pt idx="4">
                    <c:v>26.1Q</c:v>
                  </c:pt>
                  <c:pt idx="5">
                    <c:v>26.2Q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-182</c:v>
                </c:pt>
                <c:pt idx="1">
                  <c:v>-140</c:v>
                </c:pt>
                <c:pt idx="2">
                  <c:v>-96</c:v>
                </c:pt>
                <c:pt idx="3">
                  <c:v>-41</c:v>
                </c:pt>
                <c:pt idx="4">
                  <c:v>-12</c:v>
                </c:pt>
                <c:pt idx="5">
                  <c:v>86</c:v>
                </c:pt>
              </c:numCache>
            </c:numRef>
          </c:val>
        </c:ser>
        <c:dLbls>
          <c:numFmt formatCode="#,##0;-#,##0;" sourceLinked="0"/>
          <c:txPr>
            <a:bodyPr/>
            <a:lstStyle/>
            <a:p>
              <a:pPr>
                <a:defRPr b="0" i="0" strike="noStrike" sz="1200" u="none">
                  <a:solidFill>
                    <a:srgbClr val="3C4A5D"/>
                  </a:solidFill>
                  <a:latin typeface="Noto Sans KR"/>
                  <a:ea typeface="Noto Sans KR"/>
                  <a:cs typeface="Noto Sans K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2"/>
                </a:solidFill>
                <a:latin typeface="Noto Sans KR"/>
                <a:ea typeface="Noto Sans KR"/>
                <a:cs typeface="Noto Sans K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txPr>
    <a:bodyPr/>
    <a:lstStyle/>
    <a:p>
      <a:pPr>
        <a:defRPr>
          <a:latin typeface="Noto Sans KR"/>
          <a:ea typeface="Noto Sans KR"/>
          <a:cs typeface="Noto Sans KR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18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EB6C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IET">
    <p:bg>
      <p:bgPr>
        <a:solidFill>
          <a:srgbClr val="0F18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5.xml"/><Relationship Id="rId9" Type="http://schemas.openxmlformats.org/officeDocument/2006/relationships/image" Target="../media/mixdog-icon-1.svg"/><Relationship Id="rId10" Type="http://schemas.openxmlformats.org/officeDocument/2006/relationships/image" Target="../media/mixdog-icon-2.svg"/><Relationship Id="rId11" Type="http://schemas.openxmlformats.org/officeDocument/2006/relationships/image" Target="../media/mixdog-icon-3.svg"/><Relationship Id="rId12" Type="http://schemas.openxmlformats.org/officeDocument/2006/relationships/image" Target="../media/mixdog-icon-4.svg"/><Relationship Id="rId13" Type="http://schemas.openxmlformats.org/officeDocument/2006/relationships/image" Target="../media/mixdog-icon-5.svg"/><Relationship Id="rId14" Type="http://schemas.openxmlformats.org/officeDocument/2006/relationships/image" Target="../media/mixdog-icon-6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Relationship Id="rId7" Type="http://schemas.openxmlformats.org/officeDocument/2006/relationships/image" Target="../media/mixdog-icon-7.svg"/><Relationship Id="rId8" Type="http://schemas.openxmlformats.org/officeDocument/2006/relationships/image" Target="../media/mixdog-icon-8.svg"/><Relationship Id="rId9" Type="http://schemas.openxmlformats.org/officeDocument/2006/relationships/image" Target="../media/mixdog-icon-9.svg"/><Relationship Id="rId10" Type="http://schemas.openxmlformats.org/officeDocument/2006/relationships/image" Target="../media/mixdog-icon-10.sv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6FE3"/>
          </a:solidFill>
          <a:ln w="12700">
            <a:solidFill>
              <a:srgbClr val="1C6FE3"/>
            </a:solidFill>
            <a:prstDash val="solid"/>
          </a:ln>
        </p:spPr>
      </p:sp>
      <p:pic>
        <p:nvPicPr>
          <p:cNvPr id="3" name="mixdog-device:orb" descr="sphe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-27432"/>
            <a:ext cx="6912864" cy="69128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62763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상반기 IR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2011680"/>
            <a:ext cx="69494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금융을 한 앱에서,</a:t>
            </a:r>
            <a:br/>
            <a:r>
              <a:rPr lang="en-US" sz="5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더 쉽게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420624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모아페이 · 2026년 9월 · 투자자 설명 자료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85800"/>
            <a:ext cx="66550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000" b="1" spc="400" kern="0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SUMMARY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1069848"/>
            <a:ext cx="665500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 거래자 1,420만 명,</a:t>
            </a:r>
            <a:br/>
            <a:r>
              <a:rPr lang="en-US" sz="42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첫 분기 흑자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48640" y="2944368"/>
            <a:ext cx="6655003" cy="672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송금으로 들어온 사용자가 결제와 대출로 이어지며 2026년 2분기 처음으로</a:t>
            </a:r>
            <a:br/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영업이익을 냈다.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348472" y="548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r" indent="0" marL="0">
              <a:buNone/>
            </a:pPr>
            <a:r>
              <a:rPr lang="en-US" sz="1000" b="1" spc="400" kern="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2026-09 · IR</a:t>
            </a:r>
            <a:endParaRPr lang="en-US" sz="1000" dirty="0"/>
          </a:p>
        </p:txBody>
      </p:sp>
      <p:sp>
        <p:nvSpPr>
          <p:cNvPr id="6" name="mixdog-spec:stat:band"/>
          <p:cNvSpPr/>
          <p:nvPr/>
        </p:nvSpPr>
        <p:spPr>
          <a:xfrm>
            <a:off x="548640" y="4233672"/>
            <a:ext cx="30175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buNone/>
            </a:pPr>
            <a:r>
              <a:rPr lang="en-US" sz="41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1,420</a:t>
            </a:r>
            <a:r>
              <a:rPr lang="en-US" sz="16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만</a:t>
            </a:r>
            <a:endParaRPr lang="en-US" sz="4100" dirty="0"/>
          </a:p>
        </p:txBody>
      </p:sp>
      <p:sp>
        <p:nvSpPr>
          <p:cNvPr id="7" name="Text 5"/>
          <p:cNvSpPr/>
          <p:nvPr/>
        </p:nvSpPr>
        <p:spPr>
          <a:xfrm>
            <a:off x="548640" y="5312664"/>
            <a:ext cx="3017520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월간 활성 사용자</a:t>
            </a:r>
            <a:endParaRPr lang="en-US" sz="1100" dirty="0"/>
          </a:p>
        </p:txBody>
      </p:sp>
      <p:sp>
        <p:nvSpPr>
          <p:cNvPr id="8" name="mixdog-spec:stat:band"/>
          <p:cNvSpPr/>
          <p:nvPr/>
        </p:nvSpPr>
        <p:spPr>
          <a:xfrm>
            <a:off x="3977640" y="4233672"/>
            <a:ext cx="221284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buNone/>
            </a:pPr>
            <a:r>
              <a:rPr lang="en-US" sz="41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38.2</a:t>
            </a:r>
            <a:r>
              <a:rPr lang="en-US" sz="16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</a:t>
            </a:r>
            <a:endParaRPr lang="en-US" sz="4100" dirty="0"/>
          </a:p>
        </p:txBody>
      </p:sp>
      <p:sp>
        <p:nvSpPr>
          <p:cNvPr id="9" name="Text 7"/>
          <p:cNvSpPr/>
          <p:nvPr/>
        </p:nvSpPr>
        <p:spPr>
          <a:xfrm>
            <a:off x="3977640" y="5312664"/>
            <a:ext cx="2212848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연간 거래액</a:t>
            </a:r>
            <a:endParaRPr lang="en-US" sz="1100" dirty="0"/>
          </a:p>
        </p:txBody>
      </p:sp>
      <p:sp>
        <p:nvSpPr>
          <p:cNvPr id="10" name="mixdog-spec:stat:band"/>
          <p:cNvSpPr/>
          <p:nvPr/>
        </p:nvSpPr>
        <p:spPr>
          <a:xfrm>
            <a:off x="6601968" y="4233672"/>
            <a:ext cx="24140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buNone/>
            </a:pPr>
            <a:r>
              <a:rPr lang="en-US" sz="41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4,120</a:t>
            </a:r>
            <a:r>
              <a:rPr lang="en-US" sz="16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억</a:t>
            </a:r>
            <a:endParaRPr lang="en-US" sz="4100" dirty="0"/>
          </a:p>
        </p:txBody>
      </p:sp>
      <p:sp>
        <p:nvSpPr>
          <p:cNvPr id="11" name="Text 9"/>
          <p:cNvSpPr/>
          <p:nvPr/>
        </p:nvSpPr>
        <p:spPr>
          <a:xfrm>
            <a:off x="6601968" y="5312664"/>
            <a:ext cx="241401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상반기 매출</a:t>
            </a:r>
            <a:endParaRPr lang="en-US" sz="1100" dirty="0"/>
          </a:p>
        </p:txBody>
      </p:sp>
      <p:sp>
        <p:nvSpPr>
          <p:cNvPr id="12" name="mixdog-spec:stat:band"/>
          <p:cNvSpPr/>
          <p:nvPr/>
        </p:nvSpPr>
        <p:spPr>
          <a:xfrm>
            <a:off x="9427464" y="4233672"/>
            <a:ext cx="221284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buNone/>
            </a:pPr>
            <a:r>
              <a:rPr lang="en-US" sz="41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86</a:t>
            </a:r>
            <a:r>
              <a:rPr lang="en-US" sz="16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억</a:t>
            </a:r>
            <a:endParaRPr lang="en-US" sz="4100" dirty="0"/>
          </a:p>
        </p:txBody>
      </p:sp>
      <p:sp>
        <p:nvSpPr>
          <p:cNvPr id="13" name="Text 11"/>
          <p:cNvSpPr/>
          <p:nvPr/>
        </p:nvSpPr>
        <p:spPr>
          <a:xfrm>
            <a:off x="9427464" y="5312664"/>
            <a:ext cx="2212848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2분기 영업이익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5946648"/>
            <a:ext cx="11091672" cy="0"/>
          </a:xfrm>
          <a:prstGeom prst="line">
            <a:avLst/>
          </a:prstGeom>
          <a:noFill/>
          <a:ln w="9525">
            <a:solidFill>
              <a:srgbClr val="D7DB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6144768"/>
            <a:ext cx="10268712" cy="239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모아페이 내부 집계 (예시 수치)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95528"/>
            <a:ext cx="11091672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MAU는 5년 연속 두 자릿수로 늘었다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0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성장</a:t>
            </a:r>
            <a:endParaRPr lang="en-US" sz="1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35074"/>
          <a:ext cx="6621719" cy="399821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581839" y="1735074"/>
            <a:ext cx="4058473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성장률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7581839" y="2067306"/>
            <a:ext cx="405847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2021년 410만 명에서 3.5배로 늘었고, 올해</a:t>
            </a:r>
            <a:br/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상반기에도 12.7% 증가했다.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581839" y="2967990"/>
            <a:ext cx="4058473" cy="0"/>
          </a:xfrm>
          <a:prstGeom prst="line">
            <a:avLst/>
          </a:prstGeom>
          <a:noFill/>
          <a:ln w="9525">
            <a:solidFill>
              <a:srgbClr val="E5E8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1839" y="3173730"/>
            <a:ext cx="4058473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유입 경로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581839" y="3505962"/>
            <a:ext cx="405847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신규 사용자의 64%가 지인 송금 링크로 들어온다.</a:t>
            </a:r>
            <a:br/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광고비 없이 퍼지는 구조다.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48640" y="6144768"/>
            <a:ext cx="10268712" cy="239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단위: 만 명, 월평균 · 출처: 모아페이 내부 집계 (예시 수치)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95528"/>
            <a:ext cx="11091672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매출이 늘면서 영업손실이 이익으로 바뀌었다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433322"/>
            <a:ext cx="11091672" cy="340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2025년 1분기부터 2026년 2분기까지 여섯 분기 추이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0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실적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2002536"/>
            <a:ext cx="5340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분기 매출 (억 원)</a:t>
            </a:r>
            <a:endParaRPr lang="en-US" sz="15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2414016"/>
          <a:ext cx="5340096" cy="331927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6300216" y="2002536"/>
            <a:ext cx="5340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분기 영업이익 (억 원)</a:t>
            </a:r>
            <a:endParaRPr lang="en-US" sz="15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6300216" y="2414016"/>
          <a:ext cx="5340096" cy="331927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548640" y="6144768"/>
            <a:ext cx="10268712" cy="239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모아페이 분기 실적 (예시 수치)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95528"/>
            <a:ext cx="11091672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송금이 모든 금융 서비스의 입구다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0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플랫폼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735074"/>
            <a:ext cx="6408115" cy="3998214"/>
          </a:xfrm>
          <a:prstGeom prst="rect">
            <a:avLst/>
          </a:prstGeom>
          <a:solidFill>
            <a:srgbClr val="E7EAEE"/>
          </a:solidFill>
          <a:ln w="12700">
            <a:solidFill>
              <a:srgbClr val="E7EA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95498" y="1963674"/>
            <a:ext cx="914400" cy="914400"/>
          </a:xfrm>
          <a:prstGeom prst="ellipse">
            <a:avLst/>
          </a:prstGeom>
          <a:solidFill>
            <a:srgbClr val="1C6FE3"/>
          </a:solidFill>
          <a:ln w="12700">
            <a:solidFill>
              <a:srgbClr val="1C6FE3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10000"/>
              </a:srgbClr>
            </a:outerShdw>
          </a:effectLst>
        </p:spPr>
      </p:sp>
      <p:pic>
        <p:nvPicPr>
          <p:cNvPr id="6" name="Icon" descr="결제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615538" y="2146554"/>
            <a:ext cx="274320" cy="274320"/>
          </a:xfrm>
          <a:prstGeom prst="rect">
            <a:avLst/>
          </a:prstGeom>
        </p:spPr>
      </p:pic>
      <p:sp>
        <p:nvSpPr>
          <p:cNvPr id="7" name="mixdog-spec:structure:hub"/>
          <p:cNvSpPr/>
          <p:nvPr/>
        </p:nvSpPr>
        <p:spPr>
          <a:xfrm>
            <a:off x="3405226" y="1963674"/>
            <a:ext cx="694944" cy="914400"/>
          </a:xfrm>
          <a:prstGeom prst="rect">
            <a:avLst/>
          </a:prstGeom>
          <a:noFill/>
          <a:ln/>
        </p:spPr>
        <p:txBody>
          <a:bodyPr wrap="square" lIns="0" tIns="512064" rIns="0" bIns="0" rtlCol="0" anchor="t"/>
          <a:lstStyle/>
          <a:p>
            <a:pPr hangingPunct="0"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결제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44527" y="2871147"/>
            <a:ext cx="914400" cy="914400"/>
          </a:xfrm>
          <a:prstGeom prst="ellipse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9" name="Icon" descr="대출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864567" y="3054027"/>
            <a:ext cx="274320" cy="274320"/>
          </a:xfrm>
          <a:prstGeom prst="rect">
            <a:avLst/>
          </a:prstGeom>
        </p:spPr>
      </p:pic>
      <p:sp>
        <p:nvSpPr>
          <p:cNvPr id="10" name="mixdog-spec:structure:hub"/>
          <p:cNvSpPr/>
          <p:nvPr/>
        </p:nvSpPr>
        <p:spPr>
          <a:xfrm>
            <a:off x="4654255" y="2871147"/>
            <a:ext cx="694944" cy="914400"/>
          </a:xfrm>
          <a:prstGeom prst="rect">
            <a:avLst/>
          </a:prstGeom>
          <a:noFill/>
          <a:ln/>
        </p:spPr>
        <p:txBody>
          <a:bodyPr wrap="square" lIns="0" tIns="512064" rIns="0" bIns="0" rtlCol="0" anchor="t"/>
          <a:lstStyle/>
          <a:p>
            <a:pPr hangingPunct="0"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대출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067440" y="4339469"/>
            <a:ext cx="914400" cy="914400"/>
          </a:xfrm>
          <a:prstGeom prst="ellipse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12" name="Icon" descr="투자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387480" y="4522349"/>
            <a:ext cx="274320" cy="274320"/>
          </a:xfrm>
          <a:prstGeom prst="rect">
            <a:avLst/>
          </a:prstGeom>
        </p:spPr>
      </p:pic>
      <p:sp>
        <p:nvSpPr>
          <p:cNvPr id="13" name="mixdog-spec:structure:hub"/>
          <p:cNvSpPr/>
          <p:nvPr/>
        </p:nvSpPr>
        <p:spPr>
          <a:xfrm>
            <a:off x="4177168" y="4339469"/>
            <a:ext cx="694944" cy="914400"/>
          </a:xfrm>
          <a:prstGeom prst="rect">
            <a:avLst/>
          </a:prstGeom>
          <a:noFill/>
          <a:ln/>
        </p:spPr>
        <p:txBody>
          <a:bodyPr wrap="square" lIns="0" tIns="512064" rIns="0" bIns="0" rtlCol="0" anchor="t"/>
          <a:lstStyle/>
          <a:p>
            <a:pPr hangingPunct="0"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투자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2523555" y="4339469"/>
            <a:ext cx="914400" cy="914400"/>
          </a:xfrm>
          <a:prstGeom prst="ellipse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15" name="Icon" descr="보험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843595" y="4522349"/>
            <a:ext cx="274320" cy="274320"/>
          </a:xfrm>
          <a:prstGeom prst="rect">
            <a:avLst/>
          </a:prstGeom>
        </p:spPr>
      </p:pic>
      <p:sp>
        <p:nvSpPr>
          <p:cNvPr id="16" name="mixdog-spec:structure:hub"/>
          <p:cNvSpPr/>
          <p:nvPr/>
        </p:nvSpPr>
        <p:spPr>
          <a:xfrm>
            <a:off x="2633283" y="4339469"/>
            <a:ext cx="694944" cy="914400"/>
          </a:xfrm>
          <a:prstGeom prst="rect">
            <a:avLst/>
          </a:prstGeom>
          <a:noFill/>
          <a:ln/>
        </p:spPr>
        <p:txBody>
          <a:bodyPr wrap="square" lIns="0" tIns="512064" rIns="0" bIns="0" rtlCol="0" anchor="t"/>
          <a:lstStyle/>
          <a:p>
            <a:pPr hangingPunct="0"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보험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2046468" y="2871147"/>
            <a:ext cx="914400" cy="914400"/>
          </a:xfrm>
          <a:prstGeom prst="ellipse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18" name="Icon" descr="신용관리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366508" y="3054027"/>
            <a:ext cx="274320" cy="274320"/>
          </a:xfrm>
          <a:prstGeom prst="rect">
            <a:avLst/>
          </a:prstGeom>
        </p:spPr>
      </p:pic>
      <p:sp>
        <p:nvSpPr>
          <p:cNvPr id="19" name="mixdog-spec:structure:hub"/>
          <p:cNvSpPr/>
          <p:nvPr/>
        </p:nvSpPr>
        <p:spPr>
          <a:xfrm>
            <a:off x="2156196" y="2871147"/>
            <a:ext cx="694944" cy="914400"/>
          </a:xfrm>
          <a:prstGeom prst="rect">
            <a:avLst/>
          </a:prstGeom>
          <a:noFill/>
          <a:ln/>
        </p:spPr>
        <p:txBody>
          <a:bodyPr wrap="square" lIns="0" tIns="512064" rIns="0" bIns="0" rtlCol="0" anchor="t"/>
          <a:lstStyle/>
          <a:p>
            <a:pPr hangingPunct="0"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신용관리</a:t>
            </a:r>
            <a:endParaRPr lang="en-US" sz="1200" dirty="0"/>
          </a:p>
        </p:txBody>
      </p:sp>
      <p:sp>
        <p:nvSpPr>
          <p:cNvPr id="20" name="Shape 13"/>
          <p:cNvSpPr/>
          <p:nvPr/>
        </p:nvSpPr>
        <p:spPr>
          <a:xfrm>
            <a:off x="3006319" y="2987802"/>
            <a:ext cx="1492758" cy="1492758"/>
          </a:xfrm>
          <a:prstGeom prst="ellipse">
            <a:avLst/>
          </a:prstGeom>
          <a:solidFill>
            <a:srgbClr val="171F2B"/>
          </a:solidFill>
          <a:ln w="12700">
            <a:solidFill>
              <a:srgbClr val="171F2B"/>
            </a:solidFill>
            <a:prstDash val="solid"/>
          </a:ln>
        </p:spPr>
      </p:sp>
      <p:pic>
        <p:nvPicPr>
          <p:cNvPr id="21" name="Icon" descr="송금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546958" y="3322701"/>
            <a:ext cx="411480" cy="411480"/>
          </a:xfrm>
          <a:prstGeom prst="rect">
            <a:avLst/>
          </a:prstGeom>
        </p:spPr>
      </p:pic>
      <p:sp>
        <p:nvSpPr>
          <p:cNvPr id="22" name="mixdog-spec:structure:hub"/>
          <p:cNvSpPr/>
          <p:nvPr/>
        </p:nvSpPr>
        <p:spPr>
          <a:xfrm>
            <a:off x="3185450" y="2987802"/>
            <a:ext cx="1134496" cy="1492758"/>
          </a:xfrm>
          <a:prstGeom prst="rect">
            <a:avLst/>
          </a:prstGeom>
          <a:noFill/>
          <a:ln/>
        </p:spPr>
        <p:txBody>
          <a:bodyPr wrap="square" lIns="0" tIns="801243" rIns="0" bIns="0" rtlCol="0" anchor="t"/>
          <a:lstStyle/>
          <a:p>
            <a:pPr hangingPunct="0"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7F8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송금</a:t>
            </a:r>
            <a:endParaRPr lang="en-US" sz="1500" dirty="0"/>
          </a:p>
        </p:txBody>
      </p:sp>
      <p:sp>
        <p:nvSpPr>
          <p:cNvPr id="23" name="Text 15"/>
          <p:cNvSpPr/>
          <p:nvPr/>
        </p:nvSpPr>
        <p:spPr>
          <a:xfrm>
            <a:off x="7368235" y="1963674"/>
            <a:ext cx="4272077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교차 사용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7368235" y="2295906"/>
            <a:ext cx="427207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송금 사용자의 48%가 90일 안에 두 번째 서비스를</a:t>
            </a:r>
            <a:br/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쓴다.</a:t>
            </a:r>
            <a:endParaRPr lang="en-US" sz="1500" dirty="0"/>
          </a:p>
        </p:txBody>
      </p:sp>
      <p:sp>
        <p:nvSpPr>
          <p:cNvPr id="25" name="Shape 17"/>
          <p:cNvSpPr/>
          <p:nvPr/>
        </p:nvSpPr>
        <p:spPr>
          <a:xfrm>
            <a:off x="7368235" y="3196590"/>
            <a:ext cx="4272077" cy="0"/>
          </a:xfrm>
          <a:prstGeom prst="line">
            <a:avLst/>
          </a:prstGeom>
          <a:noFill/>
          <a:ln w="9525">
            <a:solidFill>
              <a:srgbClr val="E5E8EB"/>
            </a:solidFill>
            <a:prstDash val="solid"/>
          </a:ln>
        </p:spPr>
      </p:sp>
      <p:sp>
        <p:nvSpPr>
          <p:cNvPr id="26" name="Text 18"/>
          <p:cNvSpPr/>
          <p:nvPr/>
        </p:nvSpPr>
        <p:spPr>
          <a:xfrm>
            <a:off x="7368235" y="3402330"/>
            <a:ext cx="4272077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결제가 다음 축</a:t>
            </a:r>
            <a:endParaRPr lang="en-US" sz="1000" dirty="0"/>
          </a:p>
        </p:txBody>
      </p:sp>
      <p:sp>
        <p:nvSpPr>
          <p:cNvPr id="27" name="Text 19"/>
          <p:cNvSpPr/>
          <p:nvPr/>
        </p:nvSpPr>
        <p:spPr>
          <a:xfrm>
            <a:off x="7368235" y="3734562"/>
            <a:ext cx="427207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결제 거래액은 전년 대비 71% 늘어 매출 기여 1위가</a:t>
            </a:r>
            <a:br/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됐다.</a:t>
            </a:r>
            <a:endParaRPr lang="en-US" sz="1500" dirty="0"/>
          </a:p>
        </p:txBody>
      </p:sp>
      <p:sp>
        <p:nvSpPr>
          <p:cNvPr id="28" name="Shape 20"/>
          <p:cNvSpPr/>
          <p:nvPr/>
        </p:nvSpPr>
        <p:spPr>
          <a:xfrm>
            <a:off x="7368235" y="4635246"/>
            <a:ext cx="4272077" cy="0"/>
          </a:xfrm>
          <a:prstGeom prst="line">
            <a:avLst/>
          </a:prstGeom>
          <a:noFill/>
          <a:ln w="9525">
            <a:solidFill>
              <a:srgbClr val="E5E8EB"/>
            </a:solidFill>
            <a:prstDash val="solid"/>
          </a:ln>
        </p:spPr>
      </p:sp>
      <p:sp>
        <p:nvSpPr>
          <p:cNvPr id="29" name="Text 21"/>
          <p:cNvSpPr/>
          <p:nvPr/>
        </p:nvSpPr>
        <p:spPr>
          <a:xfrm>
            <a:off x="7368235" y="4840986"/>
            <a:ext cx="4272077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비용 구조</a:t>
            </a:r>
            <a:endParaRPr lang="en-US" sz="1000" dirty="0"/>
          </a:p>
        </p:txBody>
      </p:sp>
      <p:sp>
        <p:nvSpPr>
          <p:cNvPr id="30" name="Text 22"/>
          <p:cNvSpPr/>
          <p:nvPr/>
        </p:nvSpPr>
        <p:spPr>
          <a:xfrm>
            <a:off x="7368235" y="5173218"/>
            <a:ext cx="4272077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추가 서비스 획득 비용은 신규 가입의 5분의 1이다.</a:t>
            </a:r>
            <a:endParaRPr lang="en-US" sz="1500" dirty="0"/>
          </a:p>
        </p:txBody>
      </p:sp>
      <p:sp>
        <p:nvSpPr>
          <p:cNvPr id="31" name="Text 23"/>
          <p:cNvSpPr/>
          <p:nvPr/>
        </p:nvSpPr>
        <p:spPr>
          <a:xfrm>
            <a:off x="548640" y="6144768"/>
            <a:ext cx="10268712" cy="239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모아페이 코호트 분석, 2026년 6월 기준 (예시 수치)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95528"/>
            <a:ext cx="11091672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수수료와 속도 모두에서 앞선다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0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경쟁</a:t>
            </a:r>
            <a:endParaRPr lang="en-US" sz="1000" dirty="0"/>
          </a:p>
        </p:txBody>
      </p:sp>
      <p:graphicFrame>
        <p:nvGraphicFramePr>
          <p:cNvPr id="7" name="mixdog-spec:table:toned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5074"/>
          <a:ext cx="11091672" cy="3785616"/>
        </p:xfrm>
        <a:graphic>
          <a:graphicData uri="http://schemas.openxmlformats.org/drawingml/2006/table">
            <a:tbl>
              <a:tblPr/>
              <a:tblGrid>
                <a:gridCol w="2926080"/>
                <a:gridCol w="2011680"/>
                <a:gridCol w="1828800"/>
                <a:gridCol w="2011680"/>
                <a:gridCol w="2313432"/>
              </a:tblGrid>
              <a:tr h="420624"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항목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모아페이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A사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B사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판정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송금 수수료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무료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500원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무료 (월 5회)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3D715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우위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4E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평균 송금 시간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1.2초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3.8초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2.4초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3D715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우위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4E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가맹점 결제 수수료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1.6%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2.1%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1.8%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3D715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우위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4E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대출 비교 금융사 수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62곳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48곳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71곳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715F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보통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E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투자 상품 수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1,200개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3,400개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900개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7141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열위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3E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해외 송금 국가 수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18개국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42개국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11개국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7141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열위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3E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고객 문의 응답 시간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11분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3D715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우위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4E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앱 평점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4.8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4.5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4.6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3D715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우위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4E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144768"/>
            <a:ext cx="10268712" cy="239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각사 앱 공시 비교, 2026년 8월 (예시 수치)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95528"/>
            <a:ext cx="11091672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한 명이 비용의 4.2배를 벌어온다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433322"/>
            <a:ext cx="11091672" cy="340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LTV와 CAC는 2025년 가입 코호트 기준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0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단위 경제성</a:t>
            </a:r>
            <a:endParaRPr lang="en-US" sz="1000" dirty="0"/>
          </a:p>
        </p:txBody>
      </p:sp>
      <p:sp>
        <p:nvSpPr>
          <p:cNvPr id="5" name="mixdog-spec:cards:accent"/>
          <p:cNvSpPr/>
          <p:nvPr/>
        </p:nvSpPr>
        <p:spPr>
          <a:xfrm>
            <a:off x="548640" y="2002536"/>
            <a:ext cx="2690622" cy="2377440"/>
          </a:xfrm>
          <a:prstGeom prst="roundRect">
            <a:avLst>
              <a:gd name="adj" fmla="val 6154"/>
            </a:avLst>
          </a:prstGeom>
          <a:solidFill>
            <a:srgbClr val="1C6FE3"/>
          </a:solidFill>
          <a:ln w="12700">
            <a:solidFill>
              <a:srgbClr val="1C6FE3"/>
            </a:solidFill>
            <a:prstDash val="solid"/>
          </a:ln>
        </p:spPr>
      </p:sp>
      <p:pic>
        <p:nvPicPr>
          <p:cNvPr id="6" name="Icon" descr="LTV / CAC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7240" y="2231136"/>
            <a:ext cx="274320" cy="274320"/>
          </a:xfrm>
          <a:prstGeom prst="rect">
            <a:avLst/>
          </a:prstGeom>
        </p:spPr>
      </p:pic>
      <p:sp>
        <p:nvSpPr>
          <p:cNvPr id="7" name="mixdog-spec:stat:band"/>
          <p:cNvSpPr/>
          <p:nvPr/>
        </p:nvSpPr>
        <p:spPr>
          <a:xfrm>
            <a:off x="777240" y="2615184"/>
            <a:ext cx="2233422" cy="6614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buNone/>
            </a:pPr>
            <a:r>
              <a:rPr lang="en-US" sz="4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4.2</a:t>
            </a: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</a:t>
            </a:r>
            <a:endParaRPr lang="en-US" sz="4100" dirty="0"/>
          </a:p>
        </p:txBody>
      </p:sp>
      <p:sp>
        <p:nvSpPr>
          <p:cNvPr id="8" name="Text 5"/>
          <p:cNvSpPr/>
          <p:nvPr/>
        </p:nvSpPr>
        <p:spPr>
          <a:xfrm>
            <a:off x="777240" y="3331464"/>
            <a:ext cx="2233422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LTV / CAC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77240" y="3663696"/>
            <a:ext cx="223342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업계 평균 3배를 넘는다</a:t>
            </a:r>
            <a:endParaRPr lang="en-US" sz="1100" dirty="0"/>
          </a:p>
        </p:txBody>
      </p:sp>
      <p:sp>
        <p:nvSpPr>
          <p:cNvPr id="10" name="mixdog-spec:cards:default"/>
          <p:cNvSpPr/>
          <p:nvPr/>
        </p:nvSpPr>
        <p:spPr>
          <a:xfrm>
            <a:off x="3348990" y="2002536"/>
            <a:ext cx="2690622" cy="2377440"/>
          </a:xfrm>
          <a:prstGeom prst="roundRect">
            <a:avLst>
              <a:gd name="adj" fmla="val 6154"/>
            </a:avLst>
          </a:prstGeom>
          <a:solidFill>
            <a:srgbClr val="E7EAEE"/>
          </a:solidFill>
          <a:ln w="12700">
            <a:solidFill>
              <a:srgbClr val="E7EAEE"/>
            </a:solidFill>
            <a:prstDash val="solid"/>
          </a:ln>
        </p:spPr>
      </p:sp>
      <p:pic>
        <p:nvPicPr>
          <p:cNvPr id="11" name="Icon" descr="사용자 획득 비용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577590" y="2231136"/>
            <a:ext cx="274320" cy="274320"/>
          </a:xfrm>
          <a:prstGeom prst="rect">
            <a:avLst/>
          </a:prstGeom>
        </p:spPr>
      </p:pic>
      <p:sp>
        <p:nvSpPr>
          <p:cNvPr id="12" name="mixdog-spec:stat:band"/>
          <p:cNvSpPr/>
          <p:nvPr/>
        </p:nvSpPr>
        <p:spPr>
          <a:xfrm>
            <a:off x="3577590" y="2615184"/>
            <a:ext cx="2233422" cy="6614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buNone/>
            </a:pPr>
            <a:r>
              <a:rPr lang="en-US" sz="41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8,400</a:t>
            </a:r>
            <a:r>
              <a:rPr lang="en-US" sz="16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</a:t>
            </a:r>
            <a:endParaRPr lang="en-US" sz="4100" dirty="0"/>
          </a:p>
        </p:txBody>
      </p:sp>
      <p:sp>
        <p:nvSpPr>
          <p:cNvPr id="13" name="Text 9"/>
          <p:cNvSpPr/>
          <p:nvPr/>
        </p:nvSpPr>
        <p:spPr>
          <a:xfrm>
            <a:off x="3577590" y="3331464"/>
            <a:ext cx="2233422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획득 비용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577590" y="3663696"/>
            <a:ext cx="223342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전년 대비 22% 낮아졌다</a:t>
            </a:r>
            <a:endParaRPr lang="en-US" sz="1100" dirty="0"/>
          </a:p>
        </p:txBody>
      </p:sp>
      <p:sp>
        <p:nvSpPr>
          <p:cNvPr id="15" name="mixdog-spec:cards:default"/>
          <p:cNvSpPr/>
          <p:nvPr/>
        </p:nvSpPr>
        <p:spPr>
          <a:xfrm>
            <a:off x="6149340" y="2002536"/>
            <a:ext cx="2690622" cy="2377440"/>
          </a:xfrm>
          <a:prstGeom prst="roundRect">
            <a:avLst>
              <a:gd name="adj" fmla="val 6154"/>
            </a:avLst>
          </a:prstGeom>
          <a:solidFill>
            <a:srgbClr val="E7EAEE"/>
          </a:solidFill>
          <a:ln w="12700">
            <a:solidFill>
              <a:srgbClr val="E7EAEE"/>
            </a:solidFill>
            <a:prstDash val="solid"/>
          </a:ln>
        </p:spPr>
      </p:sp>
      <p:pic>
        <p:nvPicPr>
          <p:cNvPr id="16" name="Icon" descr="회수 기간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77940" y="2231136"/>
            <a:ext cx="274320" cy="274320"/>
          </a:xfrm>
          <a:prstGeom prst="rect">
            <a:avLst/>
          </a:prstGeom>
        </p:spPr>
      </p:pic>
      <p:sp>
        <p:nvSpPr>
          <p:cNvPr id="17" name="mixdog-spec:stat:band"/>
          <p:cNvSpPr/>
          <p:nvPr/>
        </p:nvSpPr>
        <p:spPr>
          <a:xfrm>
            <a:off x="6377940" y="2615184"/>
            <a:ext cx="2233422" cy="6614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buNone/>
            </a:pPr>
            <a:r>
              <a:rPr lang="en-US" sz="41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</a:t>
            </a:r>
            <a:r>
              <a:rPr lang="en-US" sz="16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개월</a:t>
            </a:r>
            <a:endParaRPr lang="en-US" sz="4100" dirty="0"/>
          </a:p>
        </p:txBody>
      </p:sp>
      <p:sp>
        <p:nvSpPr>
          <p:cNvPr id="18" name="Text 13"/>
          <p:cNvSpPr/>
          <p:nvPr/>
        </p:nvSpPr>
        <p:spPr>
          <a:xfrm>
            <a:off x="6377940" y="3331464"/>
            <a:ext cx="2233422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회수 기간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6377940" y="3663696"/>
            <a:ext cx="223342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가입 후 비용 회수까지</a:t>
            </a:r>
            <a:endParaRPr lang="en-US" sz="1100" dirty="0"/>
          </a:p>
        </p:txBody>
      </p:sp>
      <p:sp>
        <p:nvSpPr>
          <p:cNvPr id="20" name="mixdog-spec:cards:default"/>
          <p:cNvSpPr/>
          <p:nvPr/>
        </p:nvSpPr>
        <p:spPr>
          <a:xfrm>
            <a:off x="8949690" y="2002536"/>
            <a:ext cx="2690622" cy="2377440"/>
          </a:xfrm>
          <a:prstGeom prst="roundRect">
            <a:avLst>
              <a:gd name="adj" fmla="val 6154"/>
            </a:avLst>
          </a:prstGeom>
          <a:solidFill>
            <a:srgbClr val="E7EAEE"/>
          </a:solidFill>
          <a:ln w="12700">
            <a:solidFill>
              <a:srgbClr val="E7EAEE"/>
            </a:solidFill>
            <a:prstDash val="solid"/>
          </a:ln>
        </p:spPr>
      </p:sp>
      <p:pic>
        <p:nvPicPr>
          <p:cNvPr id="21" name="Icon" descr="12개월 유지율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178290" y="2231136"/>
            <a:ext cx="274320" cy="274320"/>
          </a:xfrm>
          <a:prstGeom prst="rect">
            <a:avLst/>
          </a:prstGeom>
        </p:spPr>
      </p:pic>
      <p:sp>
        <p:nvSpPr>
          <p:cNvPr id="22" name="mixdog-spec:stat:band"/>
          <p:cNvSpPr/>
          <p:nvPr/>
        </p:nvSpPr>
        <p:spPr>
          <a:xfrm>
            <a:off x="9178290" y="2615184"/>
            <a:ext cx="2233422" cy="6614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buNone/>
            </a:pPr>
            <a:r>
              <a:rPr lang="en-US" sz="41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81</a:t>
            </a:r>
            <a:r>
              <a:rPr lang="en-US" sz="16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%</a:t>
            </a:r>
            <a:endParaRPr lang="en-US" sz="4100" dirty="0"/>
          </a:p>
        </p:txBody>
      </p:sp>
      <p:sp>
        <p:nvSpPr>
          <p:cNvPr id="23" name="Text 17"/>
          <p:cNvSpPr/>
          <p:nvPr/>
        </p:nvSpPr>
        <p:spPr>
          <a:xfrm>
            <a:off x="9178290" y="3331464"/>
            <a:ext cx="2233422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12개월 유지율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9178290" y="3663696"/>
            <a:ext cx="223342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가입 코호트 기준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548640" y="4791456"/>
            <a:ext cx="110916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획득 비용이 낮아진 것은 지인 송금 유입 비중이 64%로 올라갔기 때문이다. 유지율이 80%를 넘으면서 회수 기간도 18개월에서 14개월로</a:t>
            </a:r>
            <a:br/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줄었다.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548640" y="6144768"/>
            <a:ext cx="10268712" cy="239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모아페이 코호트 분석 (예시 수치)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95528"/>
            <a:ext cx="11091672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18개월 안에 결제와 대출을 두 번째 축으로 세운다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0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로드맵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735074"/>
            <a:ext cx="11091672" cy="2242566"/>
          </a:xfrm>
          <a:prstGeom prst="rect">
            <a:avLst/>
          </a:prstGeom>
          <a:solidFill>
            <a:srgbClr val="E7EAEE"/>
          </a:solidFill>
          <a:ln w="12700">
            <a:solidFill>
              <a:srgbClr val="E7EA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856357"/>
            <a:ext cx="10634472" cy="0"/>
          </a:xfrm>
          <a:prstGeom prst="line">
            <a:avLst/>
          </a:prstGeom>
          <a:noFill/>
          <a:ln w="19050">
            <a:solidFill>
              <a:srgbClr val="5E636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18473" y="2526492"/>
            <a:ext cx="659730" cy="659730"/>
          </a:xfrm>
          <a:prstGeom prst="ellipse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18473" y="2526492"/>
            <a:ext cx="659730" cy="659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ctr" indent="0" marL="0">
              <a:buNone/>
            </a:pPr>
            <a:r>
              <a:rPr lang="en-US" sz="11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26.4Q</a:t>
            </a:r>
            <a:endParaRPr lang="en-US" sz="1100" dirty="0"/>
          </a:p>
        </p:txBody>
      </p:sp>
      <p:sp>
        <p:nvSpPr>
          <p:cNvPr id="8" name="mixdog-spec:structure:timeline"/>
          <p:cNvSpPr/>
          <p:nvPr/>
        </p:nvSpPr>
        <p:spPr>
          <a:xfrm>
            <a:off x="832104" y="3295950"/>
            <a:ext cx="20324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오프라인 결제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60668" y="2526492"/>
            <a:ext cx="659730" cy="659730"/>
          </a:xfrm>
          <a:prstGeom prst="ellipse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60668" y="2526492"/>
            <a:ext cx="659730" cy="659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ctr" indent="0" marL="0">
              <a:buNone/>
            </a:pPr>
            <a:r>
              <a:rPr lang="en-US" sz="11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27.1Q</a:t>
            </a:r>
            <a:endParaRPr lang="en-US" sz="1100" dirty="0"/>
          </a:p>
        </p:txBody>
      </p:sp>
      <p:sp>
        <p:nvSpPr>
          <p:cNvPr id="11" name="mixdog-spec:structure:timeline"/>
          <p:cNvSpPr/>
          <p:nvPr/>
        </p:nvSpPr>
        <p:spPr>
          <a:xfrm>
            <a:off x="2974300" y="2087580"/>
            <a:ext cx="20324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대환대출 비교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764611" y="2526492"/>
            <a:ext cx="659730" cy="659730"/>
          </a:xfrm>
          <a:prstGeom prst="ellipse">
            <a:avLst/>
          </a:prstGeom>
          <a:solidFill>
            <a:srgbClr val="1C6FE3"/>
          </a:solidFill>
          <a:ln w="12700">
            <a:solidFill>
              <a:srgbClr val="1C6F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4611" y="2526492"/>
            <a:ext cx="659730" cy="659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27.2Q</a:t>
            </a:r>
            <a:endParaRPr lang="en-US" sz="1100" dirty="0"/>
          </a:p>
        </p:txBody>
      </p:sp>
      <p:sp>
        <p:nvSpPr>
          <p:cNvPr id="14" name="mixdog-spec:structure:timeline"/>
          <p:cNvSpPr/>
          <p:nvPr/>
        </p:nvSpPr>
        <p:spPr>
          <a:xfrm>
            <a:off x="5116496" y="3295950"/>
            <a:ext cx="195596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해외 송금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021567" y="2526492"/>
            <a:ext cx="659730" cy="659730"/>
          </a:xfrm>
          <a:prstGeom prst="ellipse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21567" y="2526492"/>
            <a:ext cx="659730" cy="659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ctr" indent="0" marL="0">
              <a:buNone/>
            </a:pPr>
            <a:r>
              <a:rPr lang="en-US" sz="11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27.4Q</a:t>
            </a:r>
            <a:endParaRPr lang="en-US" sz="1100" dirty="0"/>
          </a:p>
        </p:txBody>
      </p:sp>
      <p:sp>
        <p:nvSpPr>
          <p:cNvPr id="17" name="mixdog-spec:structure:timeline"/>
          <p:cNvSpPr/>
          <p:nvPr/>
        </p:nvSpPr>
        <p:spPr>
          <a:xfrm>
            <a:off x="7182184" y="2087580"/>
            <a:ext cx="2338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자체 심사 모델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0163763" y="2526492"/>
            <a:ext cx="659730" cy="659730"/>
          </a:xfrm>
          <a:prstGeom prst="ellipse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163763" y="2526492"/>
            <a:ext cx="659730" cy="659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ctr" indent="0" marL="0">
              <a:buNone/>
            </a:pPr>
            <a:r>
              <a:rPr lang="en-US" sz="11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28.1Q</a:t>
            </a:r>
            <a:endParaRPr lang="en-US" sz="1100" dirty="0"/>
          </a:p>
        </p:txBody>
      </p:sp>
      <p:sp>
        <p:nvSpPr>
          <p:cNvPr id="20" name="mixdog-spec:structure:timeline"/>
          <p:cNvSpPr/>
          <p:nvPr/>
        </p:nvSpPr>
        <p:spPr>
          <a:xfrm>
            <a:off x="9630408" y="3295950"/>
            <a:ext cx="1726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흑자 연간화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4389120"/>
            <a:ext cx="11091672" cy="0"/>
          </a:xfrm>
          <a:prstGeom prst="line">
            <a:avLst/>
          </a:prstGeom>
          <a:noFill/>
          <a:ln w="9525">
            <a:solidFill>
              <a:srgbClr val="D7DBD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498848"/>
            <a:ext cx="3422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결제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48640" y="4992624"/>
            <a:ext cx="342290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오프라인 가맹점 30만 곳</a:t>
            </a:r>
            <a:br/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QR 결제 전국 확대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383024" y="4498848"/>
            <a:ext cx="3422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대출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383024" y="4992624"/>
            <a:ext cx="342290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대환대출 자동 비교</a:t>
            </a:r>
            <a:br/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중금리 자체 심사 모델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217408" y="4498848"/>
            <a:ext cx="3422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해외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217408" y="4992624"/>
            <a:ext cx="342290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일본과 베트남 송금</a:t>
            </a:r>
            <a:br/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현지 파트너 2곳 계약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48640" y="6144768"/>
            <a:ext cx="10268712" cy="239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계획은 2026년 9월 기준이며 변경될 수 있다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6FE3"/>
          </a:solidFill>
          <a:ln w="12700">
            <a:solidFill>
              <a:srgbClr val="1C6FE3"/>
            </a:solidFill>
            <a:prstDash val="solid"/>
          </a:ln>
        </p:spPr>
      </p:sp>
      <p:pic>
        <p:nvPicPr>
          <p:cNvPr id="3" name="mixdog-device:orb" descr="sphe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36408" y="1453896"/>
            <a:ext cx="3950208" cy="39502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81051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시리즈 D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2194560"/>
            <a:ext cx="7132320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다음 1,000만 명을 함께</a:t>
            </a:r>
            <a:br/>
            <a:r>
              <a:rPr lang="en-US" sz="4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만들어 주십시오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548640" y="4005072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ir@moapay.example · 모아페이 IR팀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2026-09-23T09:07:39Z</dcterms:created>
  <dcterms:modified xsi:type="dcterms:W3CDTF">2026-09-23T09:07:39Z</dcterms:modified>
</cp:coreProperties>
</file>