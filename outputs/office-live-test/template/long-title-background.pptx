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82251E-1F81-4336-8E01-AC3D30384EFA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F51DC-1C0B-453A-B44C-AC78C510F3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58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timeline-rise. Use when stages build maturity or value over time.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7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554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9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967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141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구역 머리글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869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860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193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5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795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489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466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254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630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50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327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504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795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528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333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360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933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96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8921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0716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0459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195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924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2026-09-23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87633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1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68D29-240F-5D45-ECFF-8812ECC14C25}"/>
              </a:ext>
            </a:extLst>
          </p:cNvPr>
          <p:cNvSpPr txBox="1"/>
          <p:nvPr/>
        </p:nvSpPr>
        <p:spPr>
          <a:xfrm>
            <a:off x="736600" y="5842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ko-KR" altLang="en-US" sz="3300" b="1">
                <a:solidFill>
                  <a:srgbClr val="171A1F"/>
                </a:solidFill>
                <a:latin typeface="Georgia" panose="02040502050405020303" pitchFamily="18" charset="0"/>
              </a:rPr>
              <a:t>야간 출고 전환은 네 단계로</a:t>
            </a:r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, </a:t>
            </a:r>
            <a:r>
              <a:rPr lang="ko-KR" altLang="en-US" sz="3300" b="1">
                <a:solidFill>
                  <a:srgbClr val="171A1F"/>
                </a:solidFill>
                <a:latin typeface="Georgia" panose="02040502050405020303" pitchFamily="18" charset="0"/>
              </a:rPr>
              <a:t>허브별 파일럿을 거쳐 전국으로 확대한다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7ECDC-7C3D-6F3E-4276-A3BCB822FBE8}"/>
              </a:ext>
            </a:extLst>
          </p:cNvPr>
          <p:cNvSpPr txBox="1"/>
          <p:nvPr/>
        </p:nvSpPr>
        <p:spPr>
          <a:xfrm>
            <a:off x="787400" y="22352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71A1F"/>
                </a:solidFill>
                <a:latin typeface="Arial" panose="020B0604020202020204" pitchFamily="34" charset="0"/>
              </a:rPr>
              <a:t>진단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B176DF-8C0B-7F7D-348A-5223FC532BF1}"/>
              </a:ext>
            </a:extLst>
          </p:cNvPr>
          <p:cNvSpPr txBox="1"/>
          <p:nvPr/>
        </p:nvSpPr>
        <p:spPr>
          <a:xfrm>
            <a:off x="787400" y="29718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646B73"/>
                </a:solidFill>
                <a:latin typeface="Arial" panose="020B0604020202020204" pitchFamily="34" charset="0"/>
              </a:rPr>
              <a:t>허브별 출고 대기와 반품 기간을 </a:t>
            </a:r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4</a:t>
            </a:r>
            <a:r>
              <a:rPr lang="ko-KR" altLang="en-US" sz="1200">
                <a:solidFill>
                  <a:srgbClr val="646B73"/>
                </a:solidFill>
                <a:latin typeface="Arial" panose="020B0604020202020204" pitchFamily="34" charset="0"/>
              </a:rPr>
              <a:t>주 측정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4B93F88-7FE1-B52E-B46B-9CEFFDC9C0F9}"/>
              </a:ext>
            </a:extLst>
          </p:cNvPr>
          <p:cNvSpPr/>
          <p:nvPr/>
        </p:nvSpPr>
        <p:spPr>
          <a:xfrm>
            <a:off x="787400" y="4394200"/>
            <a:ext cx="2159000" cy="177800"/>
          </a:xfrm>
          <a:prstGeom prst="rect">
            <a:avLst/>
          </a:prstGeom>
          <a:solidFill>
            <a:srgbClr val="C7422F"/>
          </a:solidFill>
          <a:ln>
            <a:solidFill>
              <a:srgbClr val="C742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FFE0A3-9DD1-C5B0-5C76-2E0F5DB41EC6}"/>
              </a:ext>
            </a:extLst>
          </p:cNvPr>
          <p:cNvSpPr txBox="1"/>
          <p:nvPr/>
        </p:nvSpPr>
        <p:spPr>
          <a:xfrm>
            <a:off x="3429000" y="27178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71A1F"/>
                </a:solidFill>
                <a:latin typeface="Arial" panose="020B0604020202020204" pitchFamily="34" charset="0"/>
              </a:rPr>
              <a:t>파일럿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9206B-C42E-1F28-6EE4-65313D576E62}"/>
              </a:ext>
            </a:extLst>
          </p:cNvPr>
          <p:cNvSpPr txBox="1"/>
          <p:nvPr/>
        </p:nvSpPr>
        <p:spPr>
          <a:xfrm>
            <a:off x="3429000" y="34544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646B73"/>
                </a:solidFill>
                <a:latin typeface="Arial" panose="020B0604020202020204" pitchFamily="34" charset="0"/>
              </a:rPr>
              <a:t>평택에서 </a:t>
            </a:r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6</a:t>
            </a:r>
            <a:r>
              <a:rPr lang="ko-KR" altLang="en-US" sz="1200">
                <a:solidFill>
                  <a:srgbClr val="646B73"/>
                </a:solidFill>
                <a:latin typeface="Arial" panose="020B0604020202020204" pitchFamily="34" charset="0"/>
              </a:rPr>
              <a:t>주 시범 운영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780DE7-135A-17B8-825A-29902C4E2DCA}"/>
              </a:ext>
            </a:extLst>
          </p:cNvPr>
          <p:cNvSpPr/>
          <p:nvPr/>
        </p:nvSpPr>
        <p:spPr>
          <a:xfrm>
            <a:off x="3429000" y="4876800"/>
            <a:ext cx="2159000" cy="177800"/>
          </a:xfrm>
          <a:prstGeom prst="rect">
            <a:avLst/>
          </a:prstGeom>
          <a:solidFill>
            <a:srgbClr val="254E70"/>
          </a:solidFill>
          <a:ln>
            <a:solidFill>
              <a:srgbClr val="254E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9FDE2D-ADD2-3D67-6B10-A83E72CF0278}"/>
              </a:ext>
            </a:extLst>
          </p:cNvPr>
          <p:cNvSpPr txBox="1"/>
          <p:nvPr/>
        </p:nvSpPr>
        <p:spPr>
          <a:xfrm>
            <a:off x="6070600" y="32004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71A1F"/>
                </a:solidFill>
                <a:latin typeface="Arial" panose="020B0604020202020204" pitchFamily="34" charset="0"/>
              </a:rPr>
              <a:t>확대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89E46B-921F-5766-54B0-D76B5C02B1A9}"/>
              </a:ext>
            </a:extLst>
          </p:cNvPr>
          <p:cNvSpPr txBox="1"/>
          <p:nvPr/>
        </p:nvSpPr>
        <p:spPr>
          <a:xfrm>
            <a:off x="6070600" y="39370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646B73"/>
                </a:solidFill>
                <a:latin typeface="Arial" panose="020B0604020202020204" pitchFamily="34" charset="0"/>
              </a:rPr>
              <a:t>대전</a:t>
            </a:r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·</a:t>
            </a:r>
            <a:r>
              <a:rPr lang="ko-KR" altLang="en-US" sz="1200">
                <a:solidFill>
                  <a:srgbClr val="646B73"/>
                </a:solidFill>
                <a:latin typeface="Arial" panose="020B0604020202020204" pitchFamily="34" charset="0"/>
              </a:rPr>
              <a:t>인천에 반품 라인과 함께 적용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28ECBA-1DEA-27E9-5745-46CDCD3040BE}"/>
              </a:ext>
            </a:extLst>
          </p:cNvPr>
          <p:cNvSpPr/>
          <p:nvPr/>
        </p:nvSpPr>
        <p:spPr>
          <a:xfrm>
            <a:off x="6070600" y="5359400"/>
            <a:ext cx="2159000" cy="177800"/>
          </a:xfrm>
          <a:prstGeom prst="rect">
            <a:avLst/>
          </a:prstGeom>
          <a:solidFill>
            <a:srgbClr val="6B7D6A"/>
          </a:solidFill>
          <a:ln>
            <a:solidFill>
              <a:srgbClr val="6B7D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DDE64F-3FE6-5156-57B7-F1BF660B3C83}"/>
              </a:ext>
            </a:extLst>
          </p:cNvPr>
          <p:cNvSpPr txBox="1"/>
          <p:nvPr/>
        </p:nvSpPr>
        <p:spPr>
          <a:xfrm>
            <a:off x="8712200" y="36830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ko-KR" altLang="en-US" sz="1600" b="1">
                <a:solidFill>
                  <a:srgbClr val="171A1F"/>
                </a:solidFill>
                <a:latin typeface="Arial" panose="020B0604020202020204" pitchFamily="34" charset="0"/>
              </a:rPr>
              <a:t>정착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D726ED-3EF2-A748-0604-62FBBC6BCC14}"/>
              </a:ext>
            </a:extLst>
          </p:cNvPr>
          <p:cNvSpPr txBox="1"/>
          <p:nvPr/>
        </p:nvSpPr>
        <p:spPr>
          <a:xfrm>
            <a:off x="8712200" y="44196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ko-KR" altLang="en-US" sz="1200">
                <a:solidFill>
                  <a:srgbClr val="646B73"/>
                </a:solidFill>
                <a:latin typeface="Arial" panose="020B0604020202020204" pitchFamily="34" charset="0"/>
              </a:rPr>
              <a:t>운영 기준 문서화</a:t>
            </a:r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, </a:t>
            </a:r>
            <a:r>
              <a:rPr lang="ko-KR" altLang="en-US" sz="1200">
                <a:solidFill>
                  <a:srgbClr val="646B73"/>
                </a:solidFill>
                <a:latin typeface="Arial" panose="020B0604020202020204" pitchFamily="34" charset="0"/>
              </a:rPr>
              <a:t>분기 점검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36D226-7DA1-B022-39D1-FF8B8DE032D4}"/>
              </a:ext>
            </a:extLst>
          </p:cNvPr>
          <p:cNvSpPr/>
          <p:nvPr/>
        </p:nvSpPr>
        <p:spPr>
          <a:xfrm>
            <a:off x="8712200" y="5842000"/>
            <a:ext cx="2159000" cy="177800"/>
          </a:xfrm>
          <a:prstGeom prst="rect">
            <a:avLst/>
          </a:prstGeom>
          <a:solidFill>
            <a:srgbClr val="171A1F"/>
          </a:solidFill>
          <a:ln>
            <a:solidFill>
              <a:srgbClr val="171A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140306"/>
      </p:ext>
    </p:extLst>
  </p:cSld>
  <p:clrMapOvr>
    <a:masterClrMapping/>
  </p:clrMapOvr>
</p:sld>
</file>

<file path=ppt/theme/theme1.xml><?xml version="1.0" encoding="utf-8"?>
<a:theme xmlns:a="http://schemas.openxmlformats.org/drawingml/2006/main" name="사설적">
  <a:themeElements>
    <a:clrScheme name="사설적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0</TotalTime>
  <Words>57</Words>
  <Application>Microsoft Office PowerPoint</Application>
  <PresentationFormat>와이드스크린</PresentationFormat>
  <Paragraphs>11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맑은 고딕</vt:lpstr>
      <vt:lpstr>Aptos</vt:lpstr>
      <vt:lpstr>Arial</vt:lpstr>
      <vt:lpstr>Georgia</vt:lpstr>
      <vt:lpstr>Haettenschweiler</vt:lpstr>
      <vt:lpstr>Trade Gothic Next Light</vt:lpstr>
      <vt:lpstr>사설적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재영 박</dc:creator>
  <cp:lastModifiedBy>Bob</cp:lastModifiedBy>
  <cp:revision>7</cp:revision>
  <dcterms:created xsi:type="dcterms:W3CDTF">2026-08-28T15:13:24Z</dcterms:created>
  <dcterms:modified xsi:type="dcterms:W3CDTF">2026-09-23T11:31:32Z</dcterms:modified>
</cp:coreProperties>
</file>