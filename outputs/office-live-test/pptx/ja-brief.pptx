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パイロット区</c:v>
                </c:pt>
              </c:strCache>
            </c:strRef>
          </c:tx>
          <c:spPr>
            <a:solidFill>
              <a:srgbClr val="E33D1C"/>
            </a:solidFill>
            <a:ln w="31750" cap="flat">
              <a:solidFill>
                <a:srgbClr val="E33D1C"/>
              </a:solidFill>
              <a:prstDash val="solid"/>
              <a:round/>
            </a:ln>
            <a:effectLst/>
          </c:spPr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75D"/>
                    </a:solidFill>
                    <a:latin typeface="Noto Sans JP"/>
                    <a:ea typeface="Noto Sans JP"/>
                    <a:cs typeface="Noto Sans JP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3D1C"/>
              </a:solidFill>
              <a:ln w="9525" cap="flat">
                <a:solidFill>
                  <a:srgbClr val="E33D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1週</c:v>
                  </c:pt>
                  <c:pt idx="1">
                    <c:v>2週</c:v>
                  </c:pt>
                  <c:pt idx="2">
                    <c:v>3週</c:v>
                  </c:pt>
                  <c:pt idx="3">
                    <c:v>4週</c:v>
                  </c:pt>
                  <c:pt idx="4">
                    <c:v>5週</c:v>
                  </c:pt>
                  <c:pt idx="5">
                    <c:v>6週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</c:v>
                </c:pt>
                <c:pt idx="1">
                  <c:v>68</c:v>
                </c:pt>
                <c:pt idx="2">
                  <c:v>66</c:v>
                </c:pt>
                <c:pt idx="3">
                  <c:v>65</c:v>
                </c:pt>
                <c:pt idx="4">
                  <c:v>65</c:v>
                </c:pt>
                <c:pt idx="5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その他の区</c:v>
                </c:pt>
              </c:strCache>
            </c:strRef>
          </c:tx>
          <c:spPr>
            <a:solidFill>
              <a:srgbClr val="5E6268"/>
            </a:solidFill>
            <a:ln w="31750" cap="flat">
              <a:solidFill>
                <a:srgbClr val="5E6268"/>
              </a:solidFill>
              <a:prstDash val="solid"/>
              <a:round/>
            </a:ln>
            <a:effectLst/>
          </c:spPr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75D"/>
                    </a:solidFill>
                    <a:latin typeface="Noto Sans JP"/>
                    <a:ea typeface="Noto Sans JP"/>
                    <a:cs typeface="Noto Sans JP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E6268"/>
              </a:solidFill>
              <a:ln w="9525" cap="flat">
                <a:solidFill>
                  <a:srgbClr val="5E62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1週</c:v>
                  </c:pt>
                  <c:pt idx="1">
                    <c:v>2週</c:v>
                  </c:pt>
                  <c:pt idx="2">
                    <c:v>3週</c:v>
                  </c:pt>
                  <c:pt idx="3">
                    <c:v>4週</c:v>
                  </c:pt>
                  <c:pt idx="4">
                    <c:v>5週</c:v>
                  </c:pt>
                  <c:pt idx="5">
                    <c:v>6週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71</c:v>
                </c:pt>
                <c:pt idx="3">
                  <c:v>70</c:v>
                </c:pt>
                <c:pt idx="4">
                  <c:v>71</c:v>
                </c:pt>
                <c:pt idx="5">
                  <c:v>70</c:v>
                </c:pt>
              </c:numCache>
            </c:numRef>
          </c:val>
          <c:smooth val="0"/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75D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AD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C475D"/>
              </a:solidFill>
              <a:latin typeface="Noto Sans JP"/>
              <a:ea typeface="Noto Sans JP"/>
              <a:cs typeface="Noto Sans JP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JP"/>
          <a:ea typeface="Noto Sans JP"/>
          <a:cs typeface="Noto Sans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短縮時間（分）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E33D1C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75D"/>
                    </a:solidFill>
                    <a:latin typeface="Noto Sans JP"/>
                    <a:ea typeface="Noto Sans JP"/>
                    <a:cs typeface="Noto Sans JP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中央区</c:v>
                  </c:pt>
                  <c:pt idx="1">
                    <c:v>港区</c:v>
                  </c:pt>
                  <c:pt idx="2">
                    <c:v>新宿区</c:v>
                  </c:pt>
                  <c:pt idx="3">
                    <c:v>渋谷区</c:v>
                  </c:pt>
                  <c:pt idx="4">
                    <c:v>品川区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29</c:v>
                </c:pt>
                <c:pt idx="2">
                  <c:v>20</c:v>
                </c:pt>
                <c:pt idx="3">
                  <c:v>19</c:v>
                </c:pt>
                <c:pt idx="4">
                  <c:v>27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75D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JP"/>
          <a:ea typeface="Noto Sans JP"/>
          <a:cs typeface="Noto Sans JP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4C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B436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都市物流レポート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E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夜が変わると、</a:t>
            </a:r>
            <a:br/>
            <a:r>
              <a:rPr lang="en-US" sz="4200" b="1" dirty="0">
                <a:solidFill>
                  <a:srgbClr val="B436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昼の道路が空いた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7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夜間配送パイロット最初の6週間の報告。交通委員会向け資料。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5A62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2026年9月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E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渋滞指数は6週間で7ポイント下がり、戻らなかった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B436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実績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11091672" cy="31752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2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平日7時〜19時の平均。出典：市交通局（例示）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E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夜間便はすべての区で速かった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B436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436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最大の短縮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7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港区では20件のルートが29分短くなった。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647950"/>
            <a:ext cx="4058473" cy="0"/>
          </a:xfrm>
          <a:prstGeom prst="line">
            <a:avLst/>
          </a:prstGeom>
          <a:noFill/>
          <a:ln w="12700">
            <a:solidFill>
              <a:srgbClr val="E6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285369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436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最小でも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185922"/>
            <a:ext cx="405847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7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渋谷区でも19分の短縮があった。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2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20件配送ルートの所要時間の中央値。出典：市交通局（例示）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27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2026-09-23T12:16:43Z</dcterms:created>
  <dcterms:modified xsi:type="dcterms:W3CDTF">2026-09-23T12:16:43Z</dcterms:modified>
</cp:coreProperties>
</file>