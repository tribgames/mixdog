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MAU(만 명)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 상반기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410</c:v>
                </c:pt>
                <c:pt idx="1">
                  <c:v>620</c:v>
                </c:pt>
                <c:pt idx="2">
                  <c:v>830</c:v>
                </c:pt>
                <c:pt idx="3">
                  <c:v>1040</c:v>
                </c:pt>
                <c:pt idx="4">
                  <c:v>1260</c:v>
                </c:pt>
                <c:pt idx="5">
                  <c:v>1420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1480</c:v>
                </c:pt>
                <c:pt idx="1">
                  <c:v>1560</c:v>
                </c:pt>
                <c:pt idx="2">
                  <c:v>1690</c:v>
                </c:pt>
                <c:pt idx="3">
                  <c:v>1820</c:v>
                </c:pt>
                <c:pt idx="4">
                  <c:v>1970</c:v>
                </c:pt>
                <c:pt idx="5">
                  <c:v>2150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-182</c:v>
                </c:pt>
                <c:pt idx="1">
                  <c:v>-140</c:v>
                </c:pt>
                <c:pt idx="2">
                  <c:v>-96</c:v>
                </c:pt>
                <c:pt idx="3">
                  <c:v>-41</c:v>
                </c:pt>
                <c:pt idx="4">
                  <c:v>-12</c:v>
                </c:pt>
                <c:pt idx="5">
                  <c:v>86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6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Relationship Id="rId9" Type="http://schemas.openxmlformats.org/officeDocument/2006/relationships/image" Target="../media/mixdog-icon-1.svg"/><Relationship Id="rId10" Type="http://schemas.openxmlformats.org/officeDocument/2006/relationships/image" Target="../media/mixdog-icon-2.svg"/><Relationship Id="rId11" Type="http://schemas.openxmlformats.org/officeDocument/2006/relationships/image" Target="../media/mixdog-icon-3.svg"/><Relationship Id="rId12" Type="http://schemas.openxmlformats.org/officeDocument/2006/relationships/image" Target="../media/mixdog-icon-4.svg"/><Relationship Id="rId13" Type="http://schemas.openxmlformats.org/officeDocument/2006/relationships/image" Target="../media/mixdog-icon-5.svg"/><Relationship Id="rId14" Type="http://schemas.openxmlformats.org/officeDocument/2006/relationships/image" Target="../media/mixdog-icon-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Relationship Id="rId7" Type="http://schemas.openxmlformats.org/officeDocument/2006/relationships/image" Target="../media/mixdog-icon-7.svg"/><Relationship Id="rId8" Type="http://schemas.openxmlformats.org/officeDocument/2006/relationships/image" Target="../media/mixdog-icon-8.svg"/><Relationship Id="rId9" Type="http://schemas.openxmlformats.org/officeDocument/2006/relationships/image" Target="../media/mixdog-icon-9.svg"/><Relationship Id="rId10" Type="http://schemas.openxmlformats.org/officeDocument/2006/relationships/image" Target="../media/mixdog-icon-10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3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-27432"/>
            <a:ext cx="6912864" cy="6912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27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상반기 IR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011680"/>
            <a:ext cx="694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금융을 한 앱에서,</a:t>
            </a:r>
            <a:br/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쉽게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모아페이 · 2026년 9월 · 투자자 설명 자료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spc="400" kern="0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거래자 1,420만 명,</a:t>
            </a:r>
            <a:br/>
            <a:r>
              <a:rPr lang="en-US" sz="42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분기 흑자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944368"/>
            <a:ext cx="6655003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송금으로 들어온 사용자가 결제와 대출로 이어지며 2026년 2분기 처음으로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영업이익을 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48472" y="685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spc="400" kern="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2026-09 · IR</a:t>
            </a:r>
            <a:endParaRPr lang="en-US" sz="1000" dirty="0"/>
          </a:p>
        </p:txBody>
      </p:sp>
      <p:sp>
        <p:nvSpPr>
          <p:cNvPr id="6" name="mixdog-spec:stat:band"/>
          <p:cNvSpPr/>
          <p:nvPr/>
        </p:nvSpPr>
        <p:spPr>
          <a:xfrm>
            <a:off x="548640" y="4233672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1,420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548640" y="5312664"/>
            <a:ext cx="30175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활성 사용자</a:t>
            </a:r>
            <a:endParaRPr lang="en-US" sz="1100" dirty="0"/>
          </a:p>
        </p:txBody>
      </p:sp>
      <p:sp>
        <p:nvSpPr>
          <p:cNvPr id="8" name="mixdog-spec:stat:band"/>
          <p:cNvSpPr/>
          <p:nvPr/>
        </p:nvSpPr>
        <p:spPr>
          <a:xfrm>
            <a:off x="3977640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38.2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3977640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거래액</a:t>
            </a:r>
            <a:endParaRPr lang="en-US" sz="1100" dirty="0"/>
          </a:p>
        </p:txBody>
      </p:sp>
      <p:sp>
        <p:nvSpPr>
          <p:cNvPr id="10" name="mixdog-spec:stat:band"/>
          <p:cNvSpPr/>
          <p:nvPr/>
        </p:nvSpPr>
        <p:spPr>
          <a:xfrm>
            <a:off x="6601968" y="4233672"/>
            <a:ext cx="24140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4,120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6601968" y="5312664"/>
            <a:ext cx="241401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 매출</a:t>
            </a:r>
            <a:endParaRPr lang="en-US" sz="1100" dirty="0"/>
          </a:p>
        </p:txBody>
      </p:sp>
      <p:sp>
        <p:nvSpPr>
          <p:cNvPr id="12" name="mixdog-spec:stat:band"/>
          <p:cNvSpPr/>
          <p:nvPr/>
        </p:nvSpPr>
        <p:spPr>
          <a:xfrm>
            <a:off x="9427464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86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9427464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2분기 영업이익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946648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MAU는 5년 연속 두 자릿수로 늘었다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5074"/>
          <a:ext cx="6621719" cy="399821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1839" y="1735074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581839" y="2067306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2021년 410만 명에서 3.5배로 늘었고, 올해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상반기에도 12.7% 증가했다.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1839" y="2967990"/>
            <a:ext cx="4058473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1839" y="3173730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유입 경로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1839" y="3505962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사용자의 64%가 지인 송금 링크로 들어온다.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광고비 없이 퍼지는 구조다.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단위: 만 명, 월평균 · 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매출이 늘면서 영업손실이 이익으로 바뀌었다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1분기부터 2026년 2분기까지 여섯 분기 추이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매출 (억 원)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0216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영업이익 (억 원)</a:t>
            </a:r>
            <a:endParaRPr lang="en-US" sz="15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0216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분기 실적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송금이 모든 금융 서비스의 입구다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6408115" cy="3998214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5498" y="1963674"/>
            <a:ext cx="914400" cy="91440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pic>
        <p:nvPicPr>
          <p:cNvPr id="6" name="Icon" descr="결제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5538" y="2146554"/>
            <a:ext cx="274320" cy="274320"/>
          </a:xfrm>
          <a:prstGeom prst="rect">
            <a:avLst/>
          </a:prstGeom>
        </p:spPr>
      </p:pic>
      <p:sp>
        <p:nvSpPr>
          <p:cNvPr id="7" name="mixdog-spec:structure:hub"/>
          <p:cNvSpPr/>
          <p:nvPr/>
        </p:nvSpPr>
        <p:spPr>
          <a:xfrm>
            <a:off x="3405226" y="1963674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44527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9" name="Icon" descr="대출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4567" y="3054027"/>
            <a:ext cx="274320" cy="274320"/>
          </a:xfrm>
          <a:prstGeom prst="rect">
            <a:avLst/>
          </a:prstGeom>
        </p:spPr>
      </p:pic>
      <p:sp>
        <p:nvSpPr>
          <p:cNvPr id="10" name="mixdog-spec:structure:hub"/>
          <p:cNvSpPr/>
          <p:nvPr/>
        </p:nvSpPr>
        <p:spPr>
          <a:xfrm>
            <a:off x="4654255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67440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2" name="Icon" descr="투자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87480" y="4522349"/>
            <a:ext cx="274320" cy="274320"/>
          </a:xfrm>
          <a:prstGeom prst="rect">
            <a:avLst/>
          </a:prstGeom>
        </p:spPr>
      </p:pic>
      <p:sp>
        <p:nvSpPr>
          <p:cNvPr id="13" name="mixdog-spec:structure:hub"/>
          <p:cNvSpPr/>
          <p:nvPr/>
        </p:nvSpPr>
        <p:spPr>
          <a:xfrm>
            <a:off x="4177168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523555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5" name="Icon" descr="보험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43595" y="4522349"/>
            <a:ext cx="274320" cy="274320"/>
          </a:xfrm>
          <a:prstGeom prst="rect">
            <a:avLst/>
          </a:prstGeom>
        </p:spPr>
      </p:pic>
      <p:sp>
        <p:nvSpPr>
          <p:cNvPr id="16" name="mixdog-spec:structure:hub"/>
          <p:cNvSpPr/>
          <p:nvPr/>
        </p:nvSpPr>
        <p:spPr>
          <a:xfrm>
            <a:off x="2633283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046468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8" name="Icon" descr="신용관리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66508" y="3054027"/>
            <a:ext cx="274320" cy="274320"/>
          </a:xfrm>
          <a:prstGeom prst="rect">
            <a:avLst/>
          </a:prstGeom>
        </p:spPr>
      </p:pic>
      <p:sp>
        <p:nvSpPr>
          <p:cNvPr id="19" name="mixdog-spec:structure:hub"/>
          <p:cNvSpPr/>
          <p:nvPr/>
        </p:nvSpPr>
        <p:spPr>
          <a:xfrm>
            <a:off x="2156196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신용관리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006319" y="2987802"/>
            <a:ext cx="1492758" cy="1492758"/>
          </a:xfrm>
          <a:prstGeom prst="ellipse">
            <a:avLst/>
          </a:prstGeom>
          <a:solidFill>
            <a:srgbClr val="171F2B"/>
          </a:solidFill>
          <a:ln w="12700">
            <a:solidFill>
              <a:srgbClr val="171F2B"/>
            </a:solidFill>
            <a:prstDash val="solid"/>
          </a:ln>
        </p:spPr>
      </p:sp>
      <p:pic>
        <p:nvPicPr>
          <p:cNvPr id="21" name="Icon" descr="송금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46958" y="3322701"/>
            <a:ext cx="411480" cy="411480"/>
          </a:xfrm>
          <a:prstGeom prst="rect">
            <a:avLst/>
          </a:prstGeom>
        </p:spPr>
      </p:pic>
      <p:sp>
        <p:nvSpPr>
          <p:cNvPr id="22" name="mixdog-spec:structure:hub"/>
          <p:cNvSpPr/>
          <p:nvPr/>
        </p:nvSpPr>
        <p:spPr>
          <a:xfrm>
            <a:off x="3185450" y="2987802"/>
            <a:ext cx="1134496" cy="1492758"/>
          </a:xfrm>
          <a:prstGeom prst="rect">
            <a:avLst/>
          </a:prstGeom>
          <a:noFill/>
          <a:ln/>
        </p:spPr>
        <p:txBody>
          <a:bodyPr wrap="square" lIns="0" tIns="801243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7F8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368235" y="1963674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교차 사용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368235" y="2295906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 사용자의 48%가 90일 안에 두 번째 서비스를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쓴다.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7368235" y="3196590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368235" y="3402330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결제가 다음 축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7368235" y="3734562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거래액은 전년 대비 71% 늘어 매출 기여 1위가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됐다.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7368235" y="4635246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368235" y="4840986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구조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7368235" y="5173218"/>
            <a:ext cx="4272077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서비스 획득 비용은 신규 가입의 5분의 1이다.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코호트 분석, 2026년 6월 기준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수수료와 속도 모두에서 앞선다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</a:t>
            </a:r>
            <a:endParaRPr lang="en-US" sz="1000" dirty="0"/>
          </a:p>
        </p:txBody>
      </p:sp>
      <p:graphicFrame>
        <p:nvGraphicFramePr>
          <p:cNvPr id="7" name="mixdog-spec:table:ton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5074"/>
          <a:ext cx="11091672" cy="3785616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1828800"/>
                <a:gridCol w="2011680"/>
                <a:gridCol w="2313432"/>
              </a:tblGrid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모아페이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송금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 (월 5회)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 송금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3.8초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2.4초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가맹점 결제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2.1%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대출 비교 금융사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62곳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71곳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5F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투자 상품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1,200개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3,400개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해외 송금 국가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문의 응답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앱 평점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4.6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각사 앱 공시 비교, 2026년 8월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한 명이 비용의 4.2배를 벌어온다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LTV와 CAC는 2025년 가입 코호트 기준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경제성</a:t>
            </a:r>
            <a:endParaRPr lang="en-US" sz="1000" dirty="0"/>
          </a:p>
        </p:txBody>
      </p:sp>
      <p:sp>
        <p:nvSpPr>
          <p:cNvPr id="5" name="mixdog-spec:cards:accent"/>
          <p:cNvSpPr/>
          <p:nvPr/>
        </p:nvSpPr>
        <p:spPr>
          <a:xfrm>
            <a:off x="5486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6" name="Icon" descr="LTV / CA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240" y="2231136"/>
            <a:ext cx="274320" cy="274320"/>
          </a:xfrm>
          <a:prstGeom prst="rect">
            <a:avLst/>
          </a:prstGeom>
        </p:spPr>
      </p:pic>
      <p:sp>
        <p:nvSpPr>
          <p:cNvPr id="7" name="mixdog-spec:stat:band"/>
          <p:cNvSpPr/>
          <p:nvPr/>
        </p:nvSpPr>
        <p:spPr>
          <a:xfrm>
            <a:off x="7772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</a:t>
            </a: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</a:t>
            </a:r>
            <a:endParaRPr lang="en-US" sz="4100" dirty="0"/>
          </a:p>
        </p:txBody>
      </p:sp>
      <p:sp>
        <p:nvSpPr>
          <p:cNvPr id="8" name="Text 5"/>
          <p:cNvSpPr/>
          <p:nvPr/>
        </p:nvSpPr>
        <p:spPr>
          <a:xfrm>
            <a:off x="7772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업계 평균 3배를 넘는다</a:t>
            </a:r>
            <a:endParaRPr lang="en-US" sz="1100" dirty="0"/>
          </a:p>
        </p:txBody>
      </p:sp>
      <p:sp>
        <p:nvSpPr>
          <p:cNvPr id="10" name="mixdog-spec:cards:default"/>
          <p:cNvSpPr/>
          <p:nvPr/>
        </p:nvSpPr>
        <p:spPr>
          <a:xfrm>
            <a:off x="33489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11" name="Icon" descr="사용자 획득 비용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77590" y="2231136"/>
            <a:ext cx="274320" cy="274320"/>
          </a:xfrm>
          <a:prstGeom prst="rect">
            <a:avLst/>
          </a:prstGeom>
        </p:spPr>
      </p:pic>
      <p:sp>
        <p:nvSpPr>
          <p:cNvPr id="12" name="mixdog-spec:stat:band"/>
          <p:cNvSpPr/>
          <p:nvPr/>
        </p:nvSpPr>
        <p:spPr>
          <a:xfrm>
            <a:off x="35775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8,400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</a:t>
            </a:r>
            <a:endParaRPr lang="en-US" sz="4100" dirty="0"/>
          </a:p>
        </p:txBody>
      </p:sp>
      <p:sp>
        <p:nvSpPr>
          <p:cNvPr id="13" name="Text 9"/>
          <p:cNvSpPr/>
          <p:nvPr/>
        </p:nvSpPr>
        <p:spPr>
          <a:xfrm>
            <a:off x="35775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획득 비용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775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22% 낮아졌다</a:t>
            </a:r>
            <a:endParaRPr lang="en-US" sz="1100" dirty="0"/>
          </a:p>
        </p:txBody>
      </p:sp>
      <p:sp>
        <p:nvSpPr>
          <p:cNvPr id="15" name="mixdog-spec:cards:default"/>
          <p:cNvSpPr/>
          <p:nvPr/>
        </p:nvSpPr>
        <p:spPr>
          <a:xfrm>
            <a:off x="61493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16" name="Icon" descr="회수 기간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7940" y="2231136"/>
            <a:ext cx="274320" cy="274320"/>
          </a:xfrm>
          <a:prstGeom prst="rect">
            <a:avLst/>
          </a:prstGeom>
        </p:spPr>
      </p:pic>
      <p:sp>
        <p:nvSpPr>
          <p:cNvPr id="17" name="mixdog-spec:stat:band"/>
          <p:cNvSpPr/>
          <p:nvPr/>
        </p:nvSpPr>
        <p:spPr>
          <a:xfrm>
            <a:off x="63779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</a:t>
            </a:r>
            <a:endParaRPr lang="en-US" sz="4100" dirty="0"/>
          </a:p>
        </p:txBody>
      </p:sp>
      <p:sp>
        <p:nvSpPr>
          <p:cNvPr id="18" name="Text 13"/>
          <p:cNvSpPr/>
          <p:nvPr/>
        </p:nvSpPr>
        <p:spPr>
          <a:xfrm>
            <a:off x="63779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회수 기간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779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후 비용 회수까지</a:t>
            </a:r>
            <a:endParaRPr lang="en-US" sz="1100" dirty="0"/>
          </a:p>
        </p:txBody>
      </p:sp>
      <p:sp>
        <p:nvSpPr>
          <p:cNvPr id="20" name="mixdog-spec:cards:default"/>
          <p:cNvSpPr/>
          <p:nvPr/>
        </p:nvSpPr>
        <p:spPr>
          <a:xfrm>
            <a:off x="89496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21" name="Icon" descr="12개월 유지율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78290" y="2231136"/>
            <a:ext cx="274320" cy="274320"/>
          </a:xfrm>
          <a:prstGeom prst="rect">
            <a:avLst/>
          </a:prstGeom>
        </p:spPr>
      </p:pic>
      <p:sp>
        <p:nvSpPr>
          <p:cNvPr id="22" name="mixdog-spec:stat:band"/>
          <p:cNvSpPr/>
          <p:nvPr/>
        </p:nvSpPr>
        <p:spPr>
          <a:xfrm>
            <a:off x="91782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81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4100" dirty="0"/>
          </a:p>
        </p:txBody>
      </p:sp>
      <p:sp>
        <p:nvSpPr>
          <p:cNvPr id="23" name="Text 17"/>
          <p:cNvSpPr/>
          <p:nvPr/>
        </p:nvSpPr>
        <p:spPr>
          <a:xfrm>
            <a:off x="91782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 유지율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1782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코호트 기준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791456"/>
            <a:ext cx="1109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 비용이 낮아진 것은 지인 송금 유입 비중이 64%로 올라갔기 때문이다. 유지율이 80%를 넘으면서 회수 기간도 18개월에서 14개월로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줄었다.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코호트 분석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18개월 안에 결제와 대출을 두 번째 축으로 세운다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11091672" cy="2242566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856357"/>
            <a:ext cx="10634472" cy="0"/>
          </a:xfrm>
          <a:prstGeom prst="line">
            <a:avLst/>
          </a:prstGeom>
          <a:noFill/>
          <a:ln w="19050">
            <a:solidFill>
              <a:srgbClr val="5E63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8473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8473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26.4Q</a:t>
            </a:r>
            <a:endParaRPr lang="en-US" sz="1100" dirty="0"/>
          </a:p>
        </p:txBody>
      </p:sp>
      <p:sp>
        <p:nvSpPr>
          <p:cNvPr id="8" name="mixdog-spec:structure:timeline"/>
          <p:cNvSpPr/>
          <p:nvPr/>
        </p:nvSpPr>
        <p:spPr>
          <a:xfrm>
            <a:off x="832104" y="3295950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결제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60668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0668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27.1Q</a:t>
            </a:r>
            <a:endParaRPr lang="en-US" sz="1100" dirty="0"/>
          </a:p>
        </p:txBody>
      </p:sp>
      <p:sp>
        <p:nvSpPr>
          <p:cNvPr id="11" name="mixdog-spec:structure:timeline"/>
          <p:cNvSpPr/>
          <p:nvPr/>
        </p:nvSpPr>
        <p:spPr>
          <a:xfrm>
            <a:off x="2974300" y="2087580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비교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64611" y="2526492"/>
            <a:ext cx="659730" cy="65973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4611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27.2Q</a:t>
            </a:r>
            <a:endParaRPr lang="en-US" sz="1100" dirty="0"/>
          </a:p>
        </p:txBody>
      </p:sp>
      <p:sp>
        <p:nvSpPr>
          <p:cNvPr id="14" name="mixdog-spec:structure:timeline"/>
          <p:cNvSpPr/>
          <p:nvPr/>
        </p:nvSpPr>
        <p:spPr>
          <a:xfrm>
            <a:off x="5116496" y="3295950"/>
            <a:ext cx="19559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송금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21567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1567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27.4Q</a:t>
            </a:r>
            <a:endParaRPr lang="en-US" sz="1100" dirty="0"/>
          </a:p>
        </p:txBody>
      </p:sp>
      <p:sp>
        <p:nvSpPr>
          <p:cNvPr id="17" name="mixdog-spec:structure:timeline"/>
          <p:cNvSpPr/>
          <p:nvPr/>
        </p:nvSpPr>
        <p:spPr>
          <a:xfrm>
            <a:off x="7182184" y="2087580"/>
            <a:ext cx="233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심사 모델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63763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3763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28.1Q</a:t>
            </a:r>
            <a:endParaRPr lang="en-US" sz="1100" dirty="0"/>
          </a:p>
        </p:txBody>
      </p:sp>
      <p:sp>
        <p:nvSpPr>
          <p:cNvPr id="20" name="mixdog-spec:structure:timeline"/>
          <p:cNvSpPr/>
          <p:nvPr/>
        </p:nvSpPr>
        <p:spPr>
          <a:xfrm>
            <a:off x="9630408" y="3295950"/>
            <a:ext cx="172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흑자 연간화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가맹점 30만 곳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 결제 전국 확대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3024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383024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자동 비교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중금리 자체 심사 모델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7408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17408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일본과 베트남 송금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파트너 2곳 계약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계획은 2026년 9월 기준이며 변경될 수 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3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6408" y="1453896"/>
            <a:ext cx="3950208" cy="3950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10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시리즈 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7132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1,000만 명을 함께</a:t>
            </a:r>
            <a:br/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만들어 주십시오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40050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ir@moapay.example · 모아페이 IR팀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2026-09-23T09:55:02Z</dcterms:created>
  <dcterms:modified xsi:type="dcterms:W3CDTF">2026-09-23T09:55:02Z</dcterms:modified>
</cp:coreProperties>
</file>