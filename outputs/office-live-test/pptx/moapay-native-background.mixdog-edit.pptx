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DF05-489B-AE7D-63FE0BB98A4F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상반기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05-489B-AE7D-63FE0BB98A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5901-4CA0-8861-A8452E74012F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01-4CA0-8861-A8452E7401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B12A-42D6-BA5B-962D460475B1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2A-42D6-BA5B-962D460475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사용자 비중(%)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서울</c:v>
                </c:pt>
                <c:pt idx="1">
                  <c:v>경기</c:v>
                </c:pt>
                <c:pt idx="2">
                  <c:v>부산</c:v>
                </c:pt>
                <c:pt idx="3">
                  <c:v>대구</c:v>
                </c:pt>
                <c:pt idx="4">
                  <c:v>광주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21</c:v>
                </c:pt>
                <c:pt idx="2">
                  <c:v>12</c:v>
                </c:pt>
                <c:pt idx="3">
                  <c:v>9</c:v>
                </c:pt>
                <c:pt idx="4">
                  <c:v>7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EB-450A-AC49-81A37A55D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87910767"/>
        <c:axId val="896890447"/>
      </c:barChart>
      <c:catAx>
        <c:axId val="8791076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6890447"/>
        <c:crosses val="autoZero"/>
        <c:auto val="0"/>
        <c:lblAlgn val="ctr"/>
        <c:lblOffset val="100"/>
        <c:noMultiLvlLbl val="0"/>
      </c:catAx>
      <c:valAx>
        <c:axId val="8968904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9E2DF"/>
              </a:solidFill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910767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1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kern="0" spc="40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kern="0" spc="4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5074"/>
          <a:ext cx="6621719" cy="3998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00216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결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con" descr="대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con" descr="투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con" descr="보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con" descr="신용관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송금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LTV / CA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con" descr="사용자 획득 비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con" descr="회수 기간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12개월 유지율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76598-FEE8-8111-6732-C399AE945A2C}"/>
              </a:ext>
            </a:extLst>
          </p:cNvPr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ko-KR" altLang="en-US" sz="1000" b="1">
                <a:solidFill>
                  <a:srgbClr val="1E5EB8"/>
                </a:solidFill>
                <a:latin typeface="Noto Sans KR" panose="020B0200000000000000" pitchFamily="50" charset="-127"/>
              </a:rPr>
              <a:t>지역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D1800-D6E2-0D52-CC56-9F0B1C9096CD}"/>
              </a:ext>
            </a:extLst>
          </p:cNvPr>
          <p:cNvSpPr txBox="1"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</p:spPr>
        <p:txBody>
          <a:bodyPr vert="horz" rtlCol="0" anchor="b">
            <a:noAutofit/>
          </a:bodyPr>
          <a:lstStyle/>
          <a:p>
            <a:r>
              <a:rPr lang="ko-KR" altLang="en-US" sz="2700" b="1">
                <a:solidFill>
                  <a:srgbClr val="171F2B"/>
                </a:solidFill>
                <a:latin typeface="Noto Sans KR" panose="020B0200000000000000" pitchFamily="50" charset="-127"/>
              </a:rPr>
              <a:t>수도권 밖 사용자가 처음으로 절반을 넘었다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245D67A7-7B0A-52C0-3EF7-8091AC74FB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4535911"/>
              </p:ext>
            </p:extLst>
          </p:nvPr>
        </p:nvGraphicFramePr>
        <p:xfrm>
          <a:off x="548640" y="1628394"/>
          <a:ext cx="7112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DEEA04-1FCA-1A3C-B334-FA75B5661AF4}"/>
              </a:ext>
            </a:extLst>
          </p:cNvPr>
          <p:cNvSpPr txBox="1"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ko-KR" altLang="en-US" sz="1100">
                <a:solidFill>
                  <a:srgbClr val="5A6472"/>
                </a:solidFill>
                <a:latin typeface="Noto Sans KR" panose="020B0200000000000000" pitchFamily="50" charset="-127"/>
              </a:rPr>
              <a:t>출처</a:t>
            </a:r>
            <a:r>
              <a:rPr lang="en-US" altLang="ko-KR" sz="1100">
                <a:solidFill>
                  <a:srgbClr val="5A6472"/>
                </a:solidFill>
                <a:latin typeface="Noto Sans KR" panose="020B0200000000000000" pitchFamily="50" charset="-127"/>
              </a:rPr>
              <a:t>: </a:t>
            </a:r>
            <a:r>
              <a:rPr lang="ko-KR" altLang="en-US" sz="1100">
                <a:solidFill>
                  <a:srgbClr val="5A6472"/>
                </a:solidFill>
                <a:latin typeface="Noto Sans KR" panose="020B0200000000000000" pitchFamily="50" charset="-127"/>
              </a:rPr>
              <a:t>모아페이 내부 집계</a:t>
            </a:r>
            <a:r>
              <a:rPr lang="en-US" altLang="ko-KR" sz="1100">
                <a:solidFill>
                  <a:srgbClr val="5A6472"/>
                </a:solidFill>
                <a:latin typeface="Noto Sans KR" panose="020B0200000000000000" pitchFamily="50" charset="-127"/>
              </a:rPr>
              <a:t>, 2026</a:t>
            </a:r>
            <a:r>
              <a:rPr lang="ko-KR" altLang="en-US" sz="1100">
                <a:solidFill>
                  <a:srgbClr val="5A6472"/>
                </a:solidFill>
                <a:latin typeface="Noto Sans KR" panose="020B0200000000000000" pitchFamily="50" charset="-127"/>
              </a:rPr>
              <a:t>년 </a:t>
            </a:r>
            <a:r>
              <a:rPr lang="en-US" altLang="ko-KR" sz="1100">
                <a:solidFill>
                  <a:srgbClr val="5A6472"/>
                </a:solidFill>
                <a:latin typeface="Noto Sans KR" panose="020B0200000000000000" pitchFamily="50" charset="-127"/>
              </a:rPr>
              <a:t>6</a:t>
            </a:r>
            <a:r>
              <a:rPr lang="ko-KR" altLang="en-US" sz="1100">
                <a:solidFill>
                  <a:srgbClr val="5A6472"/>
                </a:solidFill>
                <a:latin typeface="Noto Sans KR" panose="020B0200000000000000" pitchFamily="50" charset="-127"/>
              </a:rPr>
              <a:t>월 </a:t>
            </a:r>
            <a:r>
              <a:rPr lang="en-US" altLang="ko-KR" sz="1100">
                <a:solidFill>
                  <a:srgbClr val="5A6472"/>
                </a:solidFill>
                <a:latin typeface="Noto Sans KR" panose="020B0200000000000000" pitchFamily="50" charset="-127"/>
              </a:rPr>
              <a:t>(</a:t>
            </a:r>
            <a:r>
              <a:rPr lang="ko-KR" altLang="en-US" sz="1100">
                <a:solidFill>
                  <a:srgbClr val="5A6472"/>
                </a:solidFill>
                <a:latin typeface="Noto Sans KR" panose="020B0200000000000000" pitchFamily="50" charset="-127"/>
              </a:rPr>
              <a:t>예시 수치</a:t>
            </a:r>
            <a:r>
              <a:rPr lang="en-US" altLang="ko-KR" sz="1100">
                <a:solidFill>
                  <a:srgbClr val="5A6472"/>
                </a:solidFill>
                <a:latin typeface="Noto Sans KR" panose="020B0200000000000000" pitchFamily="50" charset="-127"/>
              </a:rPr>
              <a:t>)</a:t>
            </a:r>
            <a:endParaRPr lang="ko-KR" altLang="en-US" sz="1100">
              <a:solidFill>
                <a:srgbClr val="5A6472"/>
              </a:solidFill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4002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PresentationFormat>와이드스크린</PresentationFormat>
  <Paragraphs>150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재무검토</cp:lastModifiedBy>
  <cp:revision>2</cp:revision>
  <dcterms:created xsi:type="dcterms:W3CDTF">2026-09-23T09:55:02Z</dcterms:created>
  <dcterms:modified xsi:type="dcterms:W3CDTF">2026-09-23T10:39:35Z</dcterms:modified>
</cp:coreProperties>
</file>