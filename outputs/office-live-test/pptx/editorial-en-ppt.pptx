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Pilot districts</c:v>
                </c:pt>
              </c:strCache>
            </c:strRef>
          </c:tx>
          <c:spPr>
            <a:solidFill>
              <a:srgbClr val="E31C2D"/>
            </a:solidFill>
            <a:ln w="31750" cap="flat">
              <a:solidFill>
                <a:srgbClr val="E31C2D"/>
              </a:solidFill>
              <a:prstDash val="solid"/>
              <a:round/>
            </a:ln>
            <a:effectLst/>
          </c:spPr>
          <c:dLbls>
            <c:numFmt formatCode="#,##0;-#,##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4A3A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1C2D"/>
              </a:solidFill>
              <a:ln w="9525" cap="flat">
                <a:solidFill>
                  <a:srgbClr val="E31C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</c:v>
                </c:pt>
                <c:pt idx="1">
                  <c:v>68</c:v>
                </c:pt>
                <c:pt idx="2">
                  <c:v>66</c:v>
                </c:pt>
                <c:pt idx="3">
                  <c:v>65</c:v>
                </c:pt>
                <c:pt idx="4">
                  <c:v>65</c:v>
                </c:pt>
                <c:pt idx="5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districts</c:v>
                </c:pt>
              </c:strCache>
            </c:strRef>
          </c:tx>
          <c:spPr>
            <a:solidFill>
              <a:srgbClr val="66615B"/>
            </a:solidFill>
            <a:ln w="31750" cap="flat">
              <a:solidFill>
                <a:srgbClr val="66615B"/>
              </a:solidFill>
              <a:prstDash val="solid"/>
              <a:round/>
            </a:ln>
            <a:effectLst/>
          </c:spPr>
          <c:dLbls>
            <c:numFmt formatCode="#,##0;-#,##0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4A3A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6615B"/>
              </a:solidFill>
              <a:ln w="9525" cap="flat">
                <a:solidFill>
                  <a:srgbClr val="6661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</c:v>
                </c:pt>
                <c:pt idx="1">
                  <c:v>70</c:v>
                </c:pt>
                <c:pt idx="2">
                  <c:v>71</c:v>
                </c:pt>
                <c:pt idx="3">
                  <c:v>70</c:v>
                </c:pt>
                <c:pt idx="4">
                  <c:v>71</c:v>
                </c:pt>
                <c:pt idx="5">
                  <c:v>70</c:v>
                </c:pt>
              </c:numCache>
            </c:numRef>
          </c:val>
          <c:smooth val="0"/>
        </c:ser>
        <c:dLbls>
          <c:numFmt formatCode="#,##0;-#,##0;" sourceLinked="0"/>
          <c:txPr>
            <a:bodyPr/>
            <a:lstStyle/>
            <a:p>
              <a:pPr>
                <a:defRPr b="0" i="0" strike="noStrike" sz="1100" u="none">
                  <a:solidFill>
                    <a:srgbClr val="5A4A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0DBD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A5E53"/>
                </a:solidFill>
                <a:latin typeface="Noto Sans"/>
                <a:ea typeface="Noto Sans"/>
                <a:cs typeface="Not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BE8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A5E5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4A3A"/>
              </a:solidFill>
              <a:latin typeface="Noto Sans"/>
              <a:ea typeface="Noto Sans"/>
              <a:cs typeface="Noto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4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2B8AE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24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E6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LOGISTICS BRIEF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3F0ED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When the night changed, </a:t>
            </a:r>
            <a:r>
              <a:rPr lang="en-US" sz="3600" b="1" dirty="0">
                <a:solidFill>
                  <a:srgbClr val="E694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day moved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655003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2B8A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report on the first six weeks of the night-delivery pilot, for the transport board.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348472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900" b="1" spc="400" kern="0" dirty="0">
                <a:solidFill>
                  <a:srgbClr val="C2B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Congestion fell six points; complaints </a:t>
            </a:r>
            <a:r>
              <a:rPr lang="en-US" sz="3600" b="1" dirty="0">
                <a:solidFill>
                  <a:srgbClr val="B81E2B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did not rise</a:t>
            </a:r>
            <a:endParaRPr lang="en-US" sz="3600" dirty="0"/>
          </a:p>
        </p:txBody>
      </p:sp>
      <p:sp>
        <p:nvSpPr>
          <p:cNvPr id="4" name="mixdog-spec:stat:band"/>
          <p:cNvSpPr/>
          <p:nvPr/>
        </p:nvSpPr>
        <p:spPr>
          <a:xfrm>
            <a:off x="548640" y="2948940"/>
            <a:ext cx="346569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35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</a:t>
            </a:r>
            <a:r>
              <a:rPr lang="en-US" sz="14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48640" y="4027932"/>
            <a:ext cx="346569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daytime congestion index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4425810" y="2948940"/>
            <a:ext cx="37224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35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4425810" y="4027932"/>
            <a:ext cx="3722408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deliveries per van per day</a:t>
            </a:r>
            <a:endParaRPr lang="en-US" sz="1000" dirty="0"/>
          </a:p>
        </p:txBody>
      </p:sp>
      <p:sp>
        <p:nvSpPr>
          <p:cNvPr id="8" name="mixdog-spec:stat:band"/>
          <p:cNvSpPr/>
          <p:nvPr/>
        </p:nvSpPr>
        <p:spPr>
          <a:xfrm>
            <a:off x="8559698" y="2948940"/>
            <a:ext cx="308061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35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8559698" y="4027932"/>
            <a:ext cx="3080614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added noise complaints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646676"/>
            <a:ext cx="11091672" cy="0"/>
          </a:xfrm>
          <a:prstGeom prst="line">
            <a:avLst/>
          </a:prstGeom>
          <a:noFill/>
          <a:ln w="12700">
            <a:solidFill>
              <a:srgbClr val="E0DB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city traffic office, pilot weeks 1–6 (illustrative figures)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fall held for all six weeks, in every pilot district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971800" y="1664970"/>
          <a:ext cx="5119360" cy="406831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02640" y="1664970"/>
            <a:ext cx="31376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districts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2640" y="1980438"/>
            <a:ext cx="313767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index fell from 71 to 64 and did not bounce back after the first fortnight.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502640" y="2795778"/>
            <a:ext cx="3137672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2640" y="3001518"/>
            <a:ext cx="31376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districts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02640" y="3316986"/>
            <a:ext cx="313767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Unchanged at about 70, which rules out a citywide seasonal dip.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index, weekday 07:00–19:00 average. Source: city traffic office (illustrative)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Drivers noticed first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939290"/>
            <a:ext cx="92811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2000" b="1" dirty="0">
                <a:solidFill>
                  <a:srgbClr val="B81E2B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mixdog-spec:structure:quote"/>
          <p:cNvSpPr/>
          <p:nvPr/>
        </p:nvSpPr>
        <p:spPr>
          <a:xfrm>
            <a:off x="3918204" y="3128010"/>
            <a:ext cx="7722108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night the route takes me an hour. The same run in the afternoon took three.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18204" y="4458462"/>
            <a:ext cx="772210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Delivery driver, Riverside district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Night runs were faster in every district we measured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71800" y="171069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Riverside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54726" y="1939290"/>
            <a:ext cx="4394606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21317" y="181127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26710" y="181127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32213" y="175641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94606" y="175641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225933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Old Town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05779" y="2487930"/>
            <a:ext cx="4720133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97896" y="235991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77763" y="235991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08792" y="230505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45659" y="230505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80797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Harbour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036570"/>
            <a:ext cx="3255264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6448" y="290855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01184" y="290855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285369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9080" y="285369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335661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80253" y="3585210"/>
            <a:ext cx="3092501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4738" y="345719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52237" y="345719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55634" y="340233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min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20133" y="340233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71800" y="390525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indent="0" marL="0">
              <a:buNone/>
            </a:pPr>
            <a:r>
              <a:rPr lang="en-US" sz="1000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 Hill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43016" y="4133850"/>
            <a:ext cx="4394606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09606" y="4005834"/>
            <a:ext cx="256032" cy="256032"/>
          </a:xfrm>
          <a:prstGeom prst="ellipse">
            <a:avLst/>
          </a:prstGeom>
          <a:solidFill>
            <a:srgbClr val="66615B"/>
          </a:solidFill>
          <a:ln w="12700">
            <a:solidFill>
              <a:srgbClr val="6661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4005834"/>
            <a:ext cx="256032" cy="256032"/>
          </a:xfrm>
          <a:prstGeom prst="ellipse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0502" y="395097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min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82896" y="395097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dirty="0">
                <a:solidFill>
                  <a:srgbClr val="2B2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min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71800" y="4819650"/>
            <a:ext cx="86685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Grey dot: the day run. Red dot: the same route at night. The night run saved 20 to 29 minutes on a 20-drop route.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minutes per 20-drop route, pilot weeks 1–6 (illustrative)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211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Four steps take the pilot citywide by spring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B8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 flipV="1">
            <a:off x="4830318" y="4179062"/>
            <a:ext cx="411480" cy="959866"/>
          </a:xfrm>
          <a:prstGeom prst="line">
            <a:avLst/>
          </a:prstGeom>
          <a:noFill/>
          <a:ln w="19050">
            <a:solidFill>
              <a:srgbClr val="66615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7100316" y="3219196"/>
            <a:ext cx="411480" cy="959866"/>
          </a:xfrm>
          <a:prstGeom prst="line">
            <a:avLst/>
          </a:prstGeom>
          <a:noFill/>
          <a:ln w="19050">
            <a:solidFill>
              <a:srgbClr val="66615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9370314" y="2259330"/>
            <a:ext cx="411480" cy="959866"/>
          </a:xfrm>
          <a:prstGeom prst="line">
            <a:avLst/>
          </a:prstGeom>
          <a:noFill/>
          <a:ln w="19050">
            <a:solidFill>
              <a:srgbClr val="66615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71800" y="4544568"/>
            <a:ext cx="1858518" cy="1188720"/>
          </a:xfrm>
          <a:prstGeom prst="roundRect">
            <a:avLst/>
          </a:prstGeom>
          <a:solidFill>
            <a:srgbClr val="EEEBE7"/>
          </a:solidFill>
          <a:ln w="12700">
            <a:solidFill>
              <a:srgbClr val="EEEBE7"/>
            </a:solidFill>
            <a:prstDash val="solid"/>
          </a:ln>
        </p:spPr>
      </p:sp>
      <p:sp>
        <p:nvSpPr>
          <p:cNvPr id="8" name="mixdog-spec:structure:steps"/>
          <p:cNvSpPr/>
          <p:nvPr/>
        </p:nvSpPr>
        <p:spPr>
          <a:xfrm>
            <a:off x="3200400" y="4544568"/>
            <a:ext cx="14013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Certify vans</a:t>
            </a:r>
            <a:endParaRPr lang="en-US" sz="1300" dirty="0"/>
          </a:p>
          <a:p>
            <a:pPr hangingPunct="0"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Publish the low-noise standard and certify the fleet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41798" y="3584702"/>
            <a:ext cx="1858518" cy="1188720"/>
          </a:xfrm>
          <a:prstGeom prst="roundRect">
            <a:avLst/>
          </a:prstGeom>
          <a:solidFill>
            <a:srgbClr val="EEEBE7"/>
          </a:solidFill>
          <a:ln w="12700">
            <a:solidFill>
              <a:srgbClr val="EEEBE7"/>
            </a:solidFill>
            <a:prstDash val="solid"/>
          </a:ln>
        </p:spPr>
      </p:sp>
      <p:sp>
        <p:nvSpPr>
          <p:cNvPr id="10" name="mixdog-spec:structure:steps"/>
          <p:cNvSpPr/>
          <p:nvPr/>
        </p:nvSpPr>
        <p:spPr>
          <a:xfrm>
            <a:off x="5470398" y="3584702"/>
            <a:ext cx="14013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districts</a:t>
            </a:r>
            <a:endParaRPr lang="en-US" sz="1300" dirty="0"/>
          </a:p>
          <a:p>
            <a:pPr hangingPunct="0"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Extend to the twelve districts that asked to join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11796" y="2624836"/>
            <a:ext cx="1858518" cy="1188720"/>
          </a:xfrm>
          <a:prstGeom prst="roundRect">
            <a:avLst/>
          </a:prstGeom>
          <a:solidFill>
            <a:srgbClr val="EEEBE7"/>
          </a:solidFill>
          <a:ln w="12700">
            <a:solidFill>
              <a:srgbClr val="EEEBE7"/>
            </a:solidFill>
            <a:prstDash val="solid"/>
          </a:ln>
        </p:spPr>
      </p:sp>
      <p:sp>
        <p:nvSpPr>
          <p:cNvPr id="12" name="mixdog-spec:structure:steps"/>
          <p:cNvSpPr/>
          <p:nvPr/>
        </p:nvSpPr>
        <p:spPr>
          <a:xfrm>
            <a:off x="7740396" y="2624836"/>
            <a:ext cx="14013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11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 noise</a:t>
            </a:r>
            <a:endParaRPr lang="en-US" sz="1300" dirty="0"/>
          </a:p>
          <a:p>
            <a:pPr hangingPunct="0"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4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 quarterly readings on the city site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781794" y="1664970"/>
            <a:ext cx="1858518" cy="1188720"/>
          </a:xfrm>
          <a:prstGeom prst="roundRect">
            <a:avLst/>
          </a:prstGeom>
          <a:solidFill>
            <a:srgbClr val="E31C2D"/>
          </a:solidFill>
          <a:ln w="12700">
            <a:solidFill>
              <a:srgbClr val="E31C2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4" name="mixdog-spec:structure:steps"/>
          <p:cNvSpPr/>
          <p:nvPr/>
        </p:nvSpPr>
        <p:spPr>
          <a:xfrm>
            <a:off x="10010394" y="1664970"/>
            <a:ext cx="14013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</a:t>
            </a:r>
            <a:endParaRPr lang="en-US" sz="1300" dirty="0"/>
          </a:p>
          <a:p>
            <a:pPr hangingPunct="0"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Board review of the full year in March 2027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A5E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as proposed in September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5E53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900" b="1" spc="400" kern="0" dirty="0">
                <a:solidFill>
                  <a:srgbClr val="E6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3F0ED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 ask the board to extend the pilot to </a:t>
            </a:r>
            <a:r>
              <a:rPr lang="en-US" sz="3600" b="1" dirty="0">
                <a:solidFill>
                  <a:srgbClr val="E6949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every district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655003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2B8A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logistics@city.example · City Logistics Office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2026-09-23T09:30:14Z</dcterms:created>
  <dcterms:modified xsi:type="dcterms:W3CDTF">2026-09-23T09:30:14Z</dcterms:modified>
</cp:coreProperties>
</file>