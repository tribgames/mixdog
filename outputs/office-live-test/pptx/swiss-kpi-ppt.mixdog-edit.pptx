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3"/>
          <c:y val="0.14000000000000001"/>
          <c:w val="0.94"/>
          <c:h val="0.7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F7F9F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2분기</c:v>
                </c:pt>
                <c:pt idx="1">
                  <c:v>대기 단축</c:v>
                </c:pt>
                <c:pt idx="2">
                  <c:v>연료</c:v>
                </c:pt>
                <c:pt idx="3">
                  <c:v>인건비</c:v>
                </c:pt>
                <c:pt idx="4">
                  <c:v>포장재</c:v>
                </c:pt>
                <c:pt idx="5">
                  <c:v>3분기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2910</c:v>
                </c:pt>
                <c:pt idx="2">
                  <c:v>2910</c:v>
                </c:pt>
                <c:pt idx="3">
                  <c:v>2950</c:v>
                </c:pt>
                <c:pt idx="4">
                  <c:v>2940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61-4BE4-A911-388113BF26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합계</c:v>
                </c:pt>
              </c:strCache>
            </c:strRef>
          </c:tx>
          <c:spPr>
            <a:solidFill>
              <a:srgbClr val="5E636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2분기</c:v>
                </c:pt>
                <c:pt idx="1">
                  <c:v>대기 단축</c:v>
                </c:pt>
                <c:pt idx="2">
                  <c:v>연료</c:v>
                </c:pt>
                <c:pt idx="3">
                  <c:v>인건비</c:v>
                </c:pt>
                <c:pt idx="4">
                  <c:v>포장재</c:v>
                </c:pt>
                <c:pt idx="5">
                  <c:v>3분기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3060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2940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61-4BE4-A911-388113BF260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증가</c:v>
                </c:pt>
              </c:strCache>
            </c:strRef>
          </c:tx>
          <c:spPr>
            <a:solidFill>
              <a:srgbClr val="1C80E3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2분기</c:v>
                </c:pt>
                <c:pt idx="1">
                  <c:v>대기 단축</c:v>
                </c:pt>
                <c:pt idx="2">
                  <c:v>연료</c:v>
                </c:pt>
                <c:pt idx="3">
                  <c:v>인건비</c:v>
                </c:pt>
                <c:pt idx="4">
                  <c:v>포장재</c:v>
                </c:pt>
                <c:pt idx="5">
                  <c:v>3분기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40</c:v>
                </c:pt>
                <c:pt idx="3">
                  <c:v>30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61-4BE4-A911-388113BF260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감소</c:v>
                </c:pt>
              </c:strCache>
            </c:strRef>
          </c:tx>
          <c:spPr>
            <a:solidFill>
              <a:srgbClr val="C8CCD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2분기</c:v>
                </c:pt>
                <c:pt idx="1">
                  <c:v>대기 단축</c:v>
                </c:pt>
                <c:pt idx="2">
                  <c:v>연료</c:v>
                </c:pt>
                <c:pt idx="3">
                  <c:v>인건비</c:v>
                </c:pt>
                <c:pt idx="4">
                  <c:v>포장재</c:v>
                </c:pt>
                <c:pt idx="5">
                  <c:v>3분기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150</c:v>
                </c:pt>
                <c:pt idx="2">
                  <c:v>0</c:v>
                </c:pt>
                <c:pt idx="3">
                  <c:v>0</c:v>
                </c:pt>
                <c:pt idx="4">
                  <c:v>40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661-4BE4-A911-388113BF26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6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142.8"/>
          <c:min val="26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84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B8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9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3분기 요약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42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10000"/>
              </a:lnSpc>
              <a:buNone/>
            </a:pPr>
            <a:r>
              <a:rPr lang="en-US" sz="41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출고율이 처음으로</a:t>
            </a:r>
            <a:br/>
            <a:r>
              <a:rPr lang="en-US" sz="41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90%를 넘었다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548640" y="2910840"/>
            <a:ext cx="6655003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허브 모두 목표를 넘겼고, 인천만 반품 처리 지연이 남았다.</a:t>
            </a:r>
            <a:endParaRPr lang="en-US" sz="1300" dirty="0"/>
          </a:p>
        </p:txBody>
      </p:sp>
      <p:sp>
        <p:nvSpPr>
          <p:cNvPr id="5" name="mixdog-spec:stat:band"/>
          <p:cNvSpPr/>
          <p:nvPr/>
        </p:nvSpPr>
        <p:spPr>
          <a:xfrm>
            <a:off x="548640" y="3850386"/>
            <a:ext cx="229038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35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92.8</a:t>
            </a:r>
            <a:r>
              <a:rPr lang="en-US" sz="14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48640" y="4929378"/>
            <a:ext cx="2290381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출고율</a:t>
            </a:r>
            <a:endParaRPr lang="en-US" sz="1000" dirty="0"/>
          </a:p>
        </p:txBody>
      </p:sp>
      <p:sp>
        <p:nvSpPr>
          <p:cNvPr id="7" name="mixdog-spec:stat:band"/>
          <p:cNvSpPr/>
          <p:nvPr/>
        </p:nvSpPr>
        <p:spPr>
          <a:xfrm>
            <a:off x="3250502" y="3850386"/>
            <a:ext cx="291503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35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1.9</a:t>
            </a:r>
            <a:r>
              <a:rPr lang="en-US" sz="14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3250502" y="4929378"/>
            <a:ext cx="2915031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출고 리드타임</a:t>
            </a:r>
            <a:endParaRPr lang="en-US" sz="1000" dirty="0"/>
          </a:p>
        </p:txBody>
      </p:sp>
      <p:sp>
        <p:nvSpPr>
          <p:cNvPr id="9" name="mixdog-spec:stat:band"/>
          <p:cNvSpPr/>
          <p:nvPr/>
        </p:nvSpPr>
        <p:spPr>
          <a:xfrm>
            <a:off x="6577013" y="3850386"/>
            <a:ext cx="229038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35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−4.1</a:t>
            </a:r>
            <a:r>
              <a:rPr lang="en-US" sz="14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6577013" y="4929378"/>
            <a:ext cx="2290381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건당 물류비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5548122"/>
            <a:ext cx="8318754" cy="0"/>
          </a:xfrm>
          <a:prstGeom prst="line">
            <a:avLst/>
          </a:prstGeom>
          <a:noFill/>
          <a:ln w="12700">
            <a:solidFill>
              <a:srgbClr val="D7DB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6144768"/>
            <a:ext cx="1026871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운영 대시보드, 2026년 7–9월 (예시 수치)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평택과 대전은 모든 지표에서 목표를 넘었다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9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허브</a:t>
            </a:r>
            <a:endParaRPr lang="en-US" sz="900" dirty="0"/>
          </a:p>
        </p:txBody>
      </p:sp>
      <p:graphicFrame>
        <p:nvGraphicFramePr>
          <p:cNvPr id="4" name="mixdog-spec:table:ton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17548"/>
          <a:ext cx="11091672" cy="1828800"/>
        </p:xfrm>
        <a:graphic>
          <a:graphicData uri="http://schemas.openxmlformats.org/drawingml/2006/table">
            <a:tbl>
              <a:tblPr/>
              <a:tblGrid>
                <a:gridCol w="1848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8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8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8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86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86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허브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출고율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리드타임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반품 처리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건당 비용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94.1%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1.6시간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1.2일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2,840원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3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93.0%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1.8시간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1.4일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2,910원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3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91.2%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2.3시간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3.1일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3,120원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300" b="1" dirty="0">
                          <a:solidFill>
                            <a:srgbClr val="715F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보통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90.0%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2.0시간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2.0일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hangingPunct="0">
                        <a:buNone/>
                      </a:pPr>
                      <a:r>
                        <a:rPr lang="en-US" sz="1300" dirty="0">
                          <a:solidFill>
                            <a:srgbClr val="3C4D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3,000원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300" b="1" dirty="0">
                          <a:solidFill>
                            <a:srgbClr val="1721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03548"/>
            <a:ext cx="665500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인천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4319016"/>
            <a:ext cx="665500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출고율은 목표를 넘겼지만 반품 처리에 3.1일이 걸려 목표의 1.5배다. 반품 전용 라인이 없는</a:t>
            </a:r>
            <a:br/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유일한 허브다.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144768"/>
            <a:ext cx="1026871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허브별 운영 로그, 2026년 3분기 (예시 수치)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분류기가 영향은 가장 크고 난이도는 중간이다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9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717548"/>
            <a:ext cx="6408115" cy="4015740"/>
          </a:xfrm>
          <a:prstGeom prst="rect">
            <a:avLst/>
          </a:prstGeom>
          <a:solidFill>
            <a:srgbClr val="E7EBEE"/>
          </a:solidFill>
          <a:ln w="12700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752698" y="1946148"/>
            <a:ext cx="0" cy="3558540"/>
          </a:xfrm>
          <a:prstGeom prst="line">
            <a:avLst/>
          </a:prstGeom>
          <a:noFill/>
          <a:ln w="12700">
            <a:solidFill>
              <a:srgbClr val="B0B8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77240" y="3725418"/>
            <a:ext cx="5950915" cy="0"/>
          </a:xfrm>
          <a:prstGeom prst="line">
            <a:avLst/>
          </a:prstGeom>
          <a:noFill/>
          <a:ln w="12700">
            <a:solidFill>
              <a:srgbClr val="B0B8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mixdog-spec:structure:quadrants"/>
          <p:cNvSpPr/>
          <p:nvPr/>
        </p:nvSpPr>
        <p:spPr>
          <a:xfrm>
            <a:off x="777240" y="3396234"/>
            <a:ext cx="331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쉬움</a:t>
            </a:r>
            <a:endParaRPr lang="en-US" sz="1000" dirty="0"/>
          </a:p>
        </p:txBody>
      </p:sp>
      <p:sp>
        <p:nvSpPr>
          <p:cNvPr id="8" name="mixdog-spec:structure:quadrants"/>
          <p:cNvSpPr/>
          <p:nvPr/>
        </p:nvSpPr>
        <p:spPr>
          <a:xfrm>
            <a:off x="6276731" y="3396234"/>
            <a:ext cx="451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어려움</a:t>
            </a:r>
            <a:endParaRPr lang="en-US" sz="1000" dirty="0"/>
          </a:p>
        </p:txBody>
      </p:sp>
      <p:sp>
        <p:nvSpPr>
          <p:cNvPr id="9" name="mixdog-spec:structure:quadrants"/>
          <p:cNvSpPr/>
          <p:nvPr/>
        </p:nvSpPr>
        <p:spPr>
          <a:xfrm>
            <a:off x="3862426" y="1946148"/>
            <a:ext cx="481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 큼</a:t>
            </a:r>
            <a:endParaRPr lang="en-US" sz="1000" dirty="0"/>
          </a:p>
        </p:txBody>
      </p:sp>
      <p:sp>
        <p:nvSpPr>
          <p:cNvPr id="10" name="mixdog-spec:structure:quadrants"/>
          <p:cNvSpPr/>
          <p:nvPr/>
        </p:nvSpPr>
        <p:spPr>
          <a:xfrm>
            <a:off x="3862426" y="5230368"/>
            <a:ext cx="601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 작음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49659" y="2379345"/>
            <a:ext cx="201168" cy="201168"/>
          </a:xfrm>
          <a:prstGeom prst="ellipse">
            <a:avLst/>
          </a:prstGeom>
          <a:solidFill>
            <a:srgbClr val="1D66AF"/>
          </a:solidFill>
          <a:ln w="12700">
            <a:solidFill>
              <a:srgbClr val="1D66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164385" y="3446907"/>
            <a:ext cx="201168" cy="201168"/>
          </a:xfrm>
          <a:prstGeom prst="ellipse">
            <a:avLst/>
          </a:prstGeom>
          <a:solidFill>
            <a:srgbClr val="5E6368"/>
          </a:solidFill>
          <a:ln w="12700">
            <a:solidFill>
              <a:srgbClr val="5E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42297" y="3268980"/>
            <a:ext cx="201168" cy="201168"/>
          </a:xfrm>
          <a:prstGeom prst="ellipse">
            <a:avLst/>
          </a:prstGeom>
          <a:solidFill>
            <a:srgbClr val="5E6368"/>
          </a:solidFill>
          <a:ln w="12700">
            <a:solidFill>
              <a:srgbClr val="5E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032480" y="2913126"/>
            <a:ext cx="201168" cy="201168"/>
          </a:xfrm>
          <a:prstGeom prst="ellipse">
            <a:avLst/>
          </a:prstGeom>
          <a:solidFill>
            <a:srgbClr val="5E6368"/>
          </a:solidFill>
          <a:ln w="12700">
            <a:solidFill>
              <a:srgbClr val="5E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569293" y="4692396"/>
            <a:ext cx="201168" cy="201168"/>
          </a:xfrm>
          <a:prstGeom prst="ellipse">
            <a:avLst/>
          </a:prstGeom>
          <a:solidFill>
            <a:srgbClr val="5E6368"/>
          </a:solidFill>
          <a:ln w="12700">
            <a:solidFill>
              <a:srgbClr val="5E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mixdog-spec:structure:quadrants"/>
          <p:cNvSpPr/>
          <p:nvPr/>
        </p:nvSpPr>
        <p:spPr>
          <a:xfrm>
            <a:off x="4233123" y="2333625"/>
            <a:ext cx="9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분류기</a:t>
            </a:r>
            <a:endParaRPr lang="en-US" sz="1300" dirty="0"/>
          </a:p>
        </p:txBody>
      </p:sp>
      <p:sp>
        <p:nvSpPr>
          <p:cNvPr id="17" name="mixdog-spec:structure:quadrants"/>
          <p:cNvSpPr/>
          <p:nvPr/>
        </p:nvSpPr>
        <p:spPr>
          <a:xfrm>
            <a:off x="2447849" y="3401187"/>
            <a:ext cx="1105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인력 증원</a:t>
            </a:r>
            <a:endParaRPr lang="en-US" sz="1300" dirty="0"/>
          </a:p>
        </p:txBody>
      </p:sp>
      <p:sp>
        <p:nvSpPr>
          <p:cNvPr id="18" name="mixdog-spec:structure:quadrants"/>
          <p:cNvSpPr/>
          <p:nvPr/>
        </p:nvSpPr>
        <p:spPr>
          <a:xfrm>
            <a:off x="4389881" y="2866644"/>
            <a:ext cx="1105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반품 전용 라인</a:t>
            </a:r>
            <a:endParaRPr lang="en-US" sz="1300" dirty="0"/>
          </a:p>
        </p:txBody>
      </p:sp>
      <p:sp>
        <p:nvSpPr>
          <p:cNvPr id="19" name="mixdog-spec:structure:quadrants"/>
          <p:cNvSpPr/>
          <p:nvPr/>
        </p:nvSpPr>
        <p:spPr>
          <a:xfrm>
            <a:off x="5716916" y="2510790"/>
            <a:ext cx="832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WMS 교체</a:t>
            </a:r>
            <a:endParaRPr lang="en-US" sz="1300" dirty="0"/>
          </a:p>
        </p:txBody>
      </p:sp>
      <p:sp>
        <p:nvSpPr>
          <p:cNvPr id="20" name="mixdog-spec:structure:quadrants"/>
          <p:cNvSpPr/>
          <p:nvPr/>
        </p:nvSpPr>
        <p:spPr>
          <a:xfrm>
            <a:off x="1852757" y="4646676"/>
            <a:ext cx="126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라벨 프린터 교체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68235" y="1717548"/>
            <a:ext cx="427207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68235" y="2033016"/>
            <a:ext cx="427207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분류기는 인천의 반품 지연을 줄이고 세 허브 모두의</a:t>
            </a:r>
            <a:br/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리드타임을 낮춘다.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68235" y="2848356"/>
            <a:ext cx="4272077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368235" y="3054096"/>
            <a:ext cx="427207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68235" y="3369564"/>
            <a:ext cx="427207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WMS 교체는 영향이 크지만 18개월이 걸려 4분기</a:t>
            </a:r>
            <a:br/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예산으로는 시작만 가능하다.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144768"/>
            <a:ext cx="1026871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영향과 난이도는 운영팀 평가, 2026년 9월 (예시)</a:t>
            </a:r>
            <a:endParaRPr lang="en-US" sz="10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건당 물류비가 120원 내린 이유는 대기 시간이다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900" b="1" dirty="0">
                <a:solidFill>
                  <a:srgbClr val="1D66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</a:t>
            </a:r>
            <a:endParaRPr lang="en-US" sz="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2001012"/>
          <a:ext cx="11091672" cy="2817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81390" y="1740408"/>
            <a:ext cx="128016" cy="128016"/>
          </a:xfrm>
          <a:prstGeom prst="rect">
            <a:avLst/>
          </a:prstGeom>
          <a:solidFill>
            <a:srgbClr val="5E6368"/>
          </a:solidFill>
          <a:ln w="12700">
            <a:solidFill>
              <a:srgbClr val="5E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1064270" y="1717548"/>
            <a:ext cx="31943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합계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795180" y="1740408"/>
            <a:ext cx="128016" cy="128016"/>
          </a:xfrm>
          <a:prstGeom prst="rect">
            <a:avLst/>
          </a:prstGeom>
          <a:solidFill>
            <a:srgbClr val="1C80E3"/>
          </a:solidFill>
          <a:ln w="12700">
            <a:solidFill>
              <a:srgbClr val="1C80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1978060" y="1717548"/>
            <a:ext cx="31943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증가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08970" y="1740408"/>
            <a:ext cx="128016" cy="128016"/>
          </a:xfrm>
          <a:prstGeom prst="rect">
            <a:avLst/>
          </a:prstGeom>
          <a:solidFill>
            <a:srgbClr val="C8CCD0"/>
          </a:solidFill>
          <a:ln w="12700">
            <a:solidFill>
              <a:srgbClr val="C8CC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2891850" y="1717548"/>
            <a:ext cx="31943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감소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81390" y="2430683"/>
            <a:ext cx="1737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 hangingPunc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3,060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093056" y="3972891"/>
            <a:ext cx="1314363" cy="91440"/>
          </a:xfrm>
          <a:prstGeom prst="parallelogram">
            <a:avLst/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2619085" y="2430683"/>
            <a:ext cx="1737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 hangingPunc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−150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356781" y="2841840"/>
            <a:ext cx="1737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 hangingPunc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+40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94476" y="2729706"/>
            <a:ext cx="1737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 hangingPunc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+30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832171" y="2729706"/>
            <a:ext cx="1737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 hangingPunc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−40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9569867" y="2879218"/>
            <a:ext cx="1737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 hangingPunc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2,940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81533" y="3972891"/>
            <a:ext cx="1314363" cy="91440"/>
          </a:xfrm>
          <a:prstGeom prst="parallelogram">
            <a:avLst/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548640" y="5230368"/>
            <a:ext cx="11091672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출고 대기가 줄면서 차량 회전이 늘어 건당 150원이 내렸고, 연료와 인건비 상승 70원을 상쇄했다.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6144768"/>
            <a:ext cx="1026871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단위: 원/건 · 출처: 재무팀 원가 분석 (예시 수치)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</Words>
  <Application>Microsoft Office PowerPoint</Application>
  <PresentationFormat>와이드스크린</PresentationFormat>
  <Paragraphs>82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Bob</cp:lastModifiedBy>
  <cp:revision>2</cp:revision>
  <dcterms:created xsi:type="dcterms:W3CDTF">2026-09-23T10:58:39Z</dcterms:created>
  <dcterms:modified xsi:type="dcterms:W3CDTF">2026-09-23T11:37:00Z</dcterms:modified>
</cp:coreProperties>
</file>