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AD0"/>
            </a:solidFill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E34E1C"/>
              </a:solidFill>
            </c:spPr>
          </c:dPt>
          <c:dLbls>
            <c:numFmt formatCode="0.0;-0.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4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25.2Q</c:v>
                  </c:pt>
                  <c:pt idx="1">
                    <c:v>25.3Q</c:v>
                  </c:pt>
                  <c:pt idx="2">
                    <c:v>25.4Q</c:v>
                  </c:pt>
                  <c:pt idx="3">
                    <c:v>26.1Q</c:v>
                  </c:pt>
                  <c:pt idx="4">
                    <c:v>26.2Q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7.1</c:v>
                </c:pt>
                <c:pt idx="2">
                  <c:v>6.8</c:v>
                </c:pt>
                <c:pt idx="3">
                  <c:v>8.9</c:v>
                </c:pt>
                <c:pt idx="4">
                  <c:v>10.4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100" u="none">
                  <a:solidFill>
                    <a:srgbClr val="3C44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AD0"/>
            </a:solidFill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E34E1C"/>
              </a:solidFill>
            </c:spPr>
          </c:dPt>
          <c:dLbls>
            <c:numFmt formatCode="0.0;-0.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4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25.2Q</c:v>
                  </c:pt>
                  <c:pt idx="1">
                    <c:v>25.3Q</c:v>
                  </c:pt>
                  <c:pt idx="2">
                    <c:v>25.4Q</c:v>
                  </c:pt>
                  <c:pt idx="3">
                    <c:v>26.1Q</c:v>
                  </c:pt>
                  <c:pt idx="4">
                    <c:v>26.2Q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62.1</c:v>
                </c:pt>
                <c:pt idx="1">
                  <c:v>65.4</c:v>
                </c:pt>
                <c:pt idx="2">
                  <c:v>67.9</c:v>
                </c:pt>
                <c:pt idx="3">
                  <c:v>71.3</c:v>
                </c:pt>
                <c:pt idx="4">
                  <c:v>74.2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100" u="none">
                  <a:solidFill>
                    <a:srgbClr val="3C44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728578712063776"/>
          <c:y val="0.02"/>
          <c:w val="0.8427142128793622"/>
          <c:h val="0.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C8CAD0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4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반도체</c:v>
                  </c:pt>
                  <c:pt idx="1">
                    <c:v>디스플레이</c:v>
                  </c:pt>
                  <c:pt idx="2">
                    <c:v>가전</c:v>
                  </c:pt>
                  <c:pt idx="3">
                    <c:v>모바일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14</c:v>
                </c:pt>
                <c:pt idx="2">
                  <c:v>26</c:v>
                </c:pt>
                <c:pt idx="3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E34E1C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4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반도체</c:v>
                  </c:pt>
                  <c:pt idx="1">
                    <c:v>디스플레이</c:v>
                  </c:pt>
                  <c:pt idx="2">
                    <c:v>가전</c:v>
                  </c:pt>
                  <c:pt idx="3">
                    <c:v>모바일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52.4</c:v>
                </c:pt>
                <c:pt idx="1">
                  <c:v>15.3</c:v>
                </c:pt>
                <c:pt idx="2">
                  <c:v>27</c:v>
                </c:pt>
                <c:pt idx="3">
                  <c:v>54.5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100" u="none">
                  <a:solidFill>
                    <a:srgbClr val="3C44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3.80000000000000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45D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B401C"/>
              </a:solidFill>
              <a:effectLst/>
            </c:spPr>
          </c:dPt>
          <c:dPt>
            <c:idx val="1"/>
            <c:bubble3D val="0"/>
            <c:spPr>
              <a:solidFill>
                <a:srgbClr val="62646A"/>
              </a:solidFill>
              <a:effectLst/>
            </c:spPr>
          </c:dPt>
          <c:dPt>
            <c:idx val="2"/>
            <c:bubble3D val="0"/>
            <c:spPr>
              <a:solidFill>
                <a:srgbClr val="8C3417"/>
              </a:solidFill>
              <a:effectLst/>
            </c:spPr>
          </c:dPt>
          <c:dPt>
            <c:idx val="3"/>
            <c:bubble3D val="0"/>
            <c:spPr>
              <a:solidFill>
                <a:srgbClr val="3C445D"/>
              </a:solidFill>
              <a:effectLst/>
            </c:spPr>
          </c:dPt>
          <c:dLbls>
            <c:dLbl>
              <c:idx val="0"/>
              <c:numFmt formatCode="0.0&quot;%&quot;;-0.0&quot;%&quot;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;-0.0&quot;%&quot;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;-0.0&quot;%&quot;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-0.0&quot;%&quot;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;-0.0&quot;%&quot;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반도체</c:v>
                </c:pt>
                <c:pt idx="1">
                  <c:v>모바일</c:v>
                </c:pt>
                <c:pt idx="2">
                  <c:v>가전</c:v>
                </c:pt>
                <c:pt idx="3">
                  <c:v>디스플레이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38.1</c:v>
                </c:pt>
                <c:pt idx="1">
                  <c:v>35.2</c:v>
                </c:pt>
                <c:pt idx="2">
                  <c:v>18.6</c:v>
                </c:pt>
                <c:pt idx="3">
                  <c:v>8.1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C445D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10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HANBIT ELECTRONICS · 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229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2분기 실적 발표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48640" y="3412998"/>
            <a:ext cx="731520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3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7월 30일 · 잠정 실적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10284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9983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반도체가 전사 영업이익의 61%를 벌었다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79170"/>
            <a:ext cx="779983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3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기준, 단위: 조 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714232" y="448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요약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1764"/>
          <a:ext cx="5340096" cy="40035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mixdog-spec:table:group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0216" y="1921764"/>
          <a:ext cx="5340096" cy="2715768"/>
        </p:xfrm>
        <a:graphic>
          <a:graphicData uri="http://schemas.openxmlformats.org/drawingml/2006/table">
            <a:tbl>
              <a:tblPr/>
              <a:tblGrid>
                <a:gridCol w="1068019"/>
                <a:gridCol w="1068019"/>
                <a:gridCol w="1068019"/>
                <a:gridCol w="1068019"/>
                <a:gridCol w="1068019"/>
              </a:tblGrid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26.1Q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26.2Q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401C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QoQ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hangingPunct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반도체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hangingPunct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디스플레이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hangingPunct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rowSpan="2">
                  <a:txBody>
                    <a:bodyPr/>
                    <a:lstStyle/>
                    <a:p>
                      <a:pPr hangingPunct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모바일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ED9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한빛전자 2026년 2분기 잠정 실적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8042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9983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매출은 다섯 분기 연속 늘어 74조 원을 넘었다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714232" y="448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9522"/>
          <a:ext cx="11091672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mixdog-spec:table:pl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5562"/>
          <a:ext cx="11091672" cy="1207008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25.2Q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25.3Q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25.4Q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26.1Q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26.2Q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 (조 원)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65.4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67.9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71.3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74.2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 (조 원)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1C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10.9%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12.5%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r" indent="0" marL="0">
                        <a:buNone/>
                      </a:pPr>
                      <a:r>
                        <a:rPr lang="en-US" sz="1200" dirty="0">
                          <a:solidFill>
                            <a:srgbClr val="3C44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791700" y="4115562"/>
            <a:ext cx="1848612" cy="0"/>
          </a:xfrm>
          <a:prstGeom prst="line">
            <a:avLst/>
          </a:prstGeom>
          <a:noFill/>
          <a:ln w="19050">
            <a:solidFill>
              <a:srgbClr val="E34E1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791700" y="5322570"/>
            <a:ext cx="1848612" cy="0"/>
          </a:xfrm>
          <a:prstGeom prst="line">
            <a:avLst/>
          </a:prstGeom>
          <a:noFill/>
          <a:ln w="19050">
            <a:solidFill>
              <a:srgbClr val="E34E1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791700" y="4115562"/>
            <a:ext cx="0" cy="1207008"/>
          </a:xfrm>
          <a:prstGeom prst="line">
            <a:avLst/>
          </a:prstGeom>
          <a:noFill/>
          <a:ln w="19050">
            <a:solidFill>
              <a:srgbClr val="E34E1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640312" y="4115562"/>
            <a:ext cx="0" cy="1207008"/>
          </a:xfrm>
          <a:prstGeom prst="line">
            <a:avLst/>
          </a:prstGeom>
          <a:noFill/>
          <a:ln w="19050">
            <a:solidFill>
              <a:srgbClr val="E34E1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한빛전자 분기 실적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8042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9983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목표 대비 네 사업부 중 세 곳이 초과 달성했다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714232" y="448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가이던스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9522"/>
          <a:ext cx="6621719" cy="44157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4701" y="1742676"/>
            <a:ext cx="0" cy="615561"/>
          </a:xfrm>
          <a:prstGeom prst="line">
            <a:avLst/>
          </a:prstGeom>
          <a:noFill/>
          <a:ln w="28575">
            <a:solidFill>
              <a:srgbClr val="171C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15990" y="2647913"/>
            <a:ext cx="0" cy="615561"/>
          </a:xfrm>
          <a:prstGeom prst="line">
            <a:avLst/>
          </a:prstGeom>
          <a:noFill/>
          <a:ln w="28575">
            <a:solidFill>
              <a:srgbClr val="171C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65560" y="3553150"/>
            <a:ext cx="0" cy="615561"/>
          </a:xfrm>
          <a:prstGeom prst="line">
            <a:avLst/>
          </a:prstGeom>
          <a:noFill/>
          <a:ln w="28575">
            <a:solidFill>
              <a:srgbClr val="171C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4415" y="4458387"/>
            <a:ext cx="0" cy="615561"/>
          </a:xfrm>
          <a:prstGeom prst="line">
            <a:avLst/>
          </a:prstGeom>
          <a:noFill/>
          <a:ln w="28575">
            <a:solidFill>
              <a:srgbClr val="171C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1839" y="1509522"/>
            <a:ext cx="40584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1839" y="1824990"/>
            <a:ext cx="405847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반도체는 목표를 2.4조 원 넘었다.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1839" y="2362962"/>
            <a:ext cx="4058473" cy="0"/>
          </a:xfrm>
          <a:prstGeom prst="line">
            <a:avLst/>
          </a:prstGeom>
          <a:noFill/>
          <a:ln w="12700">
            <a:solidFill>
              <a:srgbClr val="E6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1839" y="2568702"/>
            <a:ext cx="40584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1839" y="2884170"/>
            <a:ext cx="405847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모바일은 신제품 출시가 7월로 밀려 3.5조 원 모자랐다.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조 원, 상반기 누적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8042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9983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반도체 비중이 처음으로 38%를 넘었다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714232" y="448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9522"/>
          <a:ext cx="5340096" cy="36842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mixdog-spec:stat:hero"/>
          <p:cNvSpPr/>
          <p:nvPr/>
        </p:nvSpPr>
        <p:spPr>
          <a:xfrm>
            <a:off x="6300216" y="1509522"/>
            <a:ext cx="2581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7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38.1</a:t>
            </a:r>
            <a:r>
              <a:rPr lang="en-US" sz="19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6300216" y="2588514"/>
            <a:ext cx="2581656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반도체 비중</a:t>
            </a:r>
            <a:endParaRPr lang="en-US" sz="1000" dirty="0"/>
          </a:p>
        </p:txBody>
      </p:sp>
      <p:sp>
        <p:nvSpPr>
          <p:cNvPr id="8" name="mixdog-spec:stat:hero"/>
          <p:cNvSpPr/>
          <p:nvPr/>
        </p:nvSpPr>
        <p:spPr>
          <a:xfrm>
            <a:off x="9293352" y="1509522"/>
            <a:ext cx="234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7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+4.3</a:t>
            </a:r>
            <a:r>
              <a:rPr lang="en-US" sz="1900" b="1" dirty="0">
                <a:solidFill>
                  <a:srgbClr val="AB40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%p</a:t>
            </a:r>
            <a:endParaRPr lang="en-US" sz="4700" dirty="0"/>
          </a:p>
        </p:txBody>
      </p:sp>
      <p:sp>
        <p:nvSpPr>
          <p:cNvPr id="9" name="Text 6"/>
          <p:cNvSpPr/>
          <p:nvPr/>
        </p:nvSpPr>
        <p:spPr>
          <a:xfrm>
            <a:off x="9293352" y="2588514"/>
            <a:ext cx="234696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0216" y="3207258"/>
            <a:ext cx="5340096" cy="0"/>
          </a:xfrm>
          <a:prstGeom prst="line">
            <a:avLst/>
          </a:prstGeom>
          <a:noFill/>
          <a:ln w="12700">
            <a:solidFill>
              <a:srgbClr val="D8D9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285232"/>
            <a:ext cx="11091672" cy="64008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285232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6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하반기 HBM 증설로 반도체 비중은 40%를 넘을 전망이다.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144768"/>
            <a:ext cx="1026871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2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2분기 매출 기준 (예시 수치)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275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A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DEE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419856"/>
            <a:ext cx="731520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3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ir@hanbit.example · 한빛전자 IR팀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2026-09-23T12:23:02Z</dcterms:created>
  <dcterms:modified xsi:type="dcterms:W3CDTF">2026-09-23T12:23:02Z</dcterms:modified>
</cp:coreProperties>
</file>