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Pilot districts</c:v>
                </c:pt>
              </c:strCache>
            </c:strRef>
          </c:tx>
          <c:spPr>
            <a:ln w="31750" cap="flat">
              <a:solidFill>
                <a:srgbClr val="E31C2D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</c:v>
                </c:pt>
                <c:pt idx="1">
                  <c:v>68</c:v>
                </c:pt>
                <c:pt idx="2">
                  <c:v>66</c:v>
                </c:pt>
                <c:pt idx="3">
                  <c:v>65</c:v>
                </c:pt>
                <c:pt idx="4">
                  <c:v>65</c:v>
                </c:pt>
                <c:pt idx="5">
                  <c:v>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072-47C1-B24F-3C8BF16B25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districts</c:v>
                </c:pt>
              </c:strCache>
            </c:strRef>
          </c:tx>
          <c:spPr>
            <a:ln w="31750" cap="flat">
              <a:solidFill>
                <a:srgbClr val="66615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70</c:v>
                </c:pt>
                <c:pt idx="1">
                  <c:v>70</c:v>
                </c:pt>
                <c:pt idx="2">
                  <c:v>71</c:v>
                </c:pt>
                <c:pt idx="3">
                  <c:v>70</c:v>
                </c:pt>
                <c:pt idx="4">
                  <c:v>71</c:v>
                </c:pt>
                <c:pt idx="5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072-47C1-B24F-3C8BF16B25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0DBD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A5E53"/>
                </a:solidFill>
                <a:latin typeface="Noto Sans"/>
                <a:ea typeface="Noto Sans"/>
                <a:cs typeface="Noto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BE8E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A5E5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4A3A"/>
              </a:solidFill>
              <a:latin typeface="Noto Sans"/>
              <a:ea typeface="Noto Sans"/>
              <a:cs typeface="Noto San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2442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5E5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4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C2B8A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24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5E5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900" b="1" kern="0" spc="400" dirty="0">
                <a:solidFill>
                  <a:srgbClr val="E6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LOGISTICS BRIEF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3F0ED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When the night changed, </a:t>
            </a:r>
            <a:r>
              <a:rPr lang="en-US" sz="3600" b="1" dirty="0">
                <a:solidFill>
                  <a:srgbClr val="E6949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day moved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655003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2B8A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report on the first six weeks of the night-delivery pilot, for the transport board.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348472" y="548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900" b="1" kern="0" spc="400" dirty="0">
                <a:solidFill>
                  <a:srgbClr val="C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900" b="1" kern="0" spc="400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B211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Congestion fell six points; complaints </a:t>
            </a:r>
            <a:r>
              <a:rPr lang="en-US" sz="3600" b="1" dirty="0">
                <a:solidFill>
                  <a:srgbClr val="B81E2B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did not rise</a:t>
            </a:r>
            <a:endParaRPr lang="en-US" sz="3600" dirty="0"/>
          </a:p>
        </p:txBody>
      </p:sp>
      <p:sp>
        <p:nvSpPr>
          <p:cNvPr id="4" name="mixdog-spec:stat:band"/>
          <p:cNvSpPr/>
          <p:nvPr/>
        </p:nvSpPr>
        <p:spPr>
          <a:xfrm>
            <a:off x="548640" y="2948940"/>
            <a:ext cx="346569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3500" b="1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</a:t>
            </a:r>
            <a:r>
              <a:rPr lang="en-US" sz="1400" b="1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pts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548640" y="4027932"/>
            <a:ext cx="346569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000" dirty="0">
                <a:solidFill>
                  <a:srgbClr val="6A5E5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daytime congestion index</a:t>
            </a:r>
            <a:endParaRPr lang="en-US" sz="1000" dirty="0"/>
          </a:p>
        </p:txBody>
      </p:sp>
      <p:sp>
        <p:nvSpPr>
          <p:cNvPr id="6" name="mixdog-spec:stat:band"/>
          <p:cNvSpPr/>
          <p:nvPr/>
        </p:nvSpPr>
        <p:spPr>
          <a:xfrm>
            <a:off x="4425810" y="2948940"/>
            <a:ext cx="37224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3500" b="1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4425810" y="4027932"/>
            <a:ext cx="3722408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000" dirty="0">
                <a:solidFill>
                  <a:srgbClr val="6A5E5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deliveries per van per day</a:t>
            </a:r>
            <a:endParaRPr lang="en-US" sz="1000" dirty="0"/>
          </a:p>
        </p:txBody>
      </p:sp>
      <p:sp>
        <p:nvSpPr>
          <p:cNvPr id="8" name="mixdog-spec:stat:band"/>
          <p:cNvSpPr/>
          <p:nvPr/>
        </p:nvSpPr>
        <p:spPr>
          <a:xfrm>
            <a:off x="8559698" y="2948940"/>
            <a:ext cx="308061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3500" b="1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8559698" y="4027932"/>
            <a:ext cx="3080614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000" dirty="0">
                <a:solidFill>
                  <a:srgbClr val="6A5E5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added noise complaints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646676"/>
            <a:ext cx="11091672" cy="0"/>
          </a:xfrm>
          <a:prstGeom prst="line">
            <a:avLst/>
          </a:prstGeom>
          <a:noFill/>
          <a:ln w="12700">
            <a:solidFill>
              <a:srgbClr val="E0DB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city traffic office, pilot weeks 1–6 (illustrative figures)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5E5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211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fall held for all six weeks, in every pilot district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900" b="1" kern="0" spc="400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971800" y="1664970"/>
          <a:ext cx="5119360" cy="4068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8502640" y="1664970"/>
            <a:ext cx="313767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districts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2640" y="1980438"/>
            <a:ext cx="313767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A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index fell from 71 to 64 and did not bounce back after the first fortnight.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502640" y="2795778"/>
            <a:ext cx="3137672" cy="0"/>
          </a:xfrm>
          <a:prstGeom prst="line">
            <a:avLst/>
          </a:prstGeom>
          <a:noFill/>
          <a:ln w="12700">
            <a:solidFill>
              <a:srgbClr val="EBE8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502640" y="3001518"/>
            <a:ext cx="313767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districts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502640" y="3316986"/>
            <a:ext cx="313767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A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Unchanged at about 70, which rules out a citywide seasonal dip.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index, weekday 07:00–19:00 average. Source: city traffic office (illustrative)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5E5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211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Drivers noticed first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900" b="1" kern="0" spc="400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939290"/>
            <a:ext cx="92811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2000" b="1" dirty="0">
                <a:solidFill>
                  <a:srgbClr val="B81E2B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“</a:t>
            </a:r>
            <a:endParaRPr lang="en-US" sz="12000" dirty="0"/>
          </a:p>
        </p:txBody>
      </p:sp>
      <p:sp>
        <p:nvSpPr>
          <p:cNvPr id="5" name="mixdog-spec:structure:quote"/>
          <p:cNvSpPr/>
          <p:nvPr/>
        </p:nvSpPr>
        <p:spPr>
          <a:xfrm>
            <a:off x="3918204" y="3128010"/>
            <a:ext cx="7722108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 night the route takes me an hour. The same run in the afternoon took three.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18204" y="4458462"/>
            <a:ext cx="772210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Delivery driver, Riverside district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5E5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211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Night runs were faster in every district we measured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900" b="1" kern="0" spc="400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71800" y="171069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000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Riverside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54726" y="1939290"/>
            <a:ext cx="4394606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621317" y="1811274"/>
            <a:ext cx="256032" cy="256032"/>
          </a:xfrm>
          <a:prstGeom prst="ellipse">
            <a:avLst/>
          </a:prstGeom>
          <a:solidFill>
            <a:srgbClr val="66615B"/>
          </a:solidFill>
          <a:ln w="12700">
            <a:solidFill>
              <a:srgbClr val="6661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226710" y="1811274"/>
            <a:ext cx="256032" cy="256032"/>
          </a:xfrm>
          <a:prstGeom prst="ellipse">
            <a:avLst/>
          </a:prstGeom>
          <a:solidFill>
            <a:srgbClr val="E31C2D"/>
          </a:solidFill>
          <a:ln w="12700">
            <a:solidFill>
              <a:srgbClr val="E31C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932213" y="175641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min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94606" y="175641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000" b="1" dirty="0">
                <a:solidFill>
                  <a:srgbClr val="2B2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71800" y="225933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000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Old Town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05779" y="2487930"/>
            <a:ext cx="4720133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597896" y="2359914"/>
            <a:ext cx="256032" cy="256032"/>
          </a:xfrm>
          <a:prstGeom prst="ellipse">
            <a:avLst/>
          </a:prstGeom>
          <a:solidFill>
            <a:srgbClr val="66615B"/>
          </a:solidFill>
          <a:ln w="12700">
            <a:solidFill>
              <a:srgbClr val="6661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877763" y="2359914"/>
            <a:ext cx="256032" cy="256032"/>
          </a:xfrm>
          <a:prstGeom prst="ellipse">
            <a:avLst/>
          </a:prstGeom>
          <a:solidFill>
            <a:srgbClr val="E31C2D"/>
          </a:solidFill>
          <a:ln w="12700">
            <a:solidFill>
              <a:srgbClr val="E31C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908792" y="230505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45659" y="230505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000" b="1" dirty="0">
                <a:solidFill>
                  <a:srgbClr val="2B2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71800" y="280797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000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Harbour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3036570"/>
            <a:ext cx="3255264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156448" y="2908554"/>
            <a:ext cx="256032" cy="256032"/>
          </a:xfrm>
          <a:prstGeom prst="ellipse">
            <a:avLst/>
          </a:prstGeom>
          <a:solidFill>
            <a:srgbClr val="66615B"/>
          </a:solidFill>
          <a:ln w="12700">
            <a:solidFill>
              <a:srgbClr val="6661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901184" y="2908554"/>
            <a:ext cx="256032" cy="256032"/>
          </a:xfrm>
          <a:prstGeom prst="ellipse">
            <a:avLst/>
          </a:prstGeom>
          <a:solidFill>
            <a:srgbClr val="E31C2D"/>
          </a:solidFill>
          <a:ln w="12700">
            <a:solidFill>
              <a:srgbClr val="E31C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467344" y="285369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min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69080" y="285369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000" b="1" dirty="0">
                <a:solidFill>
                  <a:srgbClr val="2B2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71800" y="335661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000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University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80253" y="3585210"/>
            <a:ext cx="3092501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644738" y="3457194"/>
            <a:ext cx="256032" cy="256032"/>
          </a:xfrm>
          <a:prstGeom prst="ellipse">
            <a:avLst/>
          </a:prstGeom>
          <a:solidFill>
            <a:srgbClr val="66615B"/>
          </a:solidFill>
          <a:ln w="12700">
            <a:solidFill>
              <a:srgbClr val="6661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552237" y="3457194"/>
            <a:ext cx="256032" cy="256032"/>
          </a:xfrm>
          <a:prstGeom prst="ellipse">
            <a:avLst/>
          </a:prstGeom>
          <a:solidFill>
            <a:srgbClr val="E31C2D"/>
          </a:solidFill>
          <a:ln w="12700">
            <a:solidFill>
              <a:srgbClr val="E31C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955634" y="340233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min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20133" y="340233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000" b="1" dirty="0">
                <a:solidFill>
                  <a:srgbClr val="2B2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min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71800" y="390525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000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Market Hill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43016" y="4133850"/>
            <a:ext cx="4394606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0109606" y="4005834"/>
            <a:ext cx="256032" cy="256032"/>
          </a:xfrm>
          <a:prstGeom prst="ellipse">
            <a:avLst/>
          </a:prstGeom>
          <a:solidFill>
            <a:srgbClr val="66615B"/>
          </a:solidFill>
          <a:ln w="12700">
            <a:solidFill>
              <a:srgbClr val="6661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5715000" y="4005834"/>
            <a:ext cx="256032" cy="256032"/>
          </a:xfrm>
          <a:prstGeom prst="ellipse">
            <a:avLst/>
          </a:prstGeom>
          <a:solidFill>
            <a:srgbClr val="E31C2D"/>
          </a:solidFill>
          <a:ln w="12700">
            <a:solidFill>
              <a:srgbClr val="E31C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0420502" y="395097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min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82896" y="395097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000" b="1" dirty="0">
                <a:solidFill>
                  <a:srgbClr val="2B2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min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71800" y="4819650"/>
            <a:ext cx="86685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A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Grey dot: the day run. Red dot: the same route at night. The night run saved 20 to 29 minutes on a 20-drop route.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minutes per 20-drop route, pilot weeks 1–6 (illustrative)</a:t>
            </a:r>
            <a:endParaRPr lang="en-US" sz="10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5E5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211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Four steps take the pilot citywide by spring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900" b="1" kern="0" spc="400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 flipV="1">
            <a:off x="4830318" y="4179062"/>
            <a:ext cx="411480" cy="959866"/>
          </a:xfrm>
          <a:prstGeom prst="line">
            <a:avLst/>
          </a:prstGeom>
          <a:noFill/>
          <a:ln w="19050">
            <a:solidFill>
              <a:srgbClr val="66615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 flipV="1">
            <a:off x="7100316" y="3219196"/>
            <a:ext cx="411480" cy="959866"/>
          </a:xfrm>
          <a:prstGeom prst="line">
            <a:avLst/>
          </a:prstGeom>
          <a:noFill/>
          <a:ln w="19050">
            <a:solidFill>
              <a:srgbClr val="66615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 flipV="1">
            <a:off x="9370314" y="2259330"/>
            <a:ext cx="411480" cy="959866"/>
          </a:xfrm>
          <a:prstGeom prst="line">
            <a:avLst/>
          </a:prstGeom>
          <a:noFill/>
          <a:ln w="19050">
            <a:solidFill>
              <a:srgbClr val="66615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971800" y="4544568"/>
            <a:ext cx="1858518" cy="1188720"/>
          </a:xfrm>
          <a:prstGeom prst="roundRect">
            <a:avLst/>
          </a:prstGeom>
          <a:solidFill>
            <a:srgbClr val="EEEBE7"/>
          </a:solidFill>
          <a:ln w="12700">
            <a:solidFill>
              <a:srgbClr val="EEEB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mixdog-spec:structure:steps"/>
          <p:cNvSpPr/>
          <p:nvPr/>
        </p:nvSpPr>
        <p:spPr>
          <a:xfrm>
            <a:off x="3200400" y="4544568"/>
            <a:ext cx="14013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Certify vans</a:t>
            </a:r>
            <a:endParaRPr lang="en-US" sz="1300" dirty="0"/>
          </a:p>
          <a:p>
            <a:pPr marL="0" indent="0" algn="l" hangingPunc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4A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Publish the low-noise standard and certify the fleet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41798" y="3584702"/>
            <a:ext cx="1858518" cy="1188720"/>
          </a:xfrm>
          <a:prstGeom prst="roundRect">
            <a:avLst/>
          </a:prstGeom>
          <a:solidFill>
            <a:srgbClr val="EEEBE7"/>
          </a:solidFill>
          <a:ln w="12700">
            <a:solidFill>
              <a:srgbClr val="EEEB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mixdog-spec:structure:steps"/>
          <p:cNvSpPr/>
          <p:nvPr/>
        </p:nvSpPr>
        <p:spPr>
          <a:xfrm>
            <a:off x="5470398" y="3584702"/>
            <a:ext cx="14013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districts</a:t>
            </a:r>
            <a:endParaRPr lang="en-US" sz="1300" dirty="0"/>
          </a:p>
          <a:p>
            <a:pPr marL="0" indent="0" algn="l" hangingPunc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4A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Extend to the twelve districts that asked to join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11796" y="2624836"/>
            <a:ext cx="1858518" cy="1188720"/>
          </a:xfrm>
          <a:prstGeom prst="roundRect">
            <a:avLst/>
          </a:prstGeom>
          <a:solidFill>
            <a:srgbClr val="EEEBE7"/>
          </a:solidFill>
          <a:ln w="12700">
            <a:solidFill>
              <a:srgbClr val="EEEB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mixdog-spec:structure:steps"/>
          <p:cNvSpPr/>
          <p:nvPr/>
        </p:nvSpPr>
        <p:spPr>
          <a:xfrm>
            <a:off x="7740396" y="2624836"/>
            <a:ext cx="14013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Measure noise</a:t>
            </a:r>
            <a:endParaRPr lang="en-US" sz="1300" dirty="0"/>
          </a:p>
          <a:p>
            <a:pPr marL="0" indent="0" algn="l" hangingPunc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4A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 quarterly readings on the city site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781794" y="1664970"/>
            <a:ext cx="1858518" cy="1188720"/>
          </a:xfrm>
          <a:prstGeom prst="roundRect">
            <a:avLst/>
          </a:prstGeom>
          <a:solidFill>
            <a:srgbClr val="E31C2D"/>
          </a:solidFill>
          <a:ln w="12700">
            <a:solidFill>
              <a:srgbClr val="E31C2D"/>
            </a:solidFill>
            <a:prstDash val="solid"/>
          </a:ln>
          <a:effectLst>
            <a:outerShdw blurRad="1524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mixdog-spec:structure:steps"/>
          <p:cNvSpPr/>
          <p:nvPr/>
        </p:nvSpPr>
        <p:spPr>
          <a:xfrm>
            <a:off x="10010394" y="1664970"/>
            <a:ext cx="14013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</a:t>
            </a:r>
            <a:endParaRPr lang="en-US" sz="1300" dirty="0"/>
          </a:p>
          <a:p>
            <a:pPr marL="0" indent="0" algn="l" hangingPunc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Board review of the full year in March 2027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as proposed in September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5E5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900" b="1" kern="0" spc="400" dirty="0">
                <a:solidFill>
                  <a:srgbClr val="E6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3F0ED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 ask the board to extend the pilot to </a:t>
            </a:r>
            <a:r>
              <a:rPr lang="en-US" sz="3600" b="1" dirty="0">
                <a:solidFill>
                  <a:srgbClr val="E6949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every district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655003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2B8A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logistics@city.example · City Logistics Office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</Words>
  <Application>Microsoft Office PowerPoint</Application>
  <PresentationFormat>와이드스크린</PresentationFormat>
  <Paragraphs>70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Arial</vt:lpstr>
      <vt:lpstr>Noto Sans</vt:lpstr>
      <vt:lpstr>Noto Serif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Bob</cp:lastModifiedBy>
  <cp:revision>2</cp:revision>
  <dcterms:created xsi:type="dcterms:W3CDTF">2026-09-23T09:30:14Z</dcterms:created>
  <dcterms:modified xsi:type="dcterms:W3CDTF">2026-09-23T11:26:41Z</dcterms:modified>
</cp:coreProperties>
</file>