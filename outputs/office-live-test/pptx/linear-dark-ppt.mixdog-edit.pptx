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사이클 타임(일)</c:v>
                </c:pt>
              </c:strCache>
            </c:strRef>
          </c:tx>
          <c:spPr>
            <a:solidFill>
              <a:srgbClr val="6347EB">
                <a:alpha val="35000"/>
              </a:srgbClr>
            </a:solidFill>
            <a:effectLst/>
          </c:spPr>
          <c:cat>
            <c:strRef>
              <c:f>Sheet1!$A$2:$A$10</c:f>
              <c:strCache>
                <c:ptCount val="9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8.4</c:v>
                </c:pt>
                <c:pt idx="1">
                  <c:v>8.1</c:v>
                </c:pt>
                <c:pt idx="2">
                  <c:v>7.5</c:v>
                </c:pt>
                <c:pt idx="3">
                  <c:v>6.9</c:v>
                </c:pt>
                <c:pt idx="4">
                  <c:v>6.2</c:v>
                </c:pt>
                <c:pt idx="5">
                  <c:v>5.6</c:v>
                </c:pt>
                <c:pt idx="6">
                  <c:v>5</c:v>
                </c:pt>
                <c:pt idx="7">
                  <c:v>4.5999999999999996</c:v>
                </c:pt>
                <c:pt idx="8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C8-48AC-B03E-5B44886437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B3D5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92B3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재오픈율 전년(%)</c:v>
                </c:pt>
              </c:strCache>
            </c:strRef>
          </c:tx>
          <c:spPr>
            <a:ln w="31750" cap="flat">
              <a:solidFill>
                <a:srgbClr val="989AA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11.2</c:v>
                </c:pt>
                <c:pt idx="1">
                  <c:v>11</c:v>
                </c:pt>
                <c:pt idx="2">
                  <c:v>11.4</c:v>
                </c:pt>
                <c:pt idx="3">
                  <c:v>10.9</c:v>
                </c:pt>
                <c:pt idx="4">
                  <c:v>11.1</c:v>
                </c:pt>
                <c:pt idx="5">
                  <c:v>10.8</c:v>
                </c:pt>
                <c:pt idx="6">
                  <c:v>11</c:v>
                </c:pt>
                <c:pt idx="7">
                  <c:v>10.7</c:v>
                </c:pt>
                <c:pt idx="8">
                  <c:v>10.9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6C-4C8E-B6AA-B0C197657B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재오픈율 올해(%)</c:v>
                </c:pt>
              </c:strCache>
            </c:strRef>
          </c:tx>
          <c:spPr>
            <a:ln w="31750" cap="flat">
              <a:solidFill>
                <a:srgbClr val="6347E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10.8</c:v>
                </c:pt>
                <c:pt idx="1">
                  <c:v>10.1</c:v>
                </c:pt>
                <c:pt idx="2">
                  <c:v>9.6</c:v>
                </c:pt>
                <c:pt idx="3">
                  <c:v>8.9</c:v>
                </c:pt>
                <c:pt idx="4">
                  <c:v>8.1</c:v>
                </c:pt>
                <c:pt idx="5">
                  <c:v>7.4</c:v>
                </c:pt>
                <c:pt idx="6">
                  <c:v>6.9</c:v>
                </c:pt>
                <c:pt idx="7">
                  <c:v>6.3</c:v>
                </c:pt>
                <c:pt idx="8">
                  <c:v>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6C-4C8E-B6AA-B0C197657B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B3D5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92B3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DEDF3"/>
              </a:solidFill>
              <a:latin typeface="Noto Sans KR"/>
              <a:ea typeface="Noto Sans KR"/>
              <a:cs typeface="Noto Sans KR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766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0F1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8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8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ixdog-device:orb" descr="sphe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320040"/>
            <a:ext cx="6583680" cy="6583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7190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kern="0" spc="400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ORBIT · 2026 PRODUCT UPDATE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48640" y="2103120"/>
            <a:ext cx="6766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이슈는 줄이고, 흐름은</a:t>
            </a:r>
            <a:br/>
            <a:r>
              <a:rPr lang="en-US" sz="54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빠르게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엔지니어링 리더를 위한 제품 업데이트 · 2026년 9월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80A16"/>
          </a:solidFill>
          <a:ln w="12700">
            <a:solidFill>
              <a:srgbClr val="080A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2926080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사이클 타임이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9개월 만에 절반이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됐다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434840" y="1207008"/>
          <a:ext cx="4076395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922715" y="1207008"/>
            <a:ext cx="271759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22715" y="1539240"/>
            <a:ext cx="27175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분류가 이슈의 62%를</a:t>
            </a:r>
            <a:br/>
            <a:r>
              <a:rPr lang="en-US" sz="15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담당자에게 바로 보낸다.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922715" y="2439924"/>
            <a:ext cx="2717597" cy="0"/>
          </a:xfrm>
          <a:prstGeom prst="line">
            <a:avLst/>
          </a:prstGeom>
          <a:noFill/>
          <a:ln w="12700">
            <a:solidFill>
              <a:srgbClr val="292B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922715" y="2645664"/>
            <a:ext cx="271759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22715" y="2977896"/>
            <a:ext cx="27175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대기 상태로 머무는 시간이 하루</a:t>
            </a:r>
            <a:br/>
            <a:r>
              <a:rPr lang="en-US" sz="15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1.8일에서 0.6일로 줄었다.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34840" y="6144768"/>
            <a:ext cx="63825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단위: 일, 팀 평균 · 출처: Orbit 사용 로그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80A16"/>
          </a:solidFill>
          <a:ln w="12700">
            <a:solidFill>
              <a:srgbClr val="080A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2926080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영향이 크고 비용이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두 기능부터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434840" y="1207008"/>
            <a:ext cx="4212275" cy="4526280"/>
          </a:xfrm>
          <a:prstGeom prst="rect">
            <a:avLst/>
          </a:prstGeom>
          <a:solidFill>
            <a:srgbClr val="1B1D37"/>
          </a:solidFill>
          <a:ln w="12700">
            <a:solidFill>
              <a:srgbClr val="1B1D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540978" y="1435608"/>
            <a:ext cx="0" cy="4069080"/>
          </a:xfrm>
          <a:prstGeom prst="line">
            <a:avLst/>
          </a:prstGeom>
          <a:noFill/>
          <a:ln w="12700">
            <a:solidFill>
              <a:srgbClr val="5E61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663440" y="3470148"/>
            <a:ext cx="3755075" cy="0"/>
          </a:xfrm>
          <a:prstGeom prst="line">
            <a:avLst/>
          </a:prstGeom>
          <a:noFill/>
          <a:ln w="12700">
            <a:solidFill>
              <a:srgbClr val="5E61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mixdog-spec:structure:quadrants"/>
          <p:cNvSpPr/>
          <p:nvPr/>
        </p:nvSpPr>
        <p:spPr>
          <a:xfrm>
            <a:off x="4663440" y="3140964"/>
            <a:ext cx="949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비용 낮음</a:t>
            </a:r>
            <a:endParaRPr lang="en-US" sz="1100" dirty="0"/>
          </a:p>
        </p:txBody>
      </p:sp>
      <p:sp>
        <p:nvSpPr>
          <p:cNvPr id="9" name="mixdog-spec:structure:quadrants"/>
          <p:cNvSpPr/>
          <p:nvPr/>
        </p:nvSpPr>
        <p:spPr>
          <a:xfrm>
            <a:off x="7468602" y="3140964"/>
            <a:ext cx="949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비용 높음</a:t>
            </a:r>
            <a:endParaRPr lang="en-US" sz="1100" dirty="0"/>
          </a:p>
        </p:txBody>
      </p:sp>
      <p:sp>
        <p:nvSpPr>
          <p:cNvPr id="10" name="mixdog-spec:structure:quadrants"/>
          <p:cNvSpPr/>
          <p:nvPr/>
        </p:nvSpPr>
        <p:spPr>
          <a:xfrm>
            <a:off x="6650706" y="1435608"/>
            <a:ext cx="5206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 큼</a:t>
            </a:r>
            <a:endParaRPr lang="en-US" sz="1100" dirty="0"/>
          </a:p>
        </p:txBody>
      </p:sp>
      <p:sp>
        <p:nvSpPr>
          <p:cNvPr id="11" name="mixdog-spec:structure:quadrants"/>
          <p:cNvSpPr/>
          <p:nvPr/>
        </p:nvSpPr>
        <p:spPr>
          <a:xfrm>
            <a:off x="6650706" y="5230368"/>
            <a:ext cx="652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 작음</a:t>
            </a:r>
            <a:endParaRPr lang="en-US" sz="1100" dirty="0"/>
          </a:p>
        </p:txBody>
      </p:sp>
      <p:sp>
        <p:nvSpPr>
          <p:cNvPr id="12" name="mixdog-spec:structure:quadrants"/>
          <p:cNvSpPr/>
          <p:nvPr/>
        </p:nvSpPr>
        <p:spPr>
          <a:xfrm>
            <a:off x="4663440" y="1435608"/>
            <a:ext cx="355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100" b="1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</a:t>
            </a:r>
            <a:endParaRPr lang="en-US" sz="1100" dirty="0"/>
          </a:p>
        </p:txBody>
      </p:sp>
      <p:sp>
        <p:nvSpPr>
          <p:cNvPr id="13" name="mixdog-spec:structure:quadrants"/>
          <p:cNvSpPr/>
          <p:nvPr/>
        </p:nvSpPr>
        <p:spPr>
          <a:xfrm>
            <a:off x="8063087" y="1435608"/>
            <a:ext cx="355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100" b="1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</a:t>
            </a:r>
            <a:endParaRPr lang="en-US" sz="1100" dirty="0"/>
          </a:p>
        </p:txBody>
      </p:sp>
      <p:sp>
        <p:nvSpPr>
          <p:cNvPr id="14" name="mixdog-spec:structure:quadrants"/>
          <p:cNvSpPr/>
          <p:nvPr/>
        </p:nvSpPr>
        <p:spPr>
          <a:xfrm>
            <a:off x="4663440" y="5230368"/>
            <a:ext cx="355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100" b="1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보류</a:t>
            </a:r>
            <a:endParaRPr lang="en-US" sz="1100" dirty="0"/>
          </a:p>
        </p:txBody>
      </p:sp>
      <p:sp>
        <p:nvSpPr>
          <p:cNvPr id="15" name="mixdog-spec:structure:quadrants"/>
          <p:cNvSpPr/>
          <p:nvPr/>
        </p:nvSpPr>
        <p:spPr>
          <a:xfrm>
            <a:off x="7931093" y="5230368"/>
            <a:ext cx="4874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100" b="1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재검토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40135" y="1771650"/>
            <a:ext cx="548640" cy="548640"/>
          </a:xfrm>
          <a:prstGeom prst="ellipse">
            <a:avLst/>
          </a:prstGeom>
          <a:solidFill>
            <a:srgbClr val="6347EB"/>
          </a:solidFill>
          <a:ln w="12700">
            <a:solidFill>
              <a:srgbClr val="6347EB"/>
            </a:solidFill>
            <a:prstDash val="solid"/>
          </a:ln>
          <a:effectLst>
            <a:outerShdw blurRad="1524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con" descr="자동 분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0836" y="1892351"/>
            <a:ext cx="307238" cy="30723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703396" y="2382012"/>
            <a:ext cx="548640" cy="548640"/>
          </a:xfrm>
          <a:prstGeom prst="ellipse">
            <a:avLst/>
          </a:prstGeom>
          <a:solidFill>
            <a:srgbClr val="0F1124"/>
          </a:solidFill>
          <a:ln w="12700">
            <a:solidFill>
              <a:srgbClr val="0F11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con" descr="주간 리포트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4097" y="2502713"/>
            <a:ext cx="307238" cy="30723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205426" y="1975104"/>
            <a:ext cx="548640" cy="548640"/>
          </a:xfrm>
          <a:prstGeom prst="ellipse">
            <a:avLst/>
          </a:prstGeom>
          <a:solidFill>
            <a:srgbClr val="0F1124"/>
          </a:solidFill>
          <a:ln w="12700">
            <a:solidFill>
              <a:srgbClr val="0F11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con" descr="로드맵 뷰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6127" y="2095805"/>
            <a:ext cx="307238" cy="30723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515643" y="4213098"/>
            <a:ext cx="548640" cy="548640"/>
          </a:xfrm>
          <a:prstGeom prst="ellipse">
            <a:avLst/>
          </a:prstGeom>
          <a:solidFill>
            <a:srgbClr val="0F1124"/>
          </a:solidFill>
          <a:ln w="12700">
            <a:solidFill>
              <a:srgbClr val="0F11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con" descr="다크 모드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6343" y="4333799"/>
            <a:ext cx="307238" cy="30723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393180" y="4009644"/>
            <a:ext cx="548640" cy="548640"/>
          </a:xfrm>
          <a:prstGeom prst="ellipse">
            <a:avLst/>
          </a:prstGeom>
          <a:solidFill>
            <a:srgbClr val="0F1124"/>
          </a:solidFill>
          <a:ln w="12700">
            <a:solidFill>
              <a:srgbClr val="0F11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con" descr="오프라인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13881" y="4130345"/>
            <a:ext cx="307238" cy="307238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734495" y="1863090"/>
            <a:ext cx="931556" cy="365760"/>
          </a:xfrm>
          <a:prstGeom prst="rect">
            <a:avLst/>
          </a:prstGeom>
          <a:solidFill>
            <a:srgbClr val="1B1D37"/>
          </a:solidFill>
          <a:ln w="12700">
            <a:solidFill>
              <a:srgbClr val="1B1D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mixdog-spec:structure:quadrants"/>
          <p:cNvSpPr/>
          <p:nvPr/>
        </p:nvSpPr>
        <p:spPr>
          <a:xfrm>
            <a:off x="5771071" y="1881378"/>
            <a:ext cx="8584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분류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6297756" y="2473452"/>
            <a:ext cx="1109899" cy="365760"/>
          </a:xfrm>
          <a:prstGeom prst="rect">
            <a:avLst/>
          </a:prstGeom>
          <a:solidFill>
            <a:srgbClr val="1B1D37"/>
          </a:solidFill>
          <a:ln w="12700">
            <a:solidFill>
              <a:srgbClr val="1B1D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mixdog-spec:structure:quadrants"/>
          <p:cNvSpPr/>
          <p:nvPr/>
        </p:nvSpPr>
        <p:spPr>
          <a:xfrm>
            <a:off x="6334332" y="2491740"/>
            <a:ext cx="10367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리포트</a:t>
            </a:r>
            <a:endParaRPr lang="en-US" sz="1500" dirty="0"/>
          </a:p>
        </p:txBody>
      </p:sp>
      <p:sp>
        <p:nvSpPr>
          <p:cNvPr id="30" name="mixdog-spec:structure:quadrants"/>
          <p:cNvSpPr/>
          <p:nvPr/>
        </p:nvSpPr>
        <p:spPr>
          <a:xfrm>
            <a:off x="7205426" y="1536192"/>
            <a:ext cx="8567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 뷰</a:t>
            </a:r>
            <a:endParaRPr lang="en-US" sz="1500" dirty="0"/>
          </a:p>
        </p:txBody>
      </p:sp>
      <p:sp>
        <p:nvSpPr>
          <p:cNvPr id="31" name="mixdog-spec:structure:quadrants"/>
          <p:cNvSpPr/>
          <p:nvPr/>
        </p:nvSpPr>
        <p:spPr>
          <a:xfrm>
            <a:off x="5361585" y="4871466"/>
            <a:ext cx="8567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다크 모드</a:t>
            </a:r>
            <a:endParaRPr lang="en-US" sz="1500" dirty="0"/>
          </a:p>
        </p:txBody>
      </p:sp>
      <p:sp>
        <p:nvSpPr>
          <p:cNvPr id="32" name="mixdog-spec:structure:quadrants"/>
          <p:cNvSpPr/>
          <p:nvPr/>
        </p:nvSpPr>
        <p:spPr>
          <a:xfrm>
            <a:off x="7261796" y="4668012"/>
            <a:ext cx="81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9058595" y="1207008"/>
            <a:ext cx="258171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9058595" y="1539240"/>
            <a:ext cx="258171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분류와 주간 리포트는 한</a:t>
            </a:r>
            <a:br/>
            <a:r>
              <a:rPr lang="en-US" sz="15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안에 연다.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9058595" y="2439924"/>
            <a:ext cx="2581717" cy="0"/>
          </a:xfrm>
          <a:prstGeom prst="line">
            <a:avLst/>
          </a:prstGeom>
          <a:noFill/>
          <a:ln w="12700">
            <a:solidFill>
              <a:srgbClr val="292B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9"/>
          <p:cNvSpPr/>
          <p:nvPr/>
        </p:nvSpPr>
        <p:spPr>
          <a:xfrm>
            <a:off x="9058595" y="2645664"/>
            <a:ext cx="258171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9058595" y="2977896"/>
            <a:ext cx="258171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 뷰는 데이터 모델 정리</a:t>
            </a:r>
            <a:br/>
            <a:r>
              <a:rPr lang="en-US" sz="15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뒤로 미룬다.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4434840" y="6144768"/>
            <a:ext cx="63825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평가: 제품팀 워크숍, 2026년 8월 (예시)</a:t>
            </a:r>
            <a:endParaRPr lang="en-US" sz="11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4258172" cy="374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10000"/>
              </a:lnSpc>
              <a:buNone/>
            </a:pPr>
            <a:r>
              <a:rPr lang="en-US" sz="22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5218292" y="2103608"/>
            <a:ext cx="6422020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도입은 세 단계, 여섯 주면 끝난다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218292" y="2846558"/>
            <a:ext cx="64220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팀의 실제 일정 기준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80A16"/>
          </a:solidFill>
          <a:ln w="12700">
            <a:solidFill>
              <a:srgbClr val="080A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2926080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가져오기부터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전환까지 여섯 주가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걸린다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 flipV="1">
            <a:off x="6562344" y="3470148"/>
            <a:ext cx="411480" cy="1668780"/>
          </a:xfrm>
          <a:prstGeom prst="line">
            <a:avLst/>
          </a:prstGeom>
          <a:noFill/>
          <a:ln w="19050">
            <a:solidFill>
              <a:srgbClr val="989AA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 flipV="1">
            <a:off x="9101328" y="1801368"/>
            <a:ext cx="411480" cy="1668780"/>
          </a:xfrm>
          <a:prstGeom prst="line">
            <a:avLst/>
          </a:prstGeom>
          <a:noFill/>
          <a:ln w="19050">
            <a:solidFill>
              <a:srgbClr val="989AA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434840" y="4544568"/>
            <a:ext cx="2127504" cy="1188720"/>
          </a:xfrm>
          <a:prstGeom prst="roundRect">
            <a:avLst>
              <a:gd name="adj" fmla="val 6154"/>
            </a:avLst>
          </a:prstGeom>
          <a:solidFill>
            <a:srgbClr val="1B1D37"/>
          </a:solidFill>
          <a:ln w="12700">
            <a:solidFill>
              <a:srgbClr val="1B1D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mixdog-spec:structure:steps"/>
          <p:cNvSpPr/>
          <p:nvPr/>
        </p:nvSpPr>
        <p:spPr>
          <a:xfrm>
            <a:off x="4663440" y="4544568"/>
            <a:ext cx="1670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가져오기</a:t>
            </a:r>
            <a:endParaRPr lang="en-US" sz="1500" dirty="0"/>
          </a:p>
          <a:p>
            <a:pPr marL="0" indent="0" algn="l" hangingPunc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이슈와 라벨을 옮기고</a:t>
            </a:r>
            <a:br/>
            <a:r>
              <a:rPr lang="en-US" sz="11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 규칙 스무 개로</a:t>
            </a:r>
            <a:br/>
            <a:r>
              <a:rPr lang="en-US" sz="11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시작한다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73824" y="2875788"/>
            <a:ext cx="2127504" cy="1188720"/>
          </a:xfrm>
          <a:prstGeom prst="roundRect">
            <a:avLst>
              <a:gd name="adj" fmla="val 6154"/>
            </a:avLst>
          </a:prstGeom>
          <a:solidFill>
            <a:srgbClr val="1B1D37"/>
          </a:solidFill>
          <a:ln w="12700">
            <a:solidFill>
              <a:srgbClr val="1B1D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mixdog-spec:structure:steps"/>
          <p:cNvSpPr/>
          <p:nvPr/>
        </p:nvSpPr>
        <p:spPr>
          <a:xfrm>
            <a:off x="7202424" y="2875788"/>
            <a:ext cx="1670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병행 운영</a:t>
            </a:r>
            <a:endParaRPr lang="en-US" sz="1500" dirty="0"/>
          </a:p>
          <a:p>
            <a:pPr marL="0" indent="0" algn="l" hangingPunc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주 동안 두 도구를 함께</a:t>
            </a:r>
            <a:br/>
            <a:r>
              <a:rPr lang="en-US" sz="11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쓴다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512808" y="1207008"/>
            <a:ext cx="2127504" cy="1188720"/>
          </a:xfrm>
          <a:prstGeom prst="roundRect">
            <a:avLst>
              <a:gd name="adj" fmla="val 6154"/>
            </a:avLst>
          </a:prstGeom>
          <a:solidFill>
            <a:srgbClr val="6347EB"/>
          </a:solidFill>
          <a:ln w="12700">
            <a:solidFill>
              <a:srgbClr val="6347EB"/>
            </a:solidFill>
            <a:prstDash val="solid"/>
          </a:ln>
          <a:effectLst>
            <a:outerShdw blurRad="1524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mixdog-spec:structure:steps"/>
          <p:cNvSpPr/>
          <p:nvPr/>
        </p:nvSpPr>
        <p:spPr>
          <a:xfrm>
            <a:off x="9741408" y="1207008"/>
            <a:ext cx="1670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</a:t>
            </a:r>
            <a:endParaRPr lang="en-US" sz="1500" dirty="0"/>
          </a:p>
          <a:p>
            <a:pPr marL="0" indent="0" algn="l" hangingPunc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도구를 읽기 전용으로</a:t>
            </a:r>
            <a:br/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돌린다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34840" y="6144768"/>
            <a:ext cx="63825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세 팀의 평균 일정 (예시)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80A16"/>
          </a:solidFill>
          <a:ln w="12700">
            <a:solidFill>
              <a:srgbClr val="080A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2926080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열두 팀 중 열 팀이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사이클 타임을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30% 넘게 줄였다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팀별 결과</a:t>
            </a:r>
            <a:endParaRPr lang="en-US" sz="1000" dirty="0"/>
          </a:p>
        </p:txBody>
      </p:sp>
      <p:graphicFrame>
        <p:nvGraphicFramePr>
          <p:cNvPr id="7" name="mixdog-spec:table:plai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207008"/>
          <a:ext cx="7205472" cy="3922776"/>
        </p:xfrm>
        <a:graphic>
          <a:graphicData uri="http://schemas.openxmlformats.org/drawingml/2006/table">
            <a:tbl>
              <a:tblPr/>
              <a:tblGrid>
                <a:gridCol w="1801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도입 전 (일)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도입 후 (일)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변화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4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−52%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−45%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인증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−36%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검색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−45%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−36%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알림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−19%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관리자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7.7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−36%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모바일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−40%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웹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−37%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9.9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−38%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인프라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−15%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보안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−35%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434840" y="6144768"/>
            <a:ext cx="63825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사이클 타임 = 착수부터 배포까지 평균 일수 · 출처: Orbit 사용 로그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80A16"/>
          </a:solidFill>
          <a:ln w="12700">
            <a:solidFill>
              <a:srgbClr val="080A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2926080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속도가 빨라져도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재오픈율은 오히려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내려갔다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434840" y="1207008"/>
          <a:ext cx="7205472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mixdog-spec:stat:band"/>
          <p:cNvSpPr/>
          <p:nvPr/>
        </p:nvSpPr>
        <p:spPr>
          <a:xfrm>
            <a:off x="4434840" y="4361688"/>
            <a:ext cx="18001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5.8</a:t>
            </a:r>
            <a:r>
              <a:rPr lang="en-US" sz="16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4100" dirty="0"/>
          </a:p>
        </p:txBody>
      </p:sp>
      <p:sp>
        <p:nvSpPr>
          <p:cNvPr id="7" name="Text 4"/>
          <p:cNvSpPr/>
          <p:nvPr/>
        </p:nvSpPr>
        <p:spPr>
          <a:xfrm>
            <a:off x="4434840" y="5440680"/>
            <a:ext cx="18001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9월 재오픈율</a:t>
            </a:r>
            <a:endParaRPr lang="en-US" sz="1100" dirty="0"/>
          </a:p>
        </p:txBody>
      </p:sp>
      <p:sp>
        <p:nvSpPr>
          <p:cNvPr id="8" name="mixdog-spec:stat:band"/>
          <p:cNvSpPr/>
          <p:nvPr/>
        </p:nvSpPr>
        <p:spPr>
          <a:xfrm>
            <a:off x="6646516" y="4361688"/>
            <a:ext cx="24548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−5.1</a:t>
            </a:r>
            <a:r>
              <a:rPr lang="en-US" sz="16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%p</a:t>
            </a:r>
            <a:endParaRPr lang="en-US" sz="4100" dirty="0"/>
          </a:p>
        </p:txBody>
      </p:sp>
      <p:sp>
        <p:nvSpPr>
          <p:cNvPr id="9" name="Text 6"/>
          <p:cNvSpPr/>
          <p:nvPr/>
        </p:nvSpPr>
        <p:spPr>
          <a:xfrm>
            <a:off x="6646516" y="5440680"/>
            <a:ext cx="245481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같은 달 대비</a:t>
            </a:r>
            <a:endParaRPr lang="en-US" sz="1100" dirty="0"/>
          </a:p>
        </p:txBody>
      </p:sp>
      <p:sp>
        <p:nvSpPr>
          <p:cNvPr id="10" name="mixdog-spec:stat:band"/>
          <p:cNvSpPr/>
          <p:nvPr/>
        </p:nvSpPr>
        <p:spPr>
          <a:xfrm>
            <a:off x="9512808" y="4361688"/>
            <a:ext cx="21275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</a:t>
            </a:r>
            <a:r>
              <a:rPr lang="en-US" sz="16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</a:t>
            </a:r>
            <a:endParaRPr lang="en-US" sz="4100" dirty="0"/>
          </a:p>
        </p:txBody>
      </p:sp>
      <p:sp>
        <p:nvSpPr>
          <p:cNvPr id="11" name="Text 8"/>
          <p:cNvSpPr/>
          <p:nvPr/>
        </p:nvSpPr>
        <p:spPr>
          <a:xfrm>
            <a:off x="9512808" y="5440680"/>
            <a:ext cx="2127504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9월 사이클 타임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34840" y="6144768"/>
            <a:ext cx="63825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Orbit 사용 로그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ixdog-device:orb" descr="sphe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618488"/>
            <a:ext cx="3621024" cy="36210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901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kern="0" spc="400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PILOT · Q4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48640" y="2286000"/>
            <a:ext cx="73152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분기 파일럿에 팀을 올려</a:t>
            </a:r>
            <a:br/>
            <a:r>
              <a:rPr lang="en-US" sz="42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주십시오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548640" y="40965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pilot@orbit.example · 파일럿 신청은 10월 17일까지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PresentationFormat>와이드스크린</PresentationFormat>
  <Paragraphs>123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Bob</cp:lastModifiedBy>
  <cp:revision>2</cp:revision>
  <dcterms:created xsi:type="dcterms:W3CDTF">2026-09-23T12:13:28Z</dcterms:created>
  <dcterms:modified xsi:type="dcterms:W3CDTF">2026-09-23T12:15:18Z</dcterms:modified>
</cp:coreProperties>
</file>