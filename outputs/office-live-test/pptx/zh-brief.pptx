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拥堵指数</c:v>
                </c:pt>
              </c:strCache>
            </c:strRef>
          </c:tx>
          <c:spPr>
            <a:solidFill>
              <a:srgbClr val="C8CD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E31C3D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4F5A"/>
                    </a:solidFill>
                    <a:latin typeface="Noto Sans SC"/>
                    <a:ea typeface="Noto Sans SC"/>
                    <a:cs typeface="Noto Sans S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第1周</c:v>
                  </c:pt>
                  <c:pt idx="1">
                    <c:v>第2周</c:v>
                  </c:pt>
                  <c:pt idx="2">
                    <c:v>第3周</c:v>
                  </c:pt>
                  <c:pt idx="3">
                    <c:v>第4周</c:v>
                  </c:pt>
                  <c:pt idx="4">
                    <c:v>第5周</c:v>
                  </c:pt>
                  <c:pt idx="5">
                    <c:v>第6周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</c:v>
                </c:pt>
                <c:pt idx="1">
                  <c:v>68</c:v>
                </c:pt>
                <c:pt idx="2">
                  <c:v>66</c:v>
                </c:pt>
                <c:pt idx="3">
                  <c:v>65</c:v>
                </c:pt>
                <c:pt idx="4">
                  <c:v>65</c:v>
                </c:pt>
                <c:pt idx="5">
                  <c:v>64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A4F5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26A"/>
                </a:solidFill>
                <a:latin typeface="Noto Sans SC"/>
                <a:ea typeface="Noto Sans SC"/>
                <a:cs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SC"/>
          <a:ea typeface="Noto Sans SC"/>
          <a:cs typeface="Noto Sans SC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BC2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mixdog-icon-1.svg"/><Relationship Id="rId8" Type="http://schemas.openxmlformats.org/officeDocument/2006/relationships/image" Target="../media/mixdog-icon-2.svg"/><Relationship Id="rId9" Type="http://schemas.openxmlformats.org/officeDocument/2006/relationships/image" Target="../media/mixdog-icon-3.svg"/><Relationship Id="rId10" Type="http://schemas.openxmlformats.org/officeDocument/2006/relationships/image" Target="../media/mixdog-icon-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试点摘要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夜间配送后，白天拥堵指数</a:t>
            </a:r>
            <a:br/>
            <a:r>
              <a:rPr lang="en-US" sz="42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下降了六点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F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三个试点区连续六周下降，噪音投诉没有增加。</a:t>
            </a:r>
            <a:endParaRPr lang="en-US" sz="1500" dirty="0"/>
          </a:p>
        </p:txBody>
      </p:sp>
      <p:sp>
        <p:nvSpPr>
          <p:cNvPr id="5" name="mixdog-spec:stat:band"/>
          <p:cNvSpPr/>
          <p:nvPr/>
        </p:nvSpPr>
        <p:spPr>
          <a:xfrm>
            <a:off x="548640" y="3925062"/>
            <a:ext cx="240272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−6</a:t>
            </a:r>
            <a:r>
              <a:rPr lang="en-US" sz="16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548640" y="5004054"/>
            <a:ext cx="240272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白天拥堵指数</a:t>
            </a:r>
            <a:endParaRPr lang="en-US" sz="1100" dirty="0"/>
          </a:p>
        </p:txBody>
      </p:sp>
      <p:sp>
        <p:nvSpPr>
          <p:cNvPr id="7" name="mixdog-spec:stat:band"/>
          <p:cNvSpPr/>
          <p:nvPr/>
        </p:nvSpPr>
        <p:spPr>
          <a:xfrm>
            <a:off x="3362847" y="3925062"/>
            <a:ext cx="240272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</a:t>
            </a:r>
            <a:r>
              <a:rPr lang="en-US" sz="16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3362847" y="5004054"/>
            <a:ext cx="240272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每车每日配送</a:t>
            </a:r>
            <a:endParaRPr lang="en-US" sz="1100" dirty="0"/>
          </a:p>
        </p:txBody>
      </p:sp>
      <p:sp>
        <p:nvSpPr>
          <p:cNvPr id="9" name="mixdog-spec:stat:band"/>
          <p:cNvSpPr/>
          <p:nvPr/>
        </p:nvSpPr>
        <p:spPr>
          <a:xfrm>
            <a:off x="6177053" y="3925062"/>
            <a:ext cx="21357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r>
              <a:rPr lang="en-US" sz="16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件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177053" y="5004054"/>
            <a:ext cx="213575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新增噪音投诉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638038"/>
            <a:ext cx="7764170" cy="0"/>
          </a:xfrm>
          <a:prstGeom prst="line">
            <a:avLst/>
          </a:prstGeom>
          <a:noFill/>
          <a:ln w="9525">
            <a:solidFill>
              <a:srgbClr val="D7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来源：市交通局，2026年8–9月（示例数据）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拥堵指数六周持续下降，没有反弹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试点区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A4F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指数从71降到64，第二周之后没有回升。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647950"/>
            <a:ext cx="4058473" cy="0"/>
          </a:xfrm>
          <a:prstGeom prst="line">
            <a:avLst/>
          </a:prstGeom>
          <a:noFill/>
          <a:ln w="9525">
            <a:solidFill>
              <a:srgbClr val="E5E9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285369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其他区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185922"/>
            <a:ext cx="405847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A4F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保持在70左右，排除了季节因素。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工作日7–19时平均。来源：市交通局（示例）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每辆车每天多送两单，成本没有增加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经济性</a:t>
            </a:r>
            <a:endParaRPr lang="en-US" sz="1000" dirty="0"/>
          </a:p>
        </p:txBody>
      </p:sp>
      <p:sp>
        <p:nvSpPr>
          <p:cNvPr id="4" name="mixdog-spec:cards:accent"/>
          <p:cNvSpPr/>
          <p:nvPr/>
        </p:nvSpPr>
        <p:spPr>
          <a:xfrm>
            <a:off x="548640" y="1735074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31C3D"/>
          </a:solidFill>
          <a:ln w="12700">
            <a:solidFill>
              <a:srgbClr val="E31C3D"/>
            </a:solidFill>
            <a:prstDash val="solid"/>
          </a:ln>
        </p:spPr>
      </p:sp>
      <p:pic>
        <p:nvPicPr>
          <p:cNvPr id="5" name="Icon" descr="每车每日增量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1963674"/>
            <a:ext cx="274320" cy="274320"/>
          </a:xfrm>
          <a:prstGeom prst="rect">
            <a:avLst/>
          </a:prstGeom>
        </p:spPr>
      </p:pic>
      <p:sp>
        <p:nvSpPr>
          <p:cNvPr id="6" name="mixdog-spec:stat:band"/>
          <p:cNvSpPr/>
          <p:nvPr/>
        </p:nvSpPr>
        <p:spPr>
          <a:xfrm>
            <a:off x="777240" y="2347722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777240" y="3064002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每车每日增量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396234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夜间路况畅通</a:t>
            </a:r>
            <a:endParaRPr lang="en-US" sz="1100" dirty="0"/>
          </a:p>
        </p:txBody>
      </p:sp>
      <p:sp>
        <p:nvSpPr>
          <p:cNvPr id="9" name="mixdog-spec:cards:default"/>
          <p:cNvSpPr/>
          <p:nvPr/>
        </p:nvSpPr>
        <p:spPr>
          <a:xfrm>
            <a:off x="3348990" y="1735074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CEE"/>
          </a:solidFill>
          <a:ln w="12700">
            <a:solidFill>
              <a:srgbClr val="E7ECEE"/>
            </a:solidFill>
            <a:prstDash val="solid"/>
          </a:ln>
        </p:spPr>
      </p:sp>
      <p:pic>
        <p:nvPicPr>
          <p:cNvPr id="10" name="Icon" descr="平均节省时间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1963674"/>
            <a:ext cx="274320" cy="274320"/>
          </a:xfrm>
          <a:prstGeom prst="rect">
            <a:avLst/>
          </a:prstGeom>
        </p:spPr>
      </p:pic>
      <p:sp>
        <p:nvSpPr>
          <p:cNvPr id="11" name="mixdog-spec:stat:band"/>
          <p:cNvSpPr/>
          <p:nvPr/>
        </p:nvSpPr>
        <p:spPr>
          <a:xfrm>
            <a:off x="3577590" y="2347722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</a:t>
            </a:r>
            <a:r>
              <a:rPr lang="en-US" sz="16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分钟</a:t>
            </a:r>
            <a:endParaRPr lang="en-US" sz="4100" dirty="0"/>
          </a:p>
        </p:txBody>
      </p:sp>
      <p:sp>
        <p:nvSpPr>
          <p:cNvPr id="12" name="Text 8"/>
          <p:cNvSpPr/>
          <p:nvPr/>
        </p:nvSpPr>
        <p:spPr>
          <a:xfrm>
            <a:off x="3577590" y="3064002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平均节省时间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77590" y="3396234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F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20单路线</a:t>
            </a:r>
            <a:endParaRPr lang="en-US" sz="1100" dirty="0"/>
          </a:p>
        </p:txBody>
      </p:sp>
      <p:sp>
        <p:nvSpPr>
          <p:cNvPr id="14" name="mixdog-spec:cards:default"/>
          <p:cNvSpPr/>
          <p:nvPr/>
        </p:nvSpPr>
        <p:spPr>
          <a:xfrm>
            <a:off x="6149340" y="1735074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CEE"/>
          </a:solidFill>
          <a:ln w="12700">
            <a:solidFill>
              <a:srgbClr val="E7ECEE"/>
            </a:solidFill>
            <a:prstDash val="solid"/>
          </a:ln>
        </p:spPr>
      </p:sp>
      <p:pic>
        <p:nvPicPr>
          <p:cNvPr id="15" name="Icon" descr="新增人力成本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1963674"/>
            <a:ext cx="274320" cy="274320"/>
          </a:xfrm>
          <a:prstGeom prst="rect">
            <a:avLst/>
          </a:prstGeom>
        </p:spPr>
      </p:pic>
      <p:sp>
        <p:nvSpPr>
          <p:cNvPr id="16" name="mixdog-spec:stat:band"/>
          <p:cNvSpPr/>
          <p:nvPr/>
        </p:nvSpPr>
        <p:spPr>
          <a:xfrm>
            <a:off x="6377940" y="2347722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r>
              <a:rPr lang="en-US" sz="16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元</a:t>
            </a:r>
            <a:endParaRPr lang="en-US" sz="4100" dirty="0"/>
          </a:p>
        </p:txBody>
      </p:sp>
      <p:sp>
        <p:nvSpPr>
          <p:cNvPr id="17" name="Text 12"/>
          <p:cNvSpPr/>
          <p:nvPr/>
        </p:nvSpPr>
        <p:spPr>
          <a:xfrm>
            <a:off x="6377940" y="3064002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新增人力成本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77940" y="3396234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F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同一批司机</a:t>
            </a:r>
            <a:endParaRPr lang="en-US" sz="1100" dirty="0"/>
          </a:p>
        </p:txBody>
      </p:sp>
      <p:sp>
        <p:nvSpPr>
          <p:cNvPr id="19" name="mixdog-spec:cards:default"/>
          <p:cNvSpPr/>
          <p:nvPr/>
        </p:nvSpPr>
        <p:spPr>
          <a:xfrm>
            <a:off x="8949690" y="1735074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CEE"/>
          </a:solidFill>
          <a:ln w="12700">
            <a:solidFill>
              <a:srgbClr val="E7ECEE"/>
            </a:solidFill>
            <a:prstDash val="solid"/>
          </a:ln>
        </p:spPr>
      </p:sp>
      <p:pic>
        <p:nvPicPr>
          <p:cNvPr id="20" name="Icon" descr="参与企业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1963674"/>
            <a:ext cx="274320" cy="274320"/>
          </a:xfrm>
          <a:prstGeom prst="rect">
            <a:avLst/>
          </a:prstGeom>
        </p:spPr>
      </p:pic>
      <p:sp>
        <p:nvSpPr>
          <p:cNvPr id="21" name="mixdog-spec:stat:band"/>
          <p:cNvSpPr/>
          <p:nvPr/>
        </p:nvSpPr>
        <p:spPr>
          <a:xfrm>
            <a:off x="9178290" y="2347722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r>
              <a:rPr lang="en-US" sz="1600" b="1" dirty="0">
                <a:solidFill>
                  <a:srgbClr val="B81E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</a:t>
            </a:r>
            <a:endParaRPr lang="en-US" sz="4100" dirty="0"/>
          </a:p>
        </p:txBody>
      </p:sp>
      <p:sp>
        <p:nvSpPr>
          <p:cNvPr id="22" name="Text 16"/>
          <p:cNvSpPr/>
          <p:nvPr/>
        </p:nvSpPr>
        <p:spPr>
          <a:xfrm>
            <a:off x="9178290" y="3064002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参与企业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178290" y="3396234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F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三个试点区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6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来源：参与企业调度记录（示例数据）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2026-09-23T12:16:45Z</dcterms:created>
  <dcterms:modified xsi:type="dcterms:W3CDTF">2026-09-23T12:16:45Z</dcterms:modified>
</cp:coreProperties>
</file>